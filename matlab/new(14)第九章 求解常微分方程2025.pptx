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342" r:id="rId3"/>
    <p:sldId id="343" r:id="rId4"/>
    <p:sldId id="344" r:id="rId5"/>
    <p:sldId id="345" r:id="rId6"/>
    <p:sldId id="346" r:id="rId7"/>
    <p:sldId id="347" r:id="rId8"/>
    <p:sldId id="395" r:id="rId9"/>
    <p:sldId id="396" r:id="rId10"/>
    <p:sldId id="269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271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321" r:id="rId34"/>
    <p:sldId id="299" r:id="rId35"/>
    <p:sldId id="300" r:id="rId36"/>
    <p:sldId id="301" r:id="rId37"/>
    <p:sldId id="302" r:id="rId38"/>
    <p:sldId id="310" r:id="rId39"/>
    <p:sldId id="285" r:id="rId40"/>
    <p:sldId id="322" r:id="rId41"/>
    <p:sldId id="323" r:id="rId42"/>
    <p:sldId id="324" r:id="rId43"/>
    <p:sldId id="325" r:id="rId44"/>
    <p:sldId id="326" r:id="rId45"/>
    <p:sldId id="407" r:id="rId46"/>
    <p:sldId id="408" r:id="rId47"/>
    <p:sldId id="406" r:id="rId48"/>
    <p:sldId id="311" r:id="rId49"/>
    <p:sldId id="312" r:id="rId50"/>
    <p:sldId id="313" r:id="rId51"/>
  </p:sldIdLst>
  <p:sldSz cx="9144000" cy="6858000" type="screen4x3"/>
  <p:notesSz cx="6858000" cy="9144000"/>
  <p:custDataLst>
    <p:tags r:id="rId52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D1ED"/>
    <a:srgbClr val="96F5FC"/>
    <a:srgbClr val="CC9900"/>
    <a:srgbClr val="0099CC"/>
    <a:srgbClr val="009999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83"/>
    <p:restoredTop sz="90928"/>
  </p:normalViewPr>
  <p:slideViewPr>
    <p:cSldViewPr showGuides="1">
      <p:cViewPr varScale="1">
        <p:scale>
          <a:sx n="148" d="100"/>
          <a:sy n="148" d="100"/>
        </p:scale>
        <p:origin x="2616" y="114"/>
      </p:cViewPr>
      <p:guideLst>
        <p:guide orient="horz" pos="210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8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4"/>
            <p:cNvSpPr>
              <a:spLocks noChangeArrowheads="1"/>
            </p:cNvSpPr>
            <p:nvPr/>
          </p:nvSpPr>
          <p:spPr bwMode="auto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053" name="Group 5"/>
            <p:cNvGrpSpPr/>
            <p:nvPr/>
          </p:nvGrpSpPr>
          <p:grpSpPr>
            <a:xfrm>
              <a:off x="0" y="672"/>
              <a:ext cx="1806" cy="1989"/>
              <a:chOff x="0" y="0"/>
              <a:chExt cx="1806" cy="1989"/>
            </a:xfrm>
          </p:grpSpPr>
          <p:sp>
            <p:nvSpPr>
              <p:cNvPr id="21" name="Rectangle 6"/>
              <p:cNvSpPr>
                <a:spLocks noChangeArrowheads="1"/>
              </p:cNvSpPr>
              <p:nvPr/>
            </p:nvSpPr>
            <p:spPr bwMode="auto">
              <a:xfrm>
                <a:off x="361" y="1585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1081" y="393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437" y="0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" name="Rectangle 9"/>
              <p:cNvSpPr>
                <a:spLocks noChangeArrowheads="1"/>
              </p:cNvSpPr>
              <p:nvPr/>
            </p:nvSpPr>
            <p:spPr bwMode="auto">
              <a:xfrm>
                <a:off x="719" y="1585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10"/>
              <p:cNvSpPr>
                <a:spLocks noChangeArrowheads="1"/>
              </p:cNvSpPr>
              <p:nvPr/>
            </p:nvSpPr>
            <p:spPr bwMode="auto">
              <a:xfrm>
                <a:off x="1437" y="393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Rectangle 11"/>
              <p:cNvSpPr>
                <a:spLocks noChangeArrowheads="1"/>
              </p:cNvSpPr>
              <p:nvPr/>
            </p:nvSpPr>
            <p:spPr bwMode="auto">
              <a:xfrm>
                <a:off x="719" y="792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Rectangle 12"/>
              <p:cNvSpPr>
                <a:spLocks noChangeArrowheads="1"/>
              </p:cNvSpPr>
              <p:nvPr/>
            </p:nvSpPr>
            <p:spPr bwMode="auto">
              <a:xfrm>
                <a:off x="0" y="792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" name="Rectangle 13"/>
              <p:cNvSpPr>
                <a:spLocks noChangeArrowheads="1"/>
              </p:cNvSpPr>
              <p:nvPr/>
            </p:nvSpPr>
            <p:spPr bwMode="auto">
              <a:xfrm>
                <a:off x="1081" y="792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361" y="1185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Rectangle 15"/>
              <p:cNvSpPr>
                <a:spLocks noChangeArrowheads="1"/>
              </p:cNvSpPr>
              <p:nvPr/>
            </p:nvSpPr>
            <p:spPr bwMode="auto">
              <a:xfrm>
                <a:off x="719" y="1185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067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068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 Black" panose="020B0A04020102020204" pitchFamily="34" charset="0"/>
            </a:endParaRPr>
          </a:p>
        </p:txBody>
      </p:sp>
      <p:sp>
        <p:nvSpPr>
          <p:cNvPr id="19" name="Rectangle 16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anose="020B0A04020102020204" pitchFamily="34" charset="0"/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 Black" panose="020B0A040201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Tahoma" panose="020B0604030504040204" pitchFamily="34" charset="0"/>
            </a:endParaRPr>
          </a:p>
        </p:txBody>
      </p:sp>
      <p:grpSp>
        <p:nvGrpSpPr>
          <p:cNvPr id="1028" name="Group 4"/>
          <p:cNvGrpSpPr/>
          <p:nvPr/>
        </p:nvGrpSpPr>
        <p:grpSpPr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29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5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6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7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3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39" name="Rectangle 15"/>
          <p:cNvSpPr>
            <a:spLocks noGrp="1"/>
          </p:cNvSpPr>
          <p:nvPr>
            <p:ph type="body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image" Target="../media/image23.w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1.png"/><Relationship Id="rId4" Type="http://schemas.openxmlformats.org/officeDocument/2006/relationships/image" Target="../media/image67.png"/><Relationship Id="rId9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54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48.png"/><Relationship Id="rId10" Type="http://schemas.openxmlformats.org/officeDocument/2006/relationships/image" Target="../media/image78.png"/><Relationship Id="rId4" Type="http://schemas.openxmlformats.org/officeDocument/2006/relationships/image" Target="../media/image55.png"/><Relationship Id="rId9" Type="http://schemas.openxmlformats.org/officeDocument/2006/relationships/image" Target="../media/image7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54.wmf"/><Relationship Id="rId3" Type="http://schemas.openxmlformats.org/officeDocument/2006/relationships/image" Target="../media/image49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53.wmf"/><Relationship Id="rId5" Type="http://schemas.openxmlformats.org/officeDocument/2006/relationships/image" Target="../media/image50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52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47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13" Type="http://schemas.openxmlformats.org/officeDocument/2006/relationships/image" Target="../media/image79.wmf"/><Relationship Id="rId18" Type="http://schemas.openxmlformats.org/officeDocument/2006/relationships/oleObject" Target="../embeddings/oleObject20.bin"/><Relationship Id="rId3" Type="http://schemas.openxmlformats.org/officeDocument/2006/relationships/image" Target="../media/image74.wmf"/><Relationship Id="rId21" Type="http://schemas.openxmlformats.org/officeDocument/2006/relationships/image" Target="../media/image83.wmf"/><Relationship Id="rId7" Type="http://schemas.openxmlformats.org/officeDocument/2006/relationships/image" Target="../media/image76.wmf"/><Relationship Id="rId12" Type="http://schemas.openxmlformats.org/officeDocument/2006/relationships/oleObject" Target="../embeddings/oleObject17.bin"/><Relationship Id="rId17" Type="http://schemas.openxmlformats.org/officeDocument/2006/relationships/image" Target="../media/image81.wmf"/><Relationship Id="rId25" Type="http://schemas.openxmlformats.org/officeDocument/2006/relationships/image" Target="../media/image85.wmf"/><Relationship Id="rId2" Type="http://schemas.openxmlformats.org/officeDocument/2006/relationships/oleObject" Target="../embeddings/oleObject12.bin"/><Relationship Id="rId16" Type="http://schemas.openxmlformats.org/officeDocument/2006/relationships/oleObject" Target="../embeddings/oleObject19.bin"/><Relationship Id="rId20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78.wmf"/><Relationship Id="rId24" Type="http://schemas.openxmlformats.org/officeDocument/2006/relationships/oleObject" Target="../embeddings/oleObject23.bin"/><Relationship Id="rId5" Type="http://schemas.openxmlformats.org/officeDocument/2006/relationships/image" Target="../media/image75.wmf"/><Relationship Id="rId15" Type="http://schemas.openxmlformats.org/officeDocument/2006/relationships/image" Target="../media/image80.wmf"/><Relationship Id="rId23" Type="http://schemas.openxmlformats.org/officeDocument/2006/relationships/image" Target="../media/image84.wmf"/><Relationship Id="rId10" Type="http://schemas.openxmlformats.org/officeDocument/2006/relationships/oleObject" Target="../embeddings/oleObject16.bin"/><Relationship Id="rId19" Type="http://schemas.openxmlformats.org/officeDocument/2006/relationships/image" Target="../media/image82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77.wmf"/><Relationship Id="rId14" Type="http://schemas.openxmlformats.org/officeDocument/2006/relationships/oleObject" Target="../embeddings/oleObject18.bin"/><Relationship Id="rId22" Type="http://schemas.openxmlformats.org/officeDocument/2006/relationships/oleObject" Target="../embeddings/oleObject2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91.wmf"/><Relationship Id="rId3" Type="http://schemas.openxmlformats.org/officeDocument/2006/relationships/image" Target="../media/image86.wmf"/><Relationship Id="rId7" Type="http://schemas.openxmlformats.org/officeDocument/2006/relationships/image" Target="../media/image88.w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90.wmf"/><Relationship Id="rId5" Type="http://schemas.openxmlformats.org/officeDocument/2006/relationships/image" Target="../media/image87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89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oleObject" Target="../embeddings/oleObject36.bin"/><Relationship Id="rId3" Type="http://schemas.openxmlformats.org/officeDocument/2006/relationships/image" Target="../media/image92.wmf"/><Relationship Id="rId7" Type="http://schemas.openxmlformats.org/officeDocument/2006/relationships/image" Target="../media/image93.wmf"/><Relationship Id="rId12" Type="http://schemas.openxmlformats.org/officeDocument/2006/relationships/image" Target="../media/image95.wmf"/><Relationship Id="rId2" Type="http://schemas.openxmlformats.org/officeDocument/2006/relationships/oleObject" Target="../embeddings/oleObject30.bin"/><Relationship Id="rId16" Type="http://schemas.openxmlformats.org/officeDocument/2006/relationships/image" Target="../media/image97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2.bin"/><Relationship Id="rId11" Type="http://schemas.openxmlformats.org/officeDocument/2006/relationships/oleObject" Target="../embeddings/oleObject35.bin"/><Relationship Id="rId5" Type="http://schemas.openxmlformats.org/officeDocument/2006/relationships/image" Target="../media/image75.wmf"/><Relationship Id="rId15" Type="http://schemas.openxmlformats.org/officeDocument/2006/relationships/oleObject" Target="../embeddings/oleObject37.bin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94.wmf"/><Relationship Id="rId14" Type="http://schemas.openxmlformats.org/officeDocument/2006/relationships/image" Target="../media/image9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wmf"/><Relationship Id="rId4" Type="http://schemas.openxmlformats.org/officeDocument/2006/relationships/oleObject" Target="../embeddings/oleObject39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3" Type="http://schemas.openxmlformats.org/officeDocument/2006/relationships/image" Target="../media/image100.wmf"/><Relationship Id="rId7" Type="http://schemas.openxmlformats.org/officeDocument/2006/relationships/image" Target="../media/image102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101.wmf"/><Relationship Id="rId4" Type="http://schemas.openxmlformats.org/officeDocument/2006/relationships/oleObject" Target="../embeddings/oleObject42.bin"/><Relationship Id="rId9" Type="http://schemas.openxmlformats.org/officeDocument/2006/relationships/image" Target="../media/image103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image" Target="../media/image104.wmf"/><Relationship Id="rId7" Type="http://schemas.openxmlformats.org/officeDocument/2006/relationships/image" Target="../media/image106.wmf"/><Relationship Id="rId2" Type="http://schemas.openxmlformats.org/officeDocument/2006/relationships/oleObject" Target="../embeddings/oleObject4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108.wmf"/><Relationship Id="rId5" Type="http://schemas.openxmlformats.org/officeDocument/2006/relationships/image" Target="../media/image105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10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13" Type="http://schemas.openxmlformats.org/officeDocument/2006/relationships/image" Target="../media/image112.wmf"/><Relationship Id="rId3" Type="http://schemas.openxmlformats.org/officeDocument/2006/relationships/image" Target="../media/image75.wmf"/><Relationship Id="rId7" Type="http://schemas.openxmlformats.org/officeDocument/2006/relationships/image" Target="../media/image94.wmf"/><Relationship Id="rId12" Type="http://schemas.openxmlformats.org/officeDocument/2006/relationships/oleObject" Target="../embeddings/oleObject55.bin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111.wmf"/><Relationship Id="rId5" Type="http://schemas.openxmlformats.org/officeDocument/2006/relationships/image" Target="../media/image109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11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3" Type="http://schemas.openxmlformats.org/officeDocument/2006/relationships/image" Target="../media/image113.wmf"/><Relationship Id="rId7" Type="http://schemas.openxmlformats.org/officeDocument/2006/relationships/image" Target="../media/image115.wmf"/><Relationship Id="rId2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117.wmf"/><Relationship Id="rId5" Type="http://schemas.openxmlformats.org/officeDocument/2006/relationships/image" Target="../media/image114.wmf"/><Relationship Id="rId10" Type="http://schemas.openxmlformats.org/officeDocument/2006/relationships/oleObject" Target="../embeddings/oleObject60.bin"/><Relationship Id="rId4" Type="http://schemas.openxmlformats.org/officeDocument/2006/relationships/oleObject" Target="../embeddings/oleObject57.bin"/><Relationship Id="rId9" Type="http://schemas.openxmlformats.org/officeDocument/2006/relationships/image" Target="../media/image116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image" Target="../media/image123.wmf"/><Relationship Id="rId3" Type="http://schemas.openxmlformats.org/officeDocument/2006/relationships/image" Target="../media/image118.wmf"/><Relationship Id="rId7" Type="http://schemas.openxmlformats.org/officeDocument/2006/relationships/image" Target="../media/image120.wmf"/><Relationship Id="rId12" Type="http://schemas.openxmlformats.org/officeDocument/2006/relationships/oleObject" Target="../embeddings/oleObject66.bin"/><Relationship Id="rId2" Type="http://schemas.openxmlformats.org/officeDocument/2006/relationships/oleObject" Target="../embeddings/oleObject6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3.bin"/><Relationship Id="rId11" Type="http://schemas.openxmlformats.org/officeDocument/2006/relationships/image" Target="../media/image122.wmf"/><Relationship Id="rId5" Type="http://schemas.openxmlformats.org/officeDocument/2006/relationships/image" Target="../media/image119.wmf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121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0.bin"/><Relationship Id="rId3" Type="http://schemas.openxmlformats.org/officeDocument/2006/relationships/image" Target="../media/image124.wmf"/><Relationship Id="rId7" Type="http://schemas.openxmlformats.org/officeDocument/2006/relationships/image" Target="../media/image126.wmf"/><Relationship Id="rId2" Type="http://schemas.openxmlformats.org/officeDocument/2006/relationships/oleObject" Target="../embeddings/oleObject6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9.bin"/><Relationship Id="rId11" Type="http://schemas.openxmlformats.org/officeDocument/2006/relationships/image" Target="../media/image128.wmf"/><Relationship Id="rId5" Type="http://schemas.openxmlformats.org/officeDocument/2006/relationships/image" Target="../media/image125.wmf"/><Relationship Id="rId10" Type="http://schemas.openxmlformats.org/officeDocument/2006/relationships/oleObject" Target="../embeddings/oleObject71.bin"/><Relationship Id="rId4" Type="http://schemas.openxmlformats.org/officeDocument/2006/relationships/oleObject" Target="../embeddings/oleObject68.bin"/><Relationship Id="rId9" Type="http://schemas.openxmlformats.org/officeDocument/2006/relationships/image" Target="../media/image127.w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image" Target="../media/image131.wmf"/><Relationship Id="rId7" Type="http://schemas.openxmlformats.org/officeDocument/2006/relationships/image" Target="../media/image133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5.bin"/><Relationship Id="rId5" Type="http://schemas.openxmlformats.org/officeDocument/2006/relationships/image" Target="../media/image132.wmf"/><Relationship Id="rId4" Type="http://schemas.openxmlformats.org/officeDocument/2006/relationships/oleObject" Target="../embeddings/oleObject74.bin"/><Relationship Id="rId9" Type="http://schemas.openxmlformats.org/officeDocument/2006/relationships/image" Target="../media/image134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7" Type="http://schemas.openxmlformats.org/officeDocument/2006/relationships/image" Target="../media/image137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9.bin"/><Relationship Id="rId5" Type="http://schemas.openxmlformats.org/officeDocument/2006/relationships/image" Target="../media/image136.wmf"/><Relationship Id="rId4" Type="http://schemas.openxmlformats.org/officeDocument/2006/relationships/oleObject" Target="../embeddings/oleObject7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oleObject" Target="../embeddings/oleObject79.bin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0.bin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81.bin"/><Relationship Id="rId4" Type="http://schemas.openxmlformats.org/officeDocument/2006/relationships/image" Target="../media/image147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7" Type="http://schemas.openxmlformats.org/officeDocument/2006/relationships/image" Target="../media/image151.wmf"/><Relationship Id="rId2" Type="http://schemas.openxmlformats.org/officeDocument/2006/relationships/oleObject" Target="../embeddings/oleObject8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150.wmf"/><Relationship Id="rId4" Type="http://schemas.openxmlformats.org/officeDocument/2006/relationships/oleObject" Target="../embeddings/oleObject83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7" Type="http://schemas.openxmlformats.org/officeDocument/2006/relationships/image" Target="../media/image156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wmf"/><Relationship Id="rId7" Type="http://schemas.openxmlformats.org/officeDocument/2006/relationships/image" Target="../media/image159.wmf"/><Relationship Id="rId2" Type="http://schemas.openxmlformats.org/officeDocument/2006/relationships/oleObject" Target="../embeddings/oleObject8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88.bin"/><Relationship Id="rId5" Type="http://schemas.openxmlformats.org/officeDocument/2006/relationships/image" Target="../media/image158.wmf"/><Relationship Id="rId4" Type="http://schemas.openxmlformats.org/officeDocument/2006/relationships/oleObject" Target="../embeddings/oleObject87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/>
          </p:cNvSpPr>
          <p:nvPr>
            <p:ph type="ctrTitle"/>
          </p:nvPr>
        </p:nvSpPr>
        <p:spPr>
          <a:xfrm>
            <a:off x="2571750" y="1828800"/>
            <a:ext cx="6419850" cy="2209800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Tx/>
              <a:buFontTx/>
            </a:pPr>
            <a:r>
              <a:rPr lang="zh-CN" altLang="en-US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第九章 微分方程求解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常微分方程基本概念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2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3"/>
              <p:cNvSpPr txBox="1">
                <a:spLocks noChangeArrowheads="1"/>
              </p:cNvSpPr>
              <p:nvPr/>
            </p:nvSpPr>
            <p:spPr bwMode="auto">
              <a:xfrm>
                <a:off x="690919" y="1827268"/>
                <a:ext cx="6172200" cy="37266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什么是常微分方程</a:t>
                </a:r>
                <a:r>
                  <a:rPr kumimoji="0" lang="en-US" altLang="zh-CN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?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天体运动的轨迹</a:t>
                </a:r>
                <a:r>
                  <a:rPr kumimoji="0" lang="zh-CN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、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机器人控制</a:t>
                </a:r>
                <a:r>
                  <a:rPr kumimoji="0" lang="zh-CN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、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化学反应过程的描述和控制</a:t>
                </a:r>
                <a:r>
                  <a:rPr kumimoji="0" lang="zh-CN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、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以及电路瞬态过程分析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要求解随时间变化的物理量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即未知函数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r>
                      <a:rPr kumimoji="0" lang="en-US" altLang="zh-CN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(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𝑡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)</m:t>
                    </m:r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sng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未知函数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及其</a:t>
                </a:r>
                <a:r>
                  <a:rPr kumimoji="0" lang="zh-CN" altLang="en-US" sz="1800" b="1" i="0" u="sng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各</a:t>
                </a:r>
                <a:r>
                  <a:rPr kumimoji="0" lang="zh-CN" altLang="zh-CN" sz="1800" b="1" i="0" u="sng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阶导</a:t>
                </a:r>
                <a:r>
                  <a:rPr kumimoji="0" lang="zh-CN" altLang="en-US" sz="1800" b="1" i="0" u="sng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函</a:t>
                </a:r>
                <a:r>
                  <a:rPr kumimoji="0" lang="zh-CN" altLang="zh-CN" sz="1800" b="1" i="0" u="sng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数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满足特定方程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(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物理规律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)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未知函数是单变量函数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这种方程被称为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常微分方程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（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ordinary differential equation, ODE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）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本章内容</a:t>
                </a:r>
                <a:endParaRPr kumimoji="0" lang="en-US" altLang="zh-CN" sz="2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常微分方程初值问题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简单的数值解法与有关概念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en-US" altLang="zh-CN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Runge-Kutta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方法；多步法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7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919" y="1827268"/>
                <a:ext cx="6172200" cy="3726656"/>
              </a:xfrm>
              <a:prstGeom prst="rect">
                <a:avLst/>
              </a:prstGeom>
              <a:blipFill rotWithShape="1">
                <a:blip r:embed="rId2"/>
                <a:stretch>
                  <a:fillRect l="-1" t="-10" r="1" b="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常微分方程基本概念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3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631425" y="1858090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常微分方程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𝑔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, 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, </m:t>
                        </m:r>
                        <m:sSup>
                          <m:sSup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p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′</m:t>
                            </m:r>
                          </m:sup>
                        </m:s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, ⋯, </m:t>
                        </m:r>
                        <m:sSup>
                          <m:sSup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kumimoji="0" lang="zh-CN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8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𝑘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=0</m:t>
                    </m:r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en-US" altLang="zh-CN" sz="1800" b="0" i="0" u="sng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k</a:t>
                </a:r>
                <a:r>
                  <a:rPr kumimoji="0" lang="zh-CN" altLang="zh-CN" sz="1800" b="1" i="0" u="sng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阶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常微分方程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方程中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含未知函数的最高阶导数为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𝑘</m:t>
                            </m:r>
                          </m:e>
                        </m:d>
                      </m:sup>
                    </m:sSup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显式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常微分方程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:</a:t>
                </a:r>
                <a14:m>
                  <m:oMath xmlns:m="http://schemas.openxmlformats.org/officeDocument/2006/math">
                    <m:r>
                      <a:rPr kumimoji="0" lang="en-US" altLang="zh-CN" sz="1800" b="1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ea typeface="Cambria Math" panose="02040503050406030204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d>
                          <m:d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𝑘</m:t>
                            </m:r>
                          </m:e>
                        </m:d>
                      </m:sup>
                    </m:sSup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𝑓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, 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, </m:t>
                        </m:r>
                        <m:sSup>
                          <m:sSup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p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′</m:t>
                            </m:r>
                          </m:sup>
                        </m:s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, ⋯, </m:t>
                        </m:r>
                        <m:sSup>
                          <m:sSup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kumimoji="0" lang="zh-CN" altLang="zh-CN" sz="18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altLang="zh-CN" sz="18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𝑘</m:t>
                                </m:r>
                                <m:r>
                                  <a:rPr kumimoji="0" lang="en-US" altLang="zh-CN" sz="1800" b="0" i="1" u="none" strike="noStrike" kern="1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−1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通过变量代换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,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得到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一阶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常微分方程组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只需考虑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一阶常微分方程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/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方程组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𝒚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1800" b="1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𝒇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, </m:t>
                        </m:r>
                        <m:r>
                          <a:rPr kumimoji="0" lang="en-US" altLang="zh-CN" sz="1800" b="1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𝒚</m:t>
                        </m:r>
                      </m:e>
                    </m:d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(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牛顿第二定律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):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𝐹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=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𝑚𝑎</m:t>
                    </m:r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, </a:t>
                </a: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1425" y="1858090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4" t="-2" r="9" b="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4782900" y="1888808"/>
                <a:ext cx="2054860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650" b="1" dirty="0">
                    <a:solidFill>
                      <a:srgbClr val="00007D">
                        <a:lumMod val="60000"/>
                        <a:lumOff val="40000"/>
                      </a:srgbClr>
                    </a:solidFill>
                    <a:latin typeface="Arial" panose="020B0604020202020204" pitchFamily="34" charset="0"/>
                  </a:rPr>
                  <a:t>函数</a:t>
                </a:r>
                <a14:m>
                  <m:oMath xmlns:m="http://schemas.openxmlformats.org/officeDocument/2006/math">
                    <m:r>
                      <a:rPr lang="en-US" altLang="zh-CN" sz="1650" i="1" kern="10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r>
                      <a:rPr lang="en-US" altLang="zh-CN" sz="1650" i="1" kern="100" smtClean="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 pitchFamily="18" charset="0"/>
                        <a:cs typeface="Times New Roman" panose="02020603050405020304"/>
                      </a:rPr>
                      <m:t>(</m:t>
                    </m:r>
                    <m:r>
                      <a:rPr lang="en-US" altLang="zh-CN" sz="1650" i="1" kern="100" smtClean="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 pitchFamily="18" charset="0"/>
                        <a:cs typeface="Times New Roman" panose="02020603050405020304"/>
                      </a:rPr>
                      <m:t>𝑡</m:t>
                    </m:r>
                    <m:r>
                      <a:rPr lang="en-US" altLang="zh-CN" sz="1650" i="1" kern="100" smtClean="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 pitchFamily="18" charset="0"/>
                        <a:cs typeface="Times New Roman" panose="02020603050405020304"/>
                      </a:rPr>
                      <m:t>)</m:t>
                    </m:r>
                  </m:oMath>
                </a14:m>
                <a:r>
                  <a:rPr lang="zh-CN" altLang="en-US" sz="1650" b="1" dirty="0">
                    <a:solidFill>
                      <a:srgbClr val="00007D">
                        <a:lumMod val="60000"/>
                        <a:lumOff val="40000"/>
                      </a:srgbClr>
                    </a:solidFill>
                    <a:latin typeface="Arial" panose="020B0604020202020204" pitchFamily="34" charset="0"/>
                  </a:rPr>
                  <a:t>简写为</a:t>
                </a:r>
                <a14:m>
                  <m:oMath xmlns:m="http://schemas.openxmlformats.org/officeDocument/2006/math">
                    <m:r>
                      <a:rPr lang="en-US" altLang="zh-CN" sz="1650" i="1" kern="10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</m:oMath>
                </a14:m>
                <a:r>
                  <a:rPr lang="en-US" altLang="zh-CN" sz="1650" dirty="0">
                    <a:solidFill>
                      <a:srgbClr val="00007D">
                        <a:lumMod val="60000"/>
                        <a:lumOff val="40000"/>
                      </a:srgbClr>
                    </a:solidFill>
                    <a:latin typeface="Arial" panose="020B0604020202020204" pitchFamily="34" charset="0"/>
                  </a:rPr>
                  <a:t>, …</a:t>
                </a:r>
                <a:endParaRPr lang="zh-CN" altLang="en-US" sz="1650" dirty="0">
                  <a:solidFill>
                    <a:srgbClr val="00007D">
                      <a:lumMod val="60000"/>
                      <a:lumOff val="40000"/>
                    </a:srgbClr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900" y="1888808"/>
                <a:ext cx="2054860" cy="344805"/>
              </a:xfrm>
              <a:prstGeom prst="rect">
                <a:avLst/>
              </a:prstGeom>
              <a:blipFill rotWithShape="1">
                <a:blip r:embed="rId3"/>
                <a:stretch>
                  <a:fillRect l="-4" t="-92" r="4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771008" y="3137153"/>
                <a:ext cx="1852673" cy="11182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𝑦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, </m:t>
                      </m:r>
                    </m:oMath>
                  </m:oMathPara>
                </a14:m>
                <a:endParaRPr lang="en-US" altLang="zh-CN" sz="1650" i="1" kern="100" dirty="0">
                  <a:solidFill>
                    <a:srgbClr val="000000"/>
                  </a:solidFill>
                  <a:latin typeface="Cambria Math" panose="02040503050406030204"/>
                  <a:cs typeface="Times New Roman" panose="02020603050405020304"/>
                </a:endParaRPr>
              </a:p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sSup>
                        <m:sSup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, </m:t>
                      </m:r>
                    </m:oMath>
                  </m:oMathPara>
                </a14:m>
                <a:endParaRPr lang="en-US" altLang="zh-CN" sz="1650" i="1" kern="100" dirty="0">
                  <a:solidFill>
                    <a:srgbClr val="000000"/>
                  </a:solidFill>
                  <a:latin typeface="Cambria Math" panose="02040503050406030204"/>
                  <a:cs typeface="Times New Roman" panose="02020603050405020304"/>
                </a:endParaRPr>
              </a:p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50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⋯, </m:t>
                      </m:r>
                    </m:oMath>
                  </m:oMathPara>
                </a14:m>
                <a:endParaRPr lang="en-US" altLang="zh-CN" sz="1650" kern="100" dirty="0">
                  <a:solidFill>
                    <a:srgbClr val="000000"/>
                  </a:solidFill>
                  <a:latin typeface="Cambria Math" panose="02040503050406030204"/>
                  <a:cs typeface="Times New Roman" panose="02020603050405020304"/>
                </a:endParaRPr>
              </a:p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sSup>
                        <m:sSup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𝑘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−1</m:t>
                              </m:r>
                            </m:e>
                          </m:d>
                        </m:sup>
                      </m:sSup>
                      <m:r>
                        <a:rPr lang="en-US" altLang="zh-CN" sz="1650" i="1" kern="1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/>
                        </a:rPr>
                        <m:t>(</m:t>
                      </m:r>
                      <m:r>
                        <a:rPr lang="en-US" altLang="zh-CN" sz="1650" i="1" kern="1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/>
                        </a:rPr>
                        <m:t>𝑡</m:t>
                      </m:r>
                      <m:r>
                        <a:rPr lang="en-US" altLang="zh-CN" sz="1650" i="1" kern="1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/>
                        </a:rPr>
                        <m:t>)</m:t>
                      </m:r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008" y="3137153"/>
                <a:ext cx="1852673" cy="1118235"/>
              </a:xfrm>
              <a:prstGeom prst="rect">
                <a:avLst/>
              </a:prstGeom>
              <a:blipFill rotWithShape="1">
                <a:blip r:embed="rId4"/>
                <a:stretch>
                  <a:fillRect l="-6" t="-23" r="27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右箭头 7"/>
          <p:cNvSpPr/>
          <p:nvPr/>
        </p:nvSpPr>
        <p:spPr>
          <a:xfrm>
            <a:off x="2498144" y="3624155"/>
            <a:ext cx="378000" cy="216024"/>
          </a:xfrm>
          <a:prstGeom prst="rightArrow">
            <a:avLst/>
          </a:prstGeom>
          <a:solidFill>
            <a:srgbClr val="9999CC"/>
          </a:solidFill>
          <a:ln>
            <a:solidFill>
              <a:srgbClr val="000000"/>
            </a:solidFill>
          </a:ln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544159" y="3236094"/>
            <a:ext cx="309880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zh-CN" altLang="en-US" sz="165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2944951" y="3144133"/>
                <a:ext cx="2381250" cy="10947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</m:t>
                          </m:r>
                        </m:sup>
                      </m:sSubSup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Sup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𝑢</m:t>
                        </m:r>
                      </m:e>
                      <m:sub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2</m:t>
                        </m:r>
                      </m:sub>
                      <m:sup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bSup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sSub>
                      <m:sSub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𝑢</m:t>
                        </m:r>
                      </m:e>
                      <m:sub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16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endParaRPr lang="en-US" altLang="zh-CN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:r>
                  <a:rPr lang="en-US" altLang="zh-CN" sz="1650" kern="100" dirty="0">
                    <a:solidFill>
                      <a:srgbClr val="000000"/>
                    </a:solidFill>
                    <a:latin typeface="Arial" panose="020B0604020202020204" pitchFamily="34" charset="0"/>
                    <a:ea typeface="Cambria Math" panose="02040503050406030204"/>
                    <a:cs typeface="Cambria Math" panose="02040503050406030204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1650" kern="100">
                        <a:solidFill>
                          <a:srgbClr val="000000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⋯</m:t>
                    </m:r>
                  </m:oMath>
                </a14:m>
                <a:endParaRPr lang="en-US" altLang="zh-CN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</m:t>
                          </m:r>
                        </m:sup>
                      </m:sSubSup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𝑓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⋯, </m:t>
                          </m:r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951" y="3144133"/>
                <a:ext cx="2381250" cy="1094740"/>
              </a:xfrm>
              <a:prstGeom prst="rect">
                <a:avLst/>
              </a:prstGeom>
              <a:blipFill rotWithShape="1">
                <a:blip r:embed="rId5"/>
                <a:stretch>
                  <a:fillRect l="-19" t="-23" r="19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832358" y="4797035"/>
                <a:ext cx="2326005" cy="3752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𝑚</m:t>
                      </m:r>
                      <m:sSup>
                        <m:sSup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𝐹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358" y="4797035"/>
                <a:ext cx="2326005" cy="375285"/>
              </a:xfrm>
              <a:prstGeom prst="rect">
                <a:avLst/>
              </a:prstGeom>
              <a:blipFill rotWithShape="1">
                <a:blip r:embed="rId6"/>
                <a:stretch>
                  <a:fillRect l="-16" t="-65" r="16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右箭头 12"/>
          <p:cNvSpPr/>
          <p:nvPr/>
        </p:nvSpPr>
        <p:spPr>
          <a:xfrm>
            <a:off x="4141667" y="4758945"/>
            <a:ext cx="528309" cy="177933"/>
          </a:xfrm>
          <a:prstGeom prst="rightArrow">
            <a:avLst/>
          </a:prstGeom>
          <a:solidFill>
            <a:srgbClr val="92D050"/>
          </a:solidFill>
          <a:ln>
            <a:solidFill>
              <a:srgbClr val="000000"/>
            </a:solidFill>
          </a:ln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847499" y="4557010"/>
                <a:ext cx="1903190" cy="7829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base"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</m:t>
                          </m:r>
                        </m:sup>
                      </m:sSubSup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𝑢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fontAlgn="base">
                  <a:spcBef>
                    <a:spcPts val="60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Sup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𝑢</m:t>
                        </m:r>
                      </m:e>
                      <m:sub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2</m:t>
                        </m:r>
                      </m:sub>
                      <m:sup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bSup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f>
                      <m:fPr>
                        <m:ctrlPr>
                          <a:rPr lang="en-US" altLang="zh-CN" sz="1650" i="1" kern="1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/>
                          </a:rPr>
                        </m:ctrlPr>
                      </m:fPr>
                      <m:num>
                        <m:r>
                          <a:rPr lang="en-US" altLang="zh-CN" sz="1650" i="1" kern="1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1</m:t>
                        </m:r>
                      </m:num>
                      <m:den>
                        <m:r>
                          <a:rPr lang="en-US" altLang="zh-CN" sz="1650" i="1" kern="1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𝑚</m:t>
                        </m:r>
                      </m:den>
                    </m:f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𝐹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650" i="1" kern="100" smtClean="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1650" kern="100" dirty="0">
                    <a:solidFill>
                      <a:srgbClr val="000000"/>
                    </a:solidFill>
                    <a:latin typeface="Arial" panose="020B0604020202020204" pitchFamily="34" charset="0"/>
                    <a:ea typeface="Cambria Math" panose="02040503050406030204"/>
                    <a:cs typeface="Cambria Math" panose="02040503050406030204"/>
                  </a:rPr>
                  <a:t>    </a:t>
                </a:r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499" y="4557010"/>
                <a:ext cx="1903190" cy="782955"/>
              </a:xfrm>
              <a:prstGeom prst="rect">
                <a:avLst/>
              </a:prstGeom>
              <a:blipFill rotWithShape="1">
                <a:blip r:embed="rId7"/>
                <a:stretch>
                  <a:fillRect l="-29" t="-32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/>
          <p:cNvSpPr txBox="1"/>
          <p:nvPr/>
        </p:nvSpPr>
        <p:spPr>
          <a:xfrm>
            <a:off x="734833" y="4829902"/>
            <a:ext cx="1141172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假设在一维</a:t>
            </a:r>
            <a:b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空间中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1607045" y="5104370"/>
            <a:ext cx="2135119" cy="380979"/>
            <a:chOff x="1840577" y="6028587"/>
            <a:chExt cx="2846825" cy="507972"/>
          </a:xfrm>
        </p:grpSpPr>
        <p:sp>
          <p:nvSpPr>
            <p:cNvPr id="17" name="矩形 16"/>
            <p:cNvSpPr/>
            <p:nvPr/>
          </p:nvSpPr>
          <p:spPr>
            <a:xfrm>
              <a:off x="1840577" y="6403537"/>
              <a:ext cx="2376264" cy="115470"/>
            </a:xfrm>
            <a:prstGeom prst="rect">
              <a:avLst/>
            </a:prstGeom>
            <a:solidFill>
              <a:srgbClr val="9999CC"/>
            </a:solidFill>
            <a:ln>
              <a:solidFill>
                <a:srgbClr val="000000"/>
              </a:solidFill>
            </a:ln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2627784" y="6093296"/>
              <a:ext cx="216024" cy="304623"/>
            </a:xfrm>
            <a:prstGeom prst="rect">
              <a:avLst/>
            </a:prstGeom>
            <a:solidFill>
              <a:srgbClr val="000000"/>
            </a:solidFill>
            <a:ln>
              <a:solidFill>
                <a:srgbClr val="000000"/>
              </a:solidFill>
            </a:ln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 bwMode="auto">
            <a:xfrm>
              <a:off x="2829146" y="6237312"/>
              <a:ext cx="504056" cy="0"/>
            </a:xfrm>
            <a:prstGeom prst="straightConnector1">
              <a:avLst/>
            </a:prstGeom>
            <a:solidFill>
              <a:srgbClr val="9999FF"/>
            </a:solidFill>
            <a:ln w="285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3348751" y="6028587"/>
                  <a:ext cx="367915" cy="3987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35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𝐹</m:t>
                        </m:r>
                      </m:oMath>
                    </m:oMathPara>
                  </a14:m>
                  <a:endParaRPr kumimoji="0" lang="zh-CN" altLang="en-US" sz="13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8751" y="6028587"/>
                  <a:ext cx="367915" cy="398780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直接箭头连接符 20"/>
            <p:cNvCxnSpPr/>
            <p:nvPr/>
          </p:nvCxnSpPr>
          <p:spPr bwMode="auto">
            <a:xfrm>
              <a:off x="3589505" y="6404899"/>
              <a:ext cx="766471" cy="0"/>
            </a:xfrm>
            <a:prstGeom prst="straightConnector1">
              <a:avLst/>
            </a:prstGeom>
            <a:solidFill>
              <a:srgbClr val="9999FF"/>
            </a:solidFill>
            <a:ln w="63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/>
                <p:cNvSpPr txBox="1"/>
                <p:nvPr/>
              </p:nvSpPr>
              <p:spPr>
                <a:xfrm>
                  <a:off x="4319487" y="6169106"/>
                  <a:ext cx="367915" cy="3674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12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𝑦</m:t>
                        </m:r>
                      </m:oMath>
                    </m:oMathPara>
                  </a14:m>
                  <a:endParaRPr kumimoji="0" lang="zh-CN" alt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22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9487" y="6169106"/>
                  <a:ext cx="367915" cy="367453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ldLvl="0" animBg="1"/>
      <p:bldP spid="10" grpId="0"/>
      <p:bldP spid="12" grpId="0"/>
      <p:bldP spid="13" grpId="0" bldLvl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常微分方程基本概念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4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726841" y="1828272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例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: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解常微分方程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解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: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采用</a:t>
                </a:r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分离变量法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, 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两边积分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得到原方程的解为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</m:e>
                    </m:d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𝑐</m:t>
                    </m:r>
                    <m:r>
                      <a:rPr kumimoji="0" lang="en-US" altLang="zh-CN" sz="18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∙</m:t>
                    </m:r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𝑒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</m:sup>
                    </m:sSup>
                  </m:oMath>
                </a14:m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𝑐</m:t>
                    </m:r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为任意常数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仅根据常微分方程无法得到唯一的解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还需在一些自变量点上给出未知函数的值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对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阶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ODE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给出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𝑡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时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的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函数值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一般</a:t>
                </a:r>
                <a:r>
                  <a:rPr kumimoji="0" lang="zh-CN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，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时刻的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初始状态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开始</a:t>
                </a:r>
                <a:r>
                  <a:rPr kumimoji="0" lang="zh-CN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，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常微分方程决定了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𝑡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&gt;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时的变化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规律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即可确定常微分方程的唯一解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6841" y="1828272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6" t="-3" r="1" b="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2323797" y="4036663"/>
                <a:ext cx="2037715" cy="591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, </m:t>
                                    </m:r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, </m:t>
                                </m:r>
                                <m:r>
                                  <a:rPr lang="en-US" altLang="zh-CN" sz="165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 </m:t>
                                </m:r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𝑡</m:t>
                                </m:r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≥</m:t>
                                </m:r>
                                <m:sSub>
                                  <m:sSub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65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5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165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797" y="4036663"/>
                <a:ext cx="2037715" cy="591185"/>
              </a:xfrm>
              <a:prstGeom prst="rect">
                <a:avLst/>
              </a:prstGeom>
              <a:blipFill rotWithShape="1">
                <a:blip r:embed="rId3"/>
                <a:stretch>
                  <a:fillRect l="-16" t="-102" r="16" b="1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979994" y="4159696"/>
            <a:ext cx="117856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初值问题</a:t>
            </a:r>
            <a:r>
              <a:rPr lang="en-US" altLang="zh-CN" sz="1800" b="1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:</a:t>
            </a:r>
            <a:endParaRPr lang="zh-CN" alt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639575" y="3206276"/>
            <a:ext cx="309880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zh-CN" altLang="en-US" sz="165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103642" y="2044742"/>
                <a:ext cx="2017395" cy="6115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5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d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165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d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𝑡</m:t>
                          </m:r>
                        </m:den>
                      </m:f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𝑦</m:t>
                      </m:r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 ⟹ </m:t>
                      </m:r>
                      <m:f>
                        <m:f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sz="165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d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num>
                        <m:den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den>
                      </m:f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165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d</m:t>
                      </m:r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𝑡</m:t>
                      </m:r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642" y="2044742"/>
                <a:ext cx="2017395" cy="611505"/>
              </a:xfrm>
              <a:prstGeom prst="rect">
                <a:avLst/>
              </a:prstGeom>
              <a:blipFill rotWithShape="1">
                <a:blip r:embed="rId4"/>
                <a:stretch>
                  <a:fillRect l="-20" t="-7" r="20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5027296" y="1924712"/>
                <a:ext cx="1369695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5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CN" sz="165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650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𝑦</m:t>
                      </m:r>
                      <m:r>
                        <a:rPr lang="en-US" altLang="zh-CN" sz="165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1650" i="1">
                          <a:solidFill>
                            <a:srgbClr val="0000FF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165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165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5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296" y="1924712"/>
                <a:ext cx="1369695" cy="344805"/>
              </a:xfrm>
              <a:prstGeom prst="rect">
                <a:avLst/>
              </a:prstGeom>
              <a:blipFill rotWithShape="1">
                <a:blip r:embed="rId5"/>
                <a:stretch>
                  <a:fillRect t="-8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常微分方程基本概念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5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637388" y="1814050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方程的分类</a:t>
                </a:r>
                <a:endParaRPr kumimoji="0" lang="en-US" altLang="zh-CN" sz="21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线性常微分方程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: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-2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𝑓</m:t>
                    </m:r>
                    <m:d>
                      <m:dPr>
                        <m:ctrlPr>
                          <a:rPr kumimoji="0" lang="zh-CN" altLang="zh-CN" sz="1800" b="0" i="1" u="none" strike="noStrike" kern="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  <m:r>
                          <a:rPr kumimoji="0" lang="en-US" altLang="zh-CN" sz="1800" b="0" i="1" u="none" strike="noStrike" kern="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, </m:t>
                        </m:r>
                        <m:r>
                          <a:rPr kumimoji="0" lang="en-US" altLang="zh-CN" sz="1800" b="0" i="1" u="none" strike="noStrike" kern="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</m:d>
                    <m:r>
                      <a:rPr kumimoji="0" lang="en-US" altLang="zh-CN" sz="1800" b="0" i="1" u="none" strike="noStrike" kern="0" cap="none" spc="-2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=</m:t>
                    </m:r>
                    <m:r>
                      <a:rPr kumimoji="0" lang="en-US" altLang="zh-CN" sz="1800" b="0" i="1" u="none" strike="noStrike" kern="0" cap="none" spc="-2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𝑎</m:t>
                    </m:r>
                    <m:d>
                      <m:dPr>
                        <m:ctrlPr>
                          <a:rPr kumimoji="0" lang="zh-CN" altLang="zh-CN" sz="1800" b="0" i="1" u="none" strike="noStrike" kern="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  <m:r>
                      <a:rPr kumimoji="0" lang="en-US" altLang="zh-CN" sz="1800" b="0" i="1" u="none" strike="noStrike" kern="0" cap="none" spc="-2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r>
                      <a:rPr kumimoji="0" lang="en-US" altLang="zh-CN" sz="1800" b="0" i="1" u="none" strike="noStrike" kern="0" cap="none" spc="-2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+</m:t>
                    </m:r>
                    <m:r>
                      <a:rPr kumimoji="0" lang="en-US" altLang="zh-CN" sz="1800" b="0" i="1" u="none" strike="noStrike" kern="0" cap="none" spc="-2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𝑏</m:t>
                    </m:r>
                    <m:d>
                      <m:dPr>
                        <m:ctrlPr>
                          <a:rPr kumimoji="0" lang="zh-CN" altLang="zh-CN" sz="1800" b="0" i="1" u="none" strike="noStrike" kern="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-2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𝑓</m:t>
                    </m:r>
                  </m:oMath>
                </a14:m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的线性函数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Calibri" panose="020F0502020204030204" pitchFamily="34" charset="0"/>
                  </a:rPr>
                  <a:t>线性齐次常微分方程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,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en-US" altLang="zh-CN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ODE</a:t>
                </a: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初值问题的敏感性</a:t>
                </a:r>
                <a:endParaRPr kumimoji="0" lang="en-US" altLang="zh-CN" sz="2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考虑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初值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发生扰动对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解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的影响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问题的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解是一个函数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主要关心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𝑡</m:t>
                    </m:r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→∞</m:t>
                    </m:r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</m:oMath>
                </a14:m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受影响情况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定义</a:t>
                </a:r>
                <a:r>
                  <a:rPr kumimoji="0" lang="zh-CN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：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ODE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初值问题的</a:t>
                </a:r>
                <a:r>
                  <a:rPr kumimoji="0" lang="zh-CN" altLang="en-US" sz="1800" b="1" i="0" u="sng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</a:rPr>
                  <a:t>稳定性</a:t>
                </a:r>
                <a:endParaRPr kumimoji="0" lang="en-US" altLang="zh-CN" sz="1800" b="1" i="0" u="sng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𝑡</m:t>
                    </m:r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→∞</m:t>
                    </m:r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的偏差被控制在有界范围内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</a:rPr>
                  <a:t>稳定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</a:rPr>
                  <a:t>(stable)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𝑡</m:t>
                    </m:r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→∞</m:t>
                    </m:r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的偏差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发散为无穷大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</a:rPr>
                  <a:t>不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</a:rPr>
                  <a:t>稳定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</a:rPr>
                  <a:t> 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</a:rPr>
                  <a:t>(unstable)</a:t>
                </a: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𝑡</m:t>
                    </m:r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→∞</m:t>
                    </m:r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时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的偏差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趋于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零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</a:rPr>
                  <a:t>渐进稳定</a:t>
                </a:r>
                <a:r>
                  <a:rPr kumimoji="0" lang="en-US" altLang="zh-CN" sz="1500" b="0" i="0" u="none" strike="noStrike" kern="0" cap="none" spc="-5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</a:rPr>
                  <a:t>(asymptotically stable)</a:t>
                </a:r>
                <a:endParaRPr kumimoji="0" lang="en-US" altLang="zh-CN" sz="1500" b="0" i="0" u="none" strike="noStrike" kern="0" cap="none" spc="-5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388" y="1814050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8" t="-14" r="2" b="-26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928123" y="1804260"/>
                <a:ext cx="1447800" cy="3911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950" i="1" smtClean="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1950" i="1" kern="10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1950" i="1" kern="10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</m:t>
                          </m:r>
                        </m:sup>
                      </m:sSup>
                      <m:r>
                        <a:rPr lang="en-US" altLang="zh-CN" sz="1950" i="1" kern="100">
                          <a:solidFill>
                            <a:srgbClr val="00007D">
                              <a:lumMod val="60000"/>
                              <a:lumOff val="40000"/>
                            </a:srgbClr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950" i="1" kern="100">
                          <a:solidFill>
                            <a:srgbClr val="00007D">
                              <a:lumMod val="60000"/>
                              <a:lumOff val="40000"/>
                            </a:srgbClr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𝑓</m:t>
                      </m:r>
                      <m:d>
                        <m:dPr>
                          <m:ctrlPr>
                            <a:rPr lang="zh-CN" altLang="zh-CN" sz="19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950" i="1" kern="10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𝑡</m:t>
                          </m:r>
                          <m:r>
                            <a:rPr lang="en-US" altLang="zh-CN" sz="1950" i="1" kern="10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r>
                            <a:rPr lang="en-US" altLang="zh-CN" sz="1950" i="1" kern="10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CN" altLang="en-US" sz="1950">
                  <a:solidFill>
                    <a:srgbClr val="00007D">
                      <a:lumMod val="60000"/>
                      <a:lumOff val="40000"/>
                    </a:srgbClr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8123" y="1804260"/>
                <a:ext cx="1447800" cy="391160"/>
              </a:xfrm>
              <a:prstGeom prst="rect">
                <a:avLst/>
              </a:prstGeom>
              <a:blipFill rotWithShape="1">
                <a:blip r:embed="rId3"/>
                <a:stretch>
                  <a:fillRect l="-10" t="-58" r="10" b="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/>
          <p:cNvSpPr/>
          <p:nvPr/>
        </p:nvSpPr>
        <p:spPr>
          <a:xfrm>
            <a:off x="3535641" y="2436450"/>
            <a:ext cx="271145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1800" b="1" dirty="0">
                <a:solidFill>
                  <a:srgbClr val="00007D">
                    <a:lumMod val="60000"/>
                    <a:lumOff val="4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线性齐次常系数微分方程</a:t>
            </a:r>
            <a:endParaRPr lang="zh-CN" alt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791045" y="2786604"/>
                <a:ext cx="1456055" cy="591185"/>
              </a:xfrm>
              <a:prstGeom prst="rect">
                <a:avLst/>
              </a:prstGeom>
              <a:ln w="12700">
                <a:solidFill>
                  <a:srgbClr val="00007D">
                    <a:lumMod val="60000"/>
                    <a:lumOff val="40000"/>
                  </a:srgbClr>
                </a:solidFill>
                <a:prstDash val="dash"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0" lang="zh-CN" altLang="zh-CN" sz="165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zh-CN" altLang="zh-CN" sz="165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kumimoji="0" lang="zh-CN" altLang="en-US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zh-CN" sz="165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kumimoji="0" lang="en-US" altLang="zh-CN" sz="1650" b="0" i="1" u="none" strike="noStrike" kern="1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kumimoji="0" lang="en-US" altLang="zh-CN" sz="16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kumimoji="0" lang="en-US" altLang="zh-CN" sz="16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kumimoji="0" lang="zh-CN" altLang="zh-CN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kumimoji="0" lang="en-US" altLang="zh-CN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  <m:r>
                                      <a:rPr kumimoji="0" lang="en-US" altLang="zh-CN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</a:rPr>
                                      <m:t>, </m:t>
                                    </m:r>
                                    <m:r>
                                      <a:rPr kumimoji="0" lang="en-US" altLang="zh-CN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kumimoji="0" lang="en-US" altLang="zh-CN" sz="16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/>
                                  </a:rPr>
                                  <m:t>, </m:t>
                                </m:r>
                              </m:e>
                            </m:mr>
                            <m:mr>
                              <m:e>
                                <m:r>
                                  <a:rPr kumimoji="0" lang="en-US" altLang="zh-CN" sz="16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kumimoji="0" lang="zh-CN" altLang="zh-CN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kumimoji="0" lang="zh-CN" altLang="zh-CN" sz="165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en-US" altLang="zh-CN" sz="165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kumimoji="0" lang="en-US" altLang="zh-CN" sz="165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000000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kumimoji="0" lang="en-US" altLang="zh-CN" sz="165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zh-CN" altLang="zh-CN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en-US" altLang="zh-CN" sz="165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zh-CN" altLang="en-US" sz="16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045" y="2786604"/>
                <a:ext cx="1456055" cy="591185"/>
              </a:xfrm>
              <a:prstGeom prst="rect">
                <a:avLst/>
              </a:prstGeom>
              <a:blipFill rotWithShape="1">
                <a:blip r:embed="rId4"/>
                <a:stretch>
                  <a:fillRect l="-478" t="-1112" r="-395" b="-1036"/>
                </a:stretch>
              </a:blipFill>
              <a:ln w="12700">
                <a:solidFill>
                  <a:srgbClr val="00007D">
                    <a:lumMod val="60000"/>
                    <a:lumOff val="40000"/>
                  </a:srgbClr>
                </a:solidFill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3"/>
          <p:cNvSpPr txBox="1"/>
          <p:nvPr/>
        </p:nvSpPr>
        <p:spPr>
          <a:xfrm>
            <a:off x="1555342" y="5517709"/>
            <a:ext cx="32403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解实际问题应考虑其稳定性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!</a:t>
            </a:r>
            <a:endParaRPr lang="zh-CN" altLang="en-US" sz="180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6072173" y="2482738"/>
                <a:ext cx="915670" cy="3219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500" dirty="0">
                    <a:solidFill>
                      <a:srgbClr val="000000"/>
                    </a:solidFill>
                    <a:latin typeface="Arial" panose="020B0604020202020204" pitchFamily="34" charset="0"/>
                    <a:ea typeface="Cambria Math" panose="02040503050406030204"/>
                  </a:rPr>
                  <a:t> </a:t>
                </a:r>
                <a:r>
                  <a:rPr lang="zh-CN" alt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Cambria Math" panose="02040503050406030204"/>
                  </a:rPr>
                  <a:t>如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1500" i="1" spc="-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1500" i="1" kern="100" spc="-2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lang="en-US" altLang="zh-CN" sz="1500" i="1" kern="100" spc="-2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lang="en-US" altLang="zh-CN" sz="1500" i="1" kern="100" spc="-2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lang="zh-CN" altLang="en-US" sz="1500" i="1" kern="100" spc="-2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/>
                      </a:rPr>
                      <m:t>𝜆</m:t>
                    </m:r>
                    <m:r>
                      <a:rPr lang="en-US" altLang="zh-CN" sz="1500" i="1" kern="100" spc="-2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</m:oMath>
                </a14:m>
                <a:endParaRPr lang="en-US" sz="1500" spc="-200" dirty="0">
                  <a:solidFill>
                    <a:srgbClr val="000000"/>
                  </a:solidFill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2173" y="2482738"/>
                <a:ext cx="915670" cy="321945"/>
              </a:xfrm>
              <a:prstGeom prst="rect">
                <a:avLst/>
              </a:prstGeom>
              <a:blipFill rotWithShape="1">
                <a:blip r:embed="rId5"/>
                <a:stretch>
                  <a:fillRect l="-33" t="-162" r="33" b="1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5"/>
          <p:cNvSpPr txBox="1"/>
          <p:nvPr/>
        </p:nvSpPr>
        <p:spPr>
          <a:xfrm>
            <a:off x="4606925" y="3758565"/>
            <a:ext cx="1946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Arial" panose="020B0604020202020204" pitchFamily="34" charset="0"/>
              </a:rPr>
              <a:t>由于历史原因</a:t>
            </a: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sz="18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bldLvl="0" animBg="1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常微分方程基本概念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6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/>
              <p:cNvSpPr txBox="1">
                <a:spLocks noChangeArrowheads="1"/>
              </p:cNvSpPr>
              <p:nvPr/>
            </p:nvSpPr>
            <p:spPr bwMode="auto">
              <a:xfrm>
                <a:off x="601607" y="1872796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例</a:t>
                </a:r>
                <a:r>
                  <a:rPr kumimoji="0" lang="en-US" altLang="zh-CN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8.2</a:t>
                </a:r>
                <a:r>
                  <a:rPr kumimoji="0" lang="en-US" altLang="zh-CN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: </a:t>
                </a:r>
                <a:r>
                  <a:rPr kumimoji="0" lang="en-US" altLang="zh-CN" sz="21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“</a:t>
                </a:r>
                <a:r>
                  <a:rPr kumimoji="0" lang="zh-CN" altLang="en-US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模型问题</a:t>
                </a:r>
                <a:r>
                  <a:rPr kumimoji="0" lang="en-US" altLang="zh-CN" sz="21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”</a:t>
                </a:r>
                <a:r>
                  <a:rPr kumimoji="0" lang="zh-CN" altLang="en-US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的稳定性</a:t>
                </a:r>
                <a:endParaRPr kumimoji="0" lang="en-US" altLang="zh-CN" sz="21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准确解为</a:t>
                </a:r>
                <a:r>
                  <a:rPr kumimoji="0" lang="zh-CN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：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𝑒</m:t>
                        </m:r>
                      </m:e>
                      <m:sup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𝜆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(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−</m:t>
                        </m:r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)</m:t>
                        </m:r>
                      </m:sup>
                    </m:sSup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扰动后初值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0</m:t>
                        </m:r>
                      </m:sub>
                    </m:sSub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+</m:t>
                    </m:r>
                    <m:r>
                      <a:rPr kumimoji="0" lang="zh-CN" altLang="en-US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宋体" panose="02010600030101010101" pitchFamily="2" charset="-122"/>
                    <a:cs typeface="Calibri" panose="020F0502020204030204" pitchFamily="34" charset="0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解为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acc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</m:e>
                    </m:d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</m:t>
                        </m:r>
                        <m:r>
                          <a:rPr kumimoji="0" lang="zh-CN" altLang="en-US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𝑒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𝜆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(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−</m:t>
                        </m:r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)</m:t>
                        </m:r>
                      </m:sup>
                    </m:sSup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0" lang="en-US" altLang="zh-CN" sz="1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Δ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=</m:t>
                    </m:r>
                    <m:acc>
                      <m:accPr>
                        <m:chr m:val="̂"/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acc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</m:e>
                    </m:d>
                    <m:r>
                      <a:rPr kumimoji="0" lang="en-US" altLang="zh-CN" sz="1800" b="0" i="0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−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</m:e>
                    </m:d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=</m:t>
                    </m:r>
                    <m:r>
                      <a:rPr kumimoji="0" lang="zh-CN" altLang="en-US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𝛿</m:t>
                    </m:r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𝑒</m:t>
                        </m:r>
                      </m:e>
                      <m:sup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𝜆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(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−</m:t>
                        </m:r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</a:rPr>
                              <m:t>0</m:t>
                            </m:r>
                          </m:sub>
                        </m:s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)</m:t>
                        </m:r>
                      </m:sup>
                    </m:sSup>
                  </m:oMath>
                </a14:m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Calibri" panose="020F0502020204030204" pitchFamily="34" charset="0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𝜆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≤0</m:t>
                    </m:r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原问题稳定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;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𝜆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&gt;0</m:t>
                    </m:r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原问题不稳定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1607" y="1872796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4" t="-5" r="9" b="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028281" y="1745514"/>
                <a:ext cx="1311910" cy="633730"/>
              </a:xfrm>
              <a:prstGeom prst="rect">
                <a:avLst/>
              </a:prstGeom>
              <a:ln w="12700">
                <a:noFill/>
                <a:prstDash val="dash"/>
              </a:ln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80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80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lang="en-US" altLang="zh-CN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𝜆</m:t>
                                </m:r>
                                <m:r>
                                  <a:rPr lang="en-US" altLang="zh-CN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𝑦</m:t>
                                </m:r>
                                <m:r>
                                  <a:rPr lang="en-US" altLang="zh-CN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,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1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80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8281" y="1745514"/>
                <a:ext cx="1311910" cy="633730"/>
              </a:xfrm>
              <a:prstGeom prst="rect">
                <a:avLst/>
              </a:prstGeom>
              <a:blipFill rotWithShape="1">
                <a:blip r:embed="rId3"/>
                <a:stretch>
                  <a:fillRect l="-36" t="-84" r="36" b="84"/>
                </a:stretch>
              </a:blipFill>
              <a:ln w="127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992" y="3539530"/>
            <a:ext cx="1466605" cy="1514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909" y="3681462"/>
            <a:ext cx="1862355" cy="139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9" t="14111" r="5710"/>
          <a:stretch>
            <a:fillRect/>
          </a:stretch>
        </p:blipFill>
        <p:spPr bwMode="auto">
          <a:xfrm>
            <a:off x="979501" y="3478380"/>
            <a:ext cx="1579769" cy="1601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4747859" y="2902745"/>
                <a:ext cx="1978025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稳定性</a:t>
                </a:r>
                <a:r>
                  <a:rPr lang="zh-CN" altLang="zh-CN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取决于</a:t>
                </a:r>
                <a14:m>
                  <m:oMath xmlns:m="http://schemas.openxmlformats.org/officeDocument/2006/math">
                    <m:r>
                      <a:rPr lang="en-US" altLang="zh-CN" sz="165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𝜆</m:t>
                    </m:r>
                  </m:oMath>
                </a14:m>
                <a:r>
                  <a:rPr lang="zh-CN" altLang="en-US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的值</a:t>
                </a: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7859" y="2902745"/>
                <a:ext cx="1978025" cy="344805"/>
              </a:xfrm>
              <a:prstGeom prst="rect">
                <a:avLst/>
              </a:prstGeom>
              <a:blipFill rotWithShape="1">
                <a:blip r:embed="rId7"/>
                <a:stretch>
                  <a:fillRect l="-30" t="-46" r="30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4"/>
          <p:cNvSpPr txBox="1"/>
          <p:nvPr/>
        </p:nvSpPr>
        <p:spPr>
          <a:xfrm>
            <a:off x="1681579" y="4325295"/>
            <a:ext cx="4860541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500" dirty="0">
                <a:solidFill>
                  <a:srgbClr val="EB641B">
                    <a:lumMod val="75000"/>
                  </a:srgbClr>
                </a:solidFill>
                <a:latin typeface="Lucida Sans Unicode" panose="020B0602030504020204"/>
                <a:ea typeface="黑体" panose="02010609060101010101" pitchFamily="49" charset="-122"/>
              </a:rPr>
              <a:t>不稳定                     稳定                       渐进稳定</a:t>
            </a:r>
            <a:endParaRPr lang="en-US" sz="1500" dirty="0">
              <a:solidFill>
                <a:srgbClr val="EB641B">
                  <a:lumMod val="75000"/>
                </a:srgbClr>
              </a:solidFill>
              <a:latin typeface="Lucida Sans Unicode" panose="020B0602030504020204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4776158" y="3522521"/>
                <a:ext cx="2157931" cy="334645"/>
              </a:xfrm>
              <a:prstGeom prst="rect">
                <a:avLst/>
              </a:prstGeom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ts val="1900"/>
                  </a:lnSpc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Cambria Math" panose="02040503050406030204"/>
                  </a:rPr>
                  <a:t>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150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lang="en-US" altLang="zh-CN" sz="150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lang="en-US" altLang="zh-CN" sz="15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=</m:t>
                    </m:r>
                    <m:r>
                      <a:rPr lang="en-US" altLang="zh-CN" sz="15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𝜆</m:t>
                    </m:r>
                    <m:r>
                      <a:rPr lang="en-US" altLang="zh-CN" sz="15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𝑦</m:t>
                    </m:r>
                    <m:r>
                      <a:rPr lang="en-US" altLang="zh-CN" sz="15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5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150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也适用</a:t>
                </a: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158" y="3522521"/>
                <a:ext cx="2157931" cy="334645"/>
              </a:xfrm>
              <a:prstGeom prst="rect">
                <a:avLst/>
              </a:prstGeom>
              <a:blipFill rotWithShape="1">
                <a:blip r:embed="rId8"/>
                <a:stretch>
                  <a:fillRect l="-15" t="-53" r="24" b="53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7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9144" y="1722215"/>
                <a:ext cx="7727764" cy="23533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lvl="0" indent="-457200"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100" i="1" ker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210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lang="en-US" altLang="zh-CN" sz="210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  <m:r>
                          <a:rPr lang="en-US" altLang="zh-CN" sz="2100" b="0" i="1" kern="1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lang="en-US" altLang="zh-CN" sz="210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lang="en-US" altLang="zh-CN" sz="21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/>
                      </a:rPr>
                      <m:t>2</m:t>
                    </m:r>
                    <m:r>
                      <a:rPr lang="en-US" altLang="zh-CN" sz="210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r>
                      <a:rPr lang="en-US" altLang="zh-CN" sz="21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/>
                      </a:rPr>
                      <m:t>+</m:t>
                    </m:r>
                    <m:r>
                      <a:rPr lang="en-US" altLang="zh-CN" sz="21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/>
                      </a:rPr>
                      <m:t>𝑉</m:t>
                    </m:r>
                    <m:d>
                      <m:dPr>
                        <m:ctrlPr>
                          <a:rPr lang="en-US" altLang="zh-CN" sz="2100" b="0" i="1" kern="1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/>
                          </a:rPr>
                        </m:ctrlPr>
                      </m:dPr>
                      <m:e>
                        <m:r>
                          <a:rPr lang="en-US" altLang="zh-CN" sz="2100" b="0" i="1" kern="10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写为一阶常微分方程组？其初值问题是什么？</a:t>
                </a:r>
                <a:endParaRPr lang="en-US" altLang="zh-CN" sz="2100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endParaRPr lang="en-US" altLang="zh-CN" sz="21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endParaRPr lang="en-US" altLang="zh-CN" sz="21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一个</a:t>
                </a:r>
                <a:r>
                  <a:rPr lang="en-US" altLang="zh-CN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ODE</a:t>
                </a:r>
                <a:r>
                  <a:rPr lang="zh-CN" altLang="en-US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初值问题是渐进稳定的含义是什么？</a:t>
                </a:r>
                <a:endParaRPr lang="en-US" altLang="zh-CN" sz="2100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r>
                  <a:rPr lang="zh-CN" altLang="en-US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含义是若初值有微小偏差，当</a:t>
                </a:r>
                <a:r>
                  <a:rPr lang="en-US" altLang="zh-CN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t</a:t>
                </a:r>
                <a:r>
                  <a:rPr lang="zh-CN" altLang="en-US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趋近于无穷大时，解出来的函数值的偏差趋于零</a:t>
                </a:r>
                <a:endParaRPr lang="en-US" altLang="zh-CN" sz="21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sz="2100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44" y="1722215"/>
                <a:ext cx="7727764" cy="2353310"/>
              </a:xfrm>
              <a:prstGeom prst="rect">
                <a:avLst/>
              </a:prstGeom>
              <a:blipFill rotWithShape="1">
                <a:blip r:embed="rId2"/>
                <a:stretch>
                  <a:fillRect t="-4" r="-2245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初值问题数值解法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8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/>
              <p:cNvSpPr txBox="1">
                <a:spLocks noChangeArrowheads="1"/>
              </p:cNvSpPr>
              <p:nvPr/>
            </p:nvSpPr>
            <p:spPr bwMode="auto">
              <a:xfrm>
                <a:off x="768584" y="2006204"/>
                <a:ext cx="6781179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大多数情况下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(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尤其是方程组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),                          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无解析解</a:t>
                </a: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数值解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法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得到一系列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离散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自变量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点上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的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解函数近似值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也称为“</a:t>
                </a:r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rPr>
                  <a:t>离散变量法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rPr>
                  <a:t>”</a:t>
                </a:r>
                <a:endPara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“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步进式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”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的计算过程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相邻自变量点的间距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+1</m:t>
                        </m:r>
                      </m:sub>
                    </m:sSub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−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,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称为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步长</a:t>
                </a:r>
                <a:r>
                  <a:rPr lang="en-US" altLang="zh-CN" sz="1800" b="1" kern="100" dirty="0">
                    <a:solidFill>
                      <a:srgbClr val="C00000"/>
                    </a:solidFill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(</a:t>
                </a:r>
                <a:r>
                  <a:rPr lang="zh-CN" altLang="en-US" sz="1800" b="1" kern="100" dirty="0">
                    <a:solidFill>
                      <a:srgbClr val="C00000"/>
                    </a:solidFill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可取很定的</a:t>
                </a:r>
                <a:r>
                  <a:rPr lang="en-US" altLang="zh-CN" sz="1800" b="1" i="1" kern="100" dirty="0">
                    <a:solidFill>
                      <a:srgbClr val="C00000"/>
                    </a:solidFill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h</a:t>
                </a:r>
                <a:r>
                  <a:rPr lang="en-US" altLang="zh-CN" sz="1800" b="1" kern="100" dirty="0">
                    <a:solidFill>
                      <a:srgbClr val="C00000"/>
                    </a:solidFill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)</a:t>
                </a: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利用近似解满足的方程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𝐺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(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, 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,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−1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,…,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−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𝑘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)</m:t>
                    </m:r>
                  </m:oMath>
                </a14:m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9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𝑘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=0</m:t>
                    </m:r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为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rPr>
                  <a:t>单步法</a:t>
                </a:r>
                <a:endParaRPr kumimoji="0" lang="en-US" altLang="zh-CN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若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函数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𝐺</m:t>
                    </m:r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无关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为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rPr>
                  <a:t>显格式方法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5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        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若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𝐺</m:t>
                    </m:r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有关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为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rPr>
                  <a:t>隐格式方法</a:t>
                </a: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1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584" y="2006204"/>
                <a:ext cx="6781179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4" b="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4168983" y="1749037"/>
                <a:ext cx="1456055" cy="591185"/>
              </a:xfrm>
              <a:prstGeom prst="rect">
                <a:avLst/>
              </a:prstGeom>
              <a:ln w="12700">
                <a:noFill/>
                <a:prstDash val="dash"/>
              </a:ln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en-US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=</m:t>
                                </m:r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, </m:t>
                                    </m:r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</m:d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,</m:t>
                                </m:r>
                                <m:r>
                                  <a:rPr lang="en-US" altLang="zh-CN" sz="165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altLang="zh-CN" sz="165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65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altLang="zh-CN" sz="165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983" y="1749037"/>
                <a:ext cx="1456055" cy="591185"/>
              </a:xfrm>
              <a:prstGeom prst="rect">
                <a:avLst/>
              </a:prstGeom>
              <a:blipFill rotWithShape="1">
                <a:blip r:embed="rId3"/>
                <a:stretch>
                  <a:fillRect l="-14" t="-42" r="14" b="42"/>
                </a:stretch>
              </a:blipFill>
              <a:ln w="127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126014" y="2923136"/>
                <a:ext cx="2830195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&lt;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&lt;…&lt;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&lt;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&lt;…</m:t>
                      </m:r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014" y="2923136"/>
                <a:ext cx="2830195" cy="344805"/>
              </a:xfrm>
              <a:prstGeom prst="rect">
                <a:avLst/>
              </a:prstGeom>
              <a:blipFill rotWithShape="1">
                <a:blip r:embed="rId4"/>
                <a:stretch>
                  <a:fillRect l="-19" t="-67" r="19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3037675" y="3215723"/>
                <a:ext cx="2968625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0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1650" i="1" smtClean="0">
                          <a:solidFill>
                            <a:srgbClr val="FFFFFF"/>
                          </a:solidFill>
                          <a:latin typeface="Cambria Math" panose="02040503050406030204"/>
                        </a:rPr>
                        <m:t>&lt;</m:t>
                      </m:r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1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1650" i="1" smtClean="0">
                          <a:solidFill>
                            <a:srgbClr val="FFFFFF"/>
                          </a:solidFill>
                          <a:latin typeface="Cambria Math" panose="02040503050406030204"/>
                        </a:rPr>
                        <m:t>&lt;</m:t>
                      </m:r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⋯</m:t>
                      </m:r>
                      <m:r>
                        <a:rPr lang="en-US" altLang="zh-CN" sz="1650" i="1" smtClean="0">
                          <a:solidFill>
                            <a:srgbClr val="FFFFFF"/>
                          </a:solidFill>
                          <a:latin typeface="Cambria Math" panose="02040503050406030204"/>
                        </a:rPr>
                        <m:t>&lt;</m:t>
                      </m:r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,</m:t>
                      </m:r>
                      <m:r>
                        <a:rPr lang="en-US" altLang="zh-CN" sz="1650" i="1" smtClean="0">
                          <a:solidFill>
                            <a:srgbClr val="FFFFFF"/>
                          </a:solidFill>
                          <a:latin typeface="Cambria Math" panose="02040503050406030204"/>
                        </a:rPr>
                        <m:t>&lt;</m:t>
                      </m:r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650" i="1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, ⋯</m:t>
                      </m:r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675" y="3215723"/>
                <a:ext cx="2968625" cy="344805"/>
              </a:xfrm>
              <a:prstGeom prst="rect">
                <a:avLst/>
              </a:prstGeom>
              <a:blipFill rotWithShape="1">
                <a:blip r:embed="rId5"/>
                <a:stretch>
                  <a:fillRect l="-16" t="-24" r="16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/>
          <p:cNvSpPr/>
          <p:nvPr/>
        </p:nvSpPr>
        <p:spPr>
          <a:xfrm>
            <a:off x="2837823" y="4197449"/>
            <a:ext cx="168910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</a:rPr>
              <a:t>,</a:t>
            </a:r>
            <a:r>
              <a:rPr lang="en-US" altLang="zh-CN" sz="1800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1800" b="1" kern="100" dirty="0">
                <a:solidFill>
                  <a:srgbClr val="000000"/>
                </a:solidFill>
                <a:cs typeface="Times New Roman" panose="02020603050405020304"/>
              </a:rPr>
              <a:t>否则为</a:t>
            </a:r>
            <a:r>
              <a:rPr lang="zh-CN" altLang="en-US" sz="1800" b="1" kern="100" dirty="0">
                <a:solidFill>
                  <a:srgbClr val="00007D">
                    <a:lumMod val="60000"/>
                    <a:lumOff val="40000"/>
                  </a:srgb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多步法</a:t>
            </a:r>
            <a:endParaRPr lang="en-US" altLang="zh-CN" sz="1800" b="1" kern="100" dirty="0">
              <a:solidFill>
                <a:srgbClr val="00007D">
                  <a:lumMod val="60000"/>
                  <a:lumOff val="4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534264" y="4515423"/>
            <a:ext cx="1851239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altLang="zh-CN" sz="1800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zh-CN" altLang="en-US" sz="1800" b="1" kern="100" dirty="0">
                <a:solidFill>
                  <a:srgbClr val="000000"/>
                </a:solidFill>
                <a:cs typeface="Times New Roman" panose="02020603050405020304"/>
              </a:rPr>
              <a:t>计算较简单</a:t>
            </a:r>
            <a:endParaRPr lang="zh-CN" altLang="en-US" sz="1800" b="1" kern="100" dirty="0">
              <a:solidFill>
                <a:srgbClr val="00007D">
                  <a:lumMod val="60000"/>
                  <a:lumOff val="40000"/>
                </a:srgb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/>
            </a:endParaRPr>
          </a:p>
        </p:txBody>
      </p:sp>
      <p:cxnSp>
        <p:nvCxnSpPr>
          <p:cNvPr id="26" name="直接连接符 25"/>
          <p:cNvCxnSpPr/>
          <p:nvPr/>
        </p:nvCxnSpPr>
        <p:spPr bwMode="auto">
          <a:xfrm flipH="1" flipV="1">
            <a:off x="5352944" y="3994684"/>
            <a:ext cx="1242138" cy="135015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007D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直接连接符 26"/>
          <p:cNvCxnSpPr/>
          <p:nvPr/>
        </p:nvCxnSpPr>
        <p:spPr bwMode="auto">
          <a:xfrm flipH="1" flipV="1">
            <a:off x="4440844" y="3977819"/>
            <a:ext cx="460337" cy="148098"/>
          </a:xfrm>
          <a:prstGeom prst="line">
            <a:avLst/>
          </a:prstGeom>
          <a:solidFill>
            <a:srgbClr val="9999FF"/>
          </a:solidFill>
          <a:ln w="57150" cap="flat" cmpd="sng" algn="ctr">
            <a:solidFill>
              <a:srgbClr val="00007D">
                <a:lumMod val="60000"/>
                <a:lumOff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矩形 27"/>
          <p:cNvSpPr/>
          <p:nvPr/>
        </p:nvSpPr>
        <p:spPr>
          <a:xfrm>
            <a:off x="5056268" y="4137533"/>
            <a:ext cx="202184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zh-CN" altLang="en-US" sz="1800" b="1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/>
              </a:rPr>
              <a:t>得到递推计算公式</a:t>
            </a:r>
            <a:endParaRPr lang="en-US" altLang="zh-CN" sz="1800" b="1" kern="1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7271468" y="2923136"/>
                <a:ext cx="1243882" cy="119888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/>
                          </a:rPr>
                          <m:t>𝒚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zh-CN" alt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与</a:t>
                </a:r>
                <a:r>
                  <a:rPr lang="en-US" altLang="zh-CN" b="1" dirty="0">
                    <a:solidFill>
                      <a:srgbClr val="0000CC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b="1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0000CC"/>
                            </a:solidFill>
                            <a:latin typeface="Cambria Math" panose="02040503050406030204"/>
                          </a:rPr>
                          <m:t>𝒕</m:t>
                        </m:r>
                      </m:e>
                      <m:sub>
                        <m:r>
                          <a:rPr lang="en-US" altLang="zh-CN" b="1" i="1">
                            <a:solidFill>
                              <a:srgbClr val="0000CC"/>
                            </a:solidFill>
                            <a:latin typeface="Cambria Math" panose="02040503050406030204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b="1" dirty="0">
                    <a:solidFill>
                      <a:srgbClr val="0000CC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)</a:t>
                </a:r>
                <a:r>
                  <a:rPr lang="zh-CN" altLang="en-US" b="1" dirty="0">
                    <a:solidFill>
                      <a:schemeClr val="tx1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的区别？</a:t>
                </a: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1468" y="2923136"/>
                <a:ext cx="1243882" cy="1198880"/>
              </a:xfrm>
              <a:prstGeom prst="rect">
                <a:avLst/>
              </a:prstGeom>
              <a:blipFill rotWithShape="1">
                <a:blip r:embed="rId6"/>
                <a:stretch>
                  <a:fillRect l="-3121" t="-1555" r="-8474" b="-4854"/>
                </a:stretch>
              </a:blipFill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25" grpId="0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欧拉法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9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3"/>
              <p:cNvSpPr txBox="1">
                <a:spLocks noChangeArrowheads="1"/>
              </p:cNvSpPr>
              <p:nvPr/>
            </p:nvSpPr>
            <p:spPr bwMode="auto">
              <a:xfrm>
                <a:off x="719681" y="2082575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是显式单步法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: 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+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h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𝑓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, </m:t>
                        </m:r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 ,   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𝑛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=0, 1, 2, ⋯</m:t>
                    </m:r>
                  </m:oMath>
                </a14:m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推导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1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数值微分的向前差分公式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ts val="24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推导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2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数值积分</a:t>
                </a: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例</a:t>
                </a: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1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9681" y="2082575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4" t="-11" r="8" b="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/>
          <p:cNvSpPr/>
          <p:nvPr/>
        </p:nvSpPr>
        <p:spPr>
          <a:xfrm>
            <a:off x="5362428" y="3127423"/>
            <a:ext cx="1797050" cy="3340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Aft>
                <a:spcPct val="0"/>
              </a:spcAft>
            </a:pPr>
            <a:r>
              <a:rPr lang="en-US" altLang="zh-CN" sz="1575" b="1" kern="10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/>
                <a:ea typeface="楷体" panose="02010609060101010101" pitchFamily="49" charset="-122"/>
                <a:cs typeface="Times New Roman" panose="02020603050405020304"/>
              </a:rPr>
              <a:t>“</a:t>
            </a:r>
            <a:r>
              <a:rPr lang="zh-CN" altLang="en-US" sz="1575" b="1" kern="10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/>
                <a:ea typeface="楷体" panose="02010609060101010101" pitchFamily="49" charset="-122"/>
                <a:cs typeface="Times New Roman" panose="02020603050405020304"/>
              </a:rPr>
              <a:t>左矩形</a:t>
            </a:r>
            <a:r>
              <a:rPr lang="en-US" altLang="zh-CN" sz="1575" b="1" kern="10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/>
                <a:ea typeface="楷体" panose="02010609060101010101" pitchFamily="49" charset="-122"/>
                <a:cs typeface="Times New Roman" panose="02020603050405020304"/>
              </a:rPr>
              <a:t>”</a:t>
            </a:r>
            <a:r>
              <a:rPr lang="zh-CN" altLang="en-US" sz="1575" b="1" kern="10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/>
                <a:ea typeface="楷体" panose="02010609060101010101" pitchFamily="49" charset="-122"/>
                <a:cs typeface="Times New Roman" panose="02020603050405020304"/>
              </a:rPr>
              <a:t>求积公式</a:t>
            </a:r>
            <a:endParaRPr lang="en-US" altLang="zh-CN" sz="1575" b="1" kern="100">
              <a:solidFill>
                <a:srgbClr val="00007D">
                  <a:lumMod val="60000"/>
                  <a:lumOff val="40000"/>
                </a:srgbClr>
              </a:solidFill>
              <a:latin typeface="Arial" panose="020B0604020202020204"/>
              <a:ea typeface="楷体" panose="02010609060101010101" pitchFamily="49" charset="-122"/>
              <a:cs typeface="Times New Roman" panose="020206030504050203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5472060" y="2399650"/>
                <a:ext cx="1497292" cy="5473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Aft>
                    <a:spcPct val="0"/>
                  </a:spcAft>
                </a:pPr>
                <a:r>
                  <a:rPr lang="zh-CN" altLang="en-US" sz="1650" b="1" kern="100" dirty="0">
                    <a:solidFill>
                      <a:srgbClr val="00007D">
                        <a:lumMod val="60000"/>
                        <a:lumOff val="40000"/>
                      </a:srgbClr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rPr>
                  <a:t>换成函数近似值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 kern="0" smtClean="0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1650" i="1" kern="100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1650" i="1" kern="100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1650" i="1" kern="100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lang="en-US" altLang="zh-CN" sz="1650" i="1" kern="100" smtClean="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  <a:cs typeface="Times New Roman" panose="02020603050405020304"/>
                      </a:rPr>
                      <m:t>,</m:t>
                    </m:r>
                    <m:sSub>
                      <m:sSubPr>
                        <m:ctrlPr>
                          <a:rPr lang="zh-CN" altLang="zh-CN" sz="1650" i="1" kern="0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1650" i="1" kern="100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1650" i="1" kern="100">
                            <a:solidFill>
                              <a:srgbClr val="00007D">
                                <a:lumMod val="60000"/>
                                <a:lumOff val="40000"/>
                              </a:srgbClr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endParaRPr lang="zh-CN" altLang="en-US" sz="1650" b="1" kern="100" dirty="0">
                  <a:solidFill>
                    <a:srgbClr val="00007D">
                      <a:lumMod val="60000"/>
                      <a:lumOff val="40000"/>
                    </a:srgb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2060" y="2399650"/>
                <a:ext cx="1497292" cy="547370"/>
              </a:xfrm>
              <a:prstGeom prst="rect">
                <a:avLst/>
              </a:prstGeom>
              <a:blipFill rotWithShape="1">
                <a:blip r:embed="rId3"/>
                <a:stretch>
                  <a:fillRect l="-18" t="-113" r="15" b="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3584843" y="1819435"/>
                <a:ext cx="1671955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  <a:ea typeface="Cambria Math" panose="02040503050406030204"/>
                  </a:rPr>
                  <a:t>求解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lang="en-US" altLang="zh-CN" sz="165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=</m:t>
                    </m:r>
                    <m:r>
                      <a:rPr lang="en-US" altLang="zh-CN" sz="165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𝑓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𝑡</m:t>
                        </m:r>
                        <m:r>
                          <a:rPr lang="en-US" altLang="zh-CN" sz="165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, </m:t>
                        </m:r>
                        <m:r>
                          <a:rPr lang="en-US" altLang="zh-CN" sz="165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𝑦</m:t>
                        </m:r>
                      </m:e>
                    </m:d>
                  </m:oMath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4843" y="1819435"/>
                <a:ext cx="1671955" cy="344805"/>
              </a:xfrm>
              <a:prstGeom prst="rect">
                <a:avLst/>
              </a:prstGeom>
              <a:blipFill rotWithShape="1">
                <a:blip r:embed="rId4"/>
                <a:stretch>
                  <a:fillRect l="-16" t="-46" r="16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1640103" y="2677088"/>
                <a:ext cx="3785235" cy="62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𝑓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≈</m:t>
                      </m:r>
                      <m:f>
                        <m:f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𝑛</m:t>
                                  </m:r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−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103" y="2677088"/>
                <a:ext cx="3785235" cy="621665"/>
              </a:xfrm>
              <a:prstGeom prst="rect">
                <a:avLst/>
              </a:prstGeom>
              <a:blipFill rotWithShape="1">
                <a:blip r:embed="rId5"/>
                <a:stretch>
                  <a:fillRect l="-14" t="-91" r="14" b="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接箭头连接符 22"/>
          <p:cNvCxnSpPr/>
          <p:nvPr/>
        </p:nvCxnSpPr>
        <p:spPr bwMode="auto">
          <a:xfrm flipV="1">
            <a:off x="4579676" y="2623082"/>
            <a:ext cx="997388" cy="108012"/>
          </a:xfrm>
          <a:prstGeom prst="straightConnector1">
            <a:avLst/>
          </a:prstGeom>
          <a:solidFill>
            <a:srgbClr val="9999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直接箭头连接符 23"/>
          <p:cNvCxnSpPr/>
          <p:nvPr/>
        </p:nvCxnSpPr>
        <p:spPr bwMode="auto">
          <a:xfrm flipV="1">
            <a:off x="5310042" y="2677088"/>
            <a:ext cx="267022" cy="162018"/>
          </a:xfrm>
          <a:prstGeom prst="straightConnector1">
            <a:avLst/>
          </a:prstGeom>
          <a:solidFill>
            <a:srgbClr val="9999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/>
              <p:cNvSpPr/>
              <p:nvPr/>
            </p:nvSpPr>
            <p:spPr>
              <a:xfrm>
                <a:off x="1068633" y="3501580"/>
                <a:ext cx="3516757" cy="458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+</m:t>
                    </m:r>
                    <m:nary>
                      <m:naryPr>
                        <m:limLoc m:val="subSup"/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</m:sup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𝑓</m:t>
                        </m:r>
                        <m:d>
                          <m:d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𝑠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, 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zh-CN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𝑑𝑠</m:t>
                        </m:r>
                      </m:e>
                    </m:nary>
                  </m:oMath>
                </a14:m>
                <a:r>
                  <a:rPr lang="zh-CN" altLang="en-US" sz="165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9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633" y="3501580"/>
                <a:ext cx="3516757" cy="458470"/>
              </a:xfrm>
              <a:prstGeom prst="rect">
                <a:avLst/>
              </a:prstGeom>
              <a:blipFill rotWithShape="1">
                <a:blip r:embed="rId6"/>
                <a:stretch>
                  <a:fillRect l="-16" t="-41" r="2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矩形 29"/>
              <p:cNvSpPr/>
              <p:nvPr/>
            </p:nvSpPr>
            <p:spPr>
              <a:xfrm>
                <a:off x="4733557" y="3461257"/>
                <a:ext cx="1504950" cy="374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h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𝑓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矩形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557" y="3461257"/>
                <a:ext cx="1504950" cy="374650"/>
              </a:xfrm>
              <a:prstGeom prst="rect">
                <a:avLst/>
              </a:prstGeom>
              <a:blipFill rotWithShape="1">
                <a:blip r:embed="rId7"/>
                <a:stretch>
                  <a:fillRect l="-18" t="-135" r="18" b="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圆角矩形 30"/>
          <p:cNvSpPr/>
          <p:nvPr/>
        </p:nvSpPr>
        <p:spPr>
          <a:xfrm>
            <a:off x="2778905" y="3522960"/>
            <a:ext cx="1667042" cy="387408"/>
          </a:xfrm>
          <a:prstGeom prst="roundRect">
            <a:avLst/>
          </a:prstGeom>
          <a:ln w="22225">
            <a:solidFill>
              <a:srgbClr val="00007D">
                <a:lumMod val="60000"/>
                <a:lumOff val="40000"/>
              </a:srgbClr>
            </a:solidFill>
            <a:prstDash val="dash"/>
          </a:ln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表格 31"/>
              <p:cNvGraphicFramePr>
                <a:graphicFrameLocks noGrp="1"/>
              </p:cNvGraphicFramePr>
              <p:nvPr/>
            </p:nvGraphicFramePr>
            <p:xfrm>
              <a:off x="2411649" y="4133943"/>
              <a:ext cx="4752340" cy="1750695"/>
            </p:xfrm>
            <a:graphic>
              <a:graphicData uri="http://schemas.openxmlformats.org/drawingml/2006/table">
                <a:tbl>
                  <a:tblPr/>
                  <a:tblGrid>
                    <a:gridCol w="3606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2740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423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857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6423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48641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6360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228600">
                    <a:tc gridSpan="3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h=0.1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gridSpan="4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h=0.05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2860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>
                                    <a:effectLst/>
                                    <a:latin typeface="Cambria Math" panose="020405030504060302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sz="15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kern="100">
                                            <a:effectLst/>
                                            <a:latin typeface="Cambria Math" panose="02040503050406030204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500" kern="100">
                                            <a:effectLst/>
                                            <a:latin typeface="Cambria Math" panose="02040503050406030204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844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1.000000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1.004837</a:t>
                          </a:r>
                          <a:endParaRPr lang="zh-CN" sz="1500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1.000000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0.3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1.035092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590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0.2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1.010000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1.018731</a:t>
                          </a:r>
                          <a:endParaRPr lang="zh-CN" sz="1500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1.002500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0.35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1.048337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5844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0.3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1.029000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1.040818</a:t>
                          </a:r>
                          <a:endParaRPr lang="zh-CN" sz="1500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1.007375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0.4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1.063420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590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0.4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1.056100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1.070320</a:t>
                          </a:r>
                          <a:endParaRPr lang="zh-CN" sz="1500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0.2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1.014506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0.45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1.080249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5844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b="1" kern="100">
                              <a:effectLst/>
                            </a:rPr>
                            <a:t>1.090490</a:t>
                          </a:r>
                          <a:endParaRPr lang="zh-CN" sz="1500" b="1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b="1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1.106531</a:t>
                          </a:r>
                          <a:endParaRPr lang="zh-CN" sz="1500" b="1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1.023781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b="1" u="sng" kern="100" dirty="0">
                              <a:effectLst/>
                            </a:rPr>
                            <a:t>1.098737</a:t>
                          </a:r>
                          <a:endParaRPr lang="zh-CN" sz="1500" b="1" u="sng" kern="100" dirty="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表格 31"/>
              <p:cNvGraphicFramePr>
                <a:graphicFrameLocks noGrp="1"/>
              </p:cNvGraphicFramePr>
              <p:nvPr/>
            </p:nvGraphicFramePr>
            <p:xfrm>
              <a:off x="2411649" y="4133943"/>
              <a:ext cx="4752340" cy="1750695"/>
            </p:xfrm>
            <a:graphic>
              <a:graphicData uri="http://schemas.openxmlformats.org/drawingml/2006/table">
                <a:tbl>
                  <a:tblPr/>
                  <a:tblGrid>
                    <a:gridCol w="360680"/>
                    <a:gridCol w="827405"/>
                    <a:gridCol w="864235"/>
                    <a:gridCol w="485775"/>
                    <a:gridCol w="864235"/>
                    <a:gridCol w="486410"/>
                    <a:gridCol w="863600"/>
                  </a:tblGrid>
                  <a:tr h="228600">
                    <a:tc gridSpan="3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h=0.1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 gridSpan="4"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h=0.05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 hMerge="1">
                      <a:tcPr/>
                    </a:tc>
                    <a:tc hMerge="1">
                      <a:tcPr/>
                    </a:tc>
                    <a:tc hMerge="1">
                      <a:tcPr/>
                    </a:tc>
                  </a:tr>
                  <a:tr h="228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</a:blipFill>
                      </a:tcPr>
                    </a:tc>
                  </a:tr>
                  <a:tr h="25844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1.000000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1.004837</a:t>
                          </a:r>
                          <a:endParaRPr lang="zh-CN" sz="1500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1.000000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0.3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1.035092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590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0.2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1.010000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1.018731</a:t>
                          </a:r>
                          <a:endParaRPr lang="zh-CN" sz="1500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1.002500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0.35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1.048337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5844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0.3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1.029000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1.040818</a:t>
                          </a:r>
                          <a:endParaRPr lang="zh-CN" sz="1500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1.007375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0.4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1.063420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590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0.4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1.056100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1.070320</a:t>
                          </a:r>
                          <a:endParaRPr lang="zh-CN" sz="1500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0.2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1.014506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0.45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1.080249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58445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b="1" kern="100">
                              <a:effectLst/>
                            </a:rPr>
                            <a:t>1.090490</a:t>
                          </a:r>
                          <a:endParaRPr lang="zh-CN" sz="1500" b="1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b="1" kern="100" dirty="0">
                              <a:solidFill>
                                <a:srgbClr val="FF0000"/>
                              </a:solidFill>
                              <a:effectLst/>
                            </a:rPr>
                            <a:t>1.106531</a:t>
                          </a:r>
                          <a:endParaRPr lang="zh-CN" sz="1500" b="1" kern="100" dirty="0">
                            <a:solidFill>
                              <a:srgbClr val="FF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1.023781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b="1" u="sng" kern="100" dirty="0">
                              <a:effectLst/>
                            </a:rPr>
                            <a:t>1.098737</a:t>
                          </a:r>
                          <a:endParaRPr lang="zh-CN" sz="1500" b="1" u="sng" kern="100" dirty="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755750" y="4221565"/>
                <a:ext cx="1555115" cy="5892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=</m:t>
                                </m:r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𝑡</m:t>
                                </m:r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−</m:t>
                                </m:r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𝑦</m:t>
                                </m:r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+1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50" y="4221565"/>
                <a:ext cx="1555115" cy="589280"/>
              </a:xfrm>
              <a:prstGeom prst="rect">
                <a:avLst/>
              </a:prstGeom>
              <a:blipFill rotWithShape="1">
                <a:blip r:embed="rId9"/>
                <a:stretch>
                  <a:fillRect l="-6" t="-14" r="6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457097" y="4869338"/>
            <a:ext cx="1872615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1650" b="1" dirty="0">
                <a:solidFill>
                  <a:srgbClr val="000000"/>
                </a:solidFill>
                <a:latin typeface="Arial" panose="020B0604020202020204" pitchFamily="34" charset="0"/>
              </a:rPr>
              <a:t>步长</a:t>
            </a:r>
            <a:r>
              <a:rPr lang="en-US" altLang="zh-CN" sz="1650" dirty="0">
                <a:solidFill>
                  <a:srgbClr val="000000"/>
                </a:solidFill>
                <a:latin typeface="Arial" panose="020B0604020202020204" pitchFamily="34" charset="0"/>
              </a:rPr>
              <a:t>h=0.1, </a:t>
            </a:r>
            <a:r>
              <a:rPr lang="zh-CN" altLang="en-US" sz="1650" b="1" dirty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1650" dirty="0">
                <a:solidFill>
                  <a:srgbClr val="000000"/>
                </a:solidFill>
                <a:latin typeface="Arial" panose="020B0604020202020204" pitchFamily="34" charset="0"/>
              </a:rPr>
              <a:t>0.05</a:t>
            </a:r>
            <a:endParaRPr lang="zh-CN" altLang="en-US" sz="165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83475" y="5229500"/>
            <a:ext cx="1447800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1650" b="1" dirty="0">
                <a:solidFill>
                  <a:srgbClr val="000000"/>
                </a:solidFill>
                <a:latin typeface="Arial" panose="020B0604020202020204" pitchFamily="34" charset="0"/>
              </a:rPr>
              <a:t>步长</a:t>
            </a:r>
            <a:r>
              <a:rPr lang="zh-CN" altLang="en-US" sz="1650" b="1" dirty="0">
                <a:solidFill>
                  <a:srgbClr val="000000"/>
                </a:solidFill>
                <a:latin typeface="Arial" panose="020B0604020202020204" pitchFamily="34" charset="0"/>
              </a:rPr>
              <a:t>小的更准</a:t>
            </a:r>
            <a:endParaRPr lang="zh-CN" altLang="en-US" sz="165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/>
              <p:cNvSpPr txBox="1"/>
              <p:nvPr/>
            </p:nvSpPr>
            <p:spPr>
              <a:xfrm>
                <a:off x="2987679" y="5877449"/>
                <a:ext cx="3670743" cy="322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500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准确解</a:t>
                </a:r>
                <a14:m>
                  <m:oMath xmlns:m="http://schemas.openxmlformats.org/officeDocument/2006/math">
                    <m:r>
                      <a:rPr lang="en-US" altLang="zh-CN" sz="15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𝑦</m:t>
                    </m:r>
                    <m:d>
                      <m:dPr>
                        <m:ctrlPr>
                          <a:rPr lang="en-US" altLang="zh-CN" sz="15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5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𝑡</m:t>
                        </m:r>
                      </m:e>
                    </m:d>
                    <m:r>
                      <a:rPr lang="en-US" altLang="zh-CN" sz="15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=</m:t>
                    </m:r>
                    <m:r>
                      <a:rPr lang="en-US" altLang="zh-CN" sz="15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𝑡</m:t>
                    </m:r>
                    <m:r>
                      <a:rPr lang="en-US" altLang="zh-CN" sz="15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+</m:t>
                    </m:r>
                    <m:sSup>
                      <m:sSupPr>
                        <m:ctrlPr>
                          <a:rPr lang="en-US" altLang="zh-CN" sz="15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5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5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−</m:t>
                        </m:r>
                        <m:r>
                          <a:rPr lang="en-US" altLang="zh-CN" sz="15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zh-CN" altLang="en-US" sz="1500" dirty="0">
                    <a:solidFill>
                      <a:srgbClr val="0000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sz="1500" dirty="0">
                    <a:solidFill>
                      <a:srgbClr val="0000FF"/>
                    </a:solidFill>
                    <a:latin typeface="Arial" panose="020B0604020202020204" pitchFamily="34" charset="0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5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𝑦</m:t>
                    </m:r>
                    <m:d>
                      <m:dPr>
                        <m:ctrlPr>
                          <a:rPr lang="en-US" altLang="zh-CN" sz="15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5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0.5</m:t>
                        </m:r>
                      </m:e>
                    </m:d>
                    <m:r>
                      <a:rPr lang="en-US" altLang="zh-CN" sz="15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≈1.1065</m:t>
                    </m:r>
                  </m:oMath>
                </a14:m>
                <a:endParaRPr lang="zh-CN" altLang="en-US" sz="15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79" y="5877449"/>
                <a:ext cx="3670743" cy="322580"/>
              </a:xfrm>
              <a:prstGeom prst="rect">
                <a:avLst/>
              </a:prstGeom>
              <a:blipFill rotWithShape="1">
                <a:blip r:embed="rId10"/>
                <a:stretch>
                  <a:fillRect t="-162" r="12" b="1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连接符 37"/>
          <p:cNvCxnSpPr/>
          <p:nvPr/>
        </p:nvCxnSpPr>
        <p:spPr bwMode="auto">
          <a:xfrm>
            <a:off x="1305588" y="2385059"/>
            <a:ext cx="412698" cy="0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9" name="直接连接符 38"/>
          <p:cNvCxnSpPr/>
          <p:nvPr/>
        </p:nvCxnSpPr>
        <p:spPr bwMode="auto">
          <a:xfrm>
            <a:off x="1764996" y="2385059"/>
            <a:ext cx="412698" cy="0"/>
          </a:xfrm>
          <a:prstGeom prst="line">
            <a:avLst/>
          </a:prstGeom>
          <a:solidFill>
            <a:srgbClr val="9999FF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" name="组合 2"/>
          <p:cNvGrpSpPr/>
          <p:nvPr/>
        </p:nvGrpSpPr>
        <p:grpSpPr>
          <a:xfrm>
            <a:off x="7011929" y="1808856"/>
            <a:ext cx="1760615" cy="1221353"/>
            <a:chOff x="6822157" y="396050"/>
            <a:chExt cx="2347486" cy="1628471"/>
          </a:xfrm>
        </p:grpSpPr>
        <p:sp>
          <p:nvSpPr>
            <p:cNvPr id="40" name="任意多边形 39"/>
            <p:cNvSpPr/>
            <p:nvPr/>
          </p:nvSpPr>
          <p:spPr>
            <a:xfrm>
              <a:off x="7366638" y="712855"/>
              <a:ext cx="1536970" cy="787940"/>
            </a:xfrm>
            <a:custGeom>
              <a:avLst/>
              <a:gdLst>
                <a:gd name="connsiteX0" fmla="*/ 0 w 1536970"/>
                <a:gd name="connsiteY0" fmla="*/ 0 h 787940"/>
                <a:gd name="connsiteX1" fmla="*/ 535021 w 1536970"/>
                <a:gd name="connsiteY1" fmla="*/ 612842 h 787940"/>
                <a:gd name="connsiteX2" fmla="*/ 1536970 w 1536970"/>
                <a:gd name="connsiteY2" fmla="*/ 787940 h 78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6970" h="787940">
                  <a:moveTo>
                    <a:pt x="0" y="0"/>
                  </a:moveTo>
                  <a:cubicBezTo>
                    <a:pt x="139429" y="240759"/>
                    <a:pt x="278859" y="481519"/>
                    <a:pt x="535021" y="612842"/>
                  </a:cubicBezTo>
                  <a:cubicBezTo>
                    <a:pt x="791183" y="744165"/>
                    <a:pt x="1164076" y="766052"/>
                    <a:pt x="1536970" y="787940"/>
                  </a:cubicBezTo>
                </a:path>
              </a:pathLst>
            </a:custGeom>
            <a:noFill/>
            <a:ln>
              <a:solidFill>
                <a:srgbClr val="0000FF"/>
              </a:solidFill>
            </a:ln>
          </p:spPr>
          <p:txBody>
            <a:bodyPr rtlCol="0" anchor="ctr"/>
            <a:lstStyle/>
            <a:p>
              <a:pPr algn="ctr" fontAlgn="base">
                <a:spcBef>
                  <a:spcPct val="5000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 bwMode="auto">
            <a:xfrm>
              <a:off x="7009643" y="1635111"/>
              <a:ext cx="2160000" cy="0"/>
            </a:xfrm>
            <a:prstGeom prst="straightConnector1">
              <a:avLst/>
            </a:prstGeom>
            <a:solidFill>
              <a:srgbClr val="9999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2" name="直接箭头连接符 41"/>
            <p:cNvCxnSpPr/>
            <p:nvPr/>
          </p:nvCxnSpPr>
          <p:spPr bwMode="auto">
            <a:xfrm flipV="1">
              <a:off x="7297676" y="482770"/>
              <a:ext cx="0" cy="1459410"/>
            </a:xfrm>
            <a:prstGeom prst="straightConnector1">
              <a:avLst/>
            </a:prstGeom>
            <a:solidFill>
              <a:srgbClr val="9999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3" name="直接连接符 42"/>
            <p:cNvCxnSpPr/>
            <p:nvPr/>
          </p:nvCxnSpPr>
          <p:spPr bwMode="auto">
            <a:xfrm>
              <a:off x="7532915" y="960626"/>
              <a:ext cx="0" cy="684000"/>
            </a:xfrm>
            <a:prstGeom prst="line">
              <a:avLst/>
            </a:prstGeom>
            <a:solidFill>
              <a:srgbClr val="9999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oval" w="med" len="med"/>
              <a:tailEnd type="none" w="med" len="med"/>
            </a:ln>
            <a:effectLst/>
          </p:spPr>
        </p:cxnSp>
        <p:cxnSp>
          <p:nvCxnSpPr>
            <p:cNvPr id="44" name="直接连接符 43"/>
            <p:cNvCxnSpPr/>
            <p:nvPr/>
          </p:nvCxnSpPr>
          <p:spPr bwMode="auto">
            <a:xfrm>
              <a:off x="7523187" y="960626"/>
              <a:ext cx="135919" cy="242224"/>
            </a:xfrm>
            <a:prstGeom prst="line">
              <a:avLst/>
            </a:prstGeom>
            <a:solidFill>
              <a:srgbClr val="9999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矩形 44"/>
                <p:cNvSpPr/>
                <p:nvPr/>
              </p:nvSpPr>
              <p:spPr>
                <a:xfrm>
                  <a:off x="7412137" y="1571554"/>
                  <a:ext cx="413599" cy="45296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lnSpc>
                      <a:spcPct val="90000"/>
                    </a:lnSpc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8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800" i="1" kern="1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80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800" b="1" kern="1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endParaRPr>
                </a:p>
              </p:txBody>
            </p:sp>
          </mc:Choice>
          <mc:Fallback xmlns="">
            <p:sp>
              <p:nvSpPr>
                <p:cNvPr id="45" name="矩形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2137" y="1571554"/>
                  <a:ext cx="413599" cy="45296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矩形 45"/>
                <p:cNvSpPr/>
                <p:nvPr/>
              </p:nvSpPr>
              <p:spPr>
                <a:xfrm>
                  <a:off x="7354465" y="396050"/>
                  <a:ext cx="786553" cy="49106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fontAlgn="base">
                    <a:spcBef>
                      <a:spcPct val="5000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i="1" kern="100" smtClean="0">
                            <a:solidFill>
                              <a:srgbClr val="0000FF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  <m:d>
                          <m:dPr>
                            <m:ctrlPr>
                              <a:rPr lang="zh-CN" altLang="zh-CN" sz="1800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altLang="zh-CN" sz="1800" i="1" kern="100">
                                <a:solidFill>
                                  <a:srgbClr val="0000FF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zh-CN" altLang="en-US" sz="1800" dirty="0">
                    <a:solidFill>
                      <a:srgbClr val="0000FF"/>
                    </a:solidFill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46" name="矩形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54465" y="396050"/>
                  <a:ext cx="786553" cy="49106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接连接符 46"/>
            <p:cNvCxnSpPr/>
            <p:nvPr/>
          </p:nvCxnSpPr>
          <p:spPr bwMode="auto">
            <a:xfrm>
              <a:off x="7297038" y="967370"/>
              <a:ext cx="216000" cy="0"/>
            </a:xfrm>
            <a:prstGeom prst="line">
              <a:avLst/>
            </a:prstGeom>
            <a:solidFill>
              <a:srgbClr val="9999FF"/>
            </a:solidFill>
            <a:ln w="12700" cap="flat" cmpd="sng" algn="ctr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矩形 47"/>
                <p:cNvSpPr/>
                <p:nvPr/>
              </p:nvSpPr>
              <p:spPr>
                <a:xfrm>
                  <a:off x="6988273" y="761009"/>
                  <a:ext cx="413599" cy="45296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lnSpc>
                      <a:spcPct val="90000"/>
                    </a:lnSpc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8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800" i="1" kern="1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800" b="1" kern="1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endParaRPr>
                </a:p>
              </p:txBody>
            </p:sp>
          </mc:Choice>
          <mc:Fallback xmlns="">
            <p:sp>
              <p:nvSpPr>
                <p:cNvPr id="48" name="矩形 4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88273" y="761009"/>
                  <a:ext cx="413599" cy="45296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直接连接符 48"/>
            <p:cNvCxnSpPr/>
            <p:nvPr/>
          </p:nvCxnSpPr>
          <p:spPr bwMode="auto">
            <a:xfrm>
              <a:off x="7523187" y="1314053"/>
              <a:ext cx="158400" cy="0"/>
            </a:xfrm>
            <a:prstGeom prst="line">
              <a:avLst/>
            </a:prstGeom>
            <a:solidFill>
              <a:srgbClr val="9999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arrow" w="sm" len="sm"/>
              <a:tailEnd type="arrow" w="sm" len="sm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矩形 49"/>
                <p:cNvSpPr/>
                <p:nvPr/>
              </p:nvSpPr>
              <p:spPr>
                <a:xfrm>
                  <a:off x="7507141" y="1289142"/>
                  <a:ext cx="413599" cy="34290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lnSpc>
                      <a:spcPct val="90000"/>
                    </a:lnSpc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200" i="1" kern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200" i="1" kern="1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cs typeface="Times New Roman" panose="02020603050405020304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sz="120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1200" b="1" kern="1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endParaRPr>
                </a:p>
              </p:txBody>
            </p:sp>
          </mc:Choice>
          <mc:Fallback xmlns="">
            <p:sp>
              <p:nvSpPr>
                <p:cNvPr id="50" name="矩形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07141" y="1289142"/>
                  <a:ext cx="413599" cy="34290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1" name="直接连接符 50"/>
            <p:cNvCxnSpPr/>
            <p:nvPr/>
          </p:nvCxnSpPr>
          <p:spPr bwMode="auto">
            <a:xfrm>
              <a:off x="7297675" y="1190658"/>
              <a:ext cx="345600" cy="0"/>
            </a:xfrm>
            <a:prstGeom prst="line">
              <a:avLst/>
            </a:prstGeom>
            <a:solidFill>
              <a:srgbClr val="9999FF"/>
            </a:solidFill>
            <a:ln w="1905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 51"/>
                <p:cNvSpPr/>
                <p:nvPr/>
              </p:nvSpPr>
              <p:spPr>
                <a:xfrm>
                  <a:off x="6822157" y="1053315"/>
                  <a:ext cx="413599" cy="45296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 fontAlgn="base">
                    <a:lnSpc>
                      <a:spcPct val="90000"/>
                    </a:lnSpc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800" i="1" kern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800" i="1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800" i="1" kern="100">
                                <a:solidFill>
                                  <a:srgbClr val="FF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800" i="1" kern="10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</m:oMath>
                    </m:oMathPara>
                  </a14:m>
                  <a:endParaRPr lang="zh-CN" altLang="en-US" sz="1800" b="1" kern="1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endParaRPr>
                </a:p>
              </p:txBody>
            </p:sp>
          </mc:Choice>
          <mc:Fallback xmlns="">
            <p:sp>
              <p:nvSpPr>
                <p:cNvPr id="52" name="矩形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2157" y="1053315"/>
                  <a:ext cx="413599" cy="452967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任意多边形 52"/>
          <p:cNvSpPr/>
          <p:nvPr/>
        </p:nvSpPr>
        <p:spPr>
          <a:xfrm>
            <a:off x="4436392" y="3631298"/>
            <a:ext cx="443753" cy="121090"/>
          </a:xfrm>
          <a:custGeom>
            <a:avLst/>
            <a:gdLst>
              <a:gd name="connsiteX0" fmla="*/ 0 w 591670"/>
              <a:gd name="connsiteY0" fmla="*/ 0 h 161453"/>
              <a:gd name="connsiteX1" fmla="*/ 251011 w 591670"/>
              <a:gd name="connsiteY1" fmla="*/ 161365 h 161453"/>
              <a:gd name="connsiteX2" fmla="*/ 591670 w 591670"/>
              <a:gd name="connsiteY2" fmla="*/ 17929 h 161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670" h="161453">
                <a:moveTo>
                  <a:pt x="0" y="0"/>
                </a:moveTo>
                <a:cubicBezTo>
                  <a:pt x="76199" y="79188"/>
                  <a:pt x="152399" y="158377"/>
                  <a:pt x="251011" y="161365"/>
                </a:cubicBezTo>
                <a:cubicBezTo>
                  <a:pt x="349623" y="164353"/>
                  <a:pt x="470646" y="91141"/>
                  <a:pt x="591670" y="17929"/>
                </a:cubicBezTo>
              </a:path>
            </a:pathLst>
          </a:cu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txBody>
          <a:bodyPr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2" grpId="0"/>
      <p:bldP spid="29" grpId="0"/>
      <p:bldP spid="30" grpId="0"/>
      <p:bldP spid="31" grpId="0" bldLvl="0" animBg="1"/>
      <p:bldP spid="33" grpId="0"/>
      <p:bldP spid="34" grpId="0"/>
      <p:bldP spid="35" grpId="0"/>
      <p:bldP spid="37" grpId="0"/>
      <p:bldP spid="5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643562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zh-CN" altLang="en-US" dirty="0"/>
              <a:t>用欧拉方法求解</a:t>
            </a:r>
            <a:r>
              <a:rPr lang="en-US" altLang="zh-CN" dirty="0"/>
              <a:t>[0,3]</a:t>
            </a:r>
            <a:r>
              <a:rPr lang="zh-CN" altLang="en-US" dirty="0"/>
              <a:t>上的初值问题：</a:t>
            </a:r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r>
              <a:rPr lang="zh-CN" altLang="en-US" dirty="0"/>
              <a:t>   精确解</a:t>
            </a:r>
            <a:endParaRPr lang="en-US" altLang="zh-CN" dirty="0"/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28674" name="Object 2"/>
          <p:cNvGraphicFramePr/>
          <p:nvPr/>
        </p:nvGraphicFramePr>
        <p:xfrm>
          <a:off x="2643188" y="1571625"/>
          <a:ext cx="3022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94765" imgH="190500" progId="Equation.DSMT4">
                  <p:embed/>
                </p:oleObj>
              </mc:Choice>
              <mc:Fallback>
                <p:oleObj r:id="rId2" imgW="1294765" imgH="1905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643188" y="1571625"/>
                        <a:ext cx="3022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8675" name="Picture 4" descr="D:\Program Files (x86)\MATLAB\Work\zdw\Numerical_Computing\chapter9\3.png"/>
          <p:cNvPicPr>
            <a:picLocks noChangeAspect="1"/>
          </p:cNvPicPr>
          <p:nvPr/>
        </p:nvPicPr>
        <p:blipFill>
          <a:blip r:embed="rId4"/>
          <a:srcRect l="5357" t="3572" r="6238" b="3558"/>
          <a:stretch>
            <a:fillRect/>
          </a:stretch>
        </p:blipFill>
        <p:spPr>
          <a:xfrm>
            <a:off x="285750" y="2571750"/>
            <a:ext cx="4714875" cy="371475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28676" name="Object 5"/>
          <p:cNvGraphicFramePr/>
          <p:nvPr/>
        </p:nvGraphicFramePr>
        <p:xfrm>
          <a:off x="2357438" y="2143125"/>
          <a:ext cx="2125662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926465" imgH="203200" progId="Equation.DSMT4">
                  <p:embed/>
                </p:oleObj>
              </mc:Choice>
              <mc:Fallback>
                <p:oleObj r:id="rId5" imgW="926465" imgH="2032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7438" y="2143125"/>
                        <a:ext cx="2125662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矩形 5"/>
          <p:cNvSpPr/>
          <p:nvPr/>
        </p:nvSpPr>
        <p:spPr>
          <a:xfrm>
            <a:off x="4786313" y="3286125"/>
            <a:ext cx="4357687" cy="2678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 1.0000    3.0000    0.2944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 0.5000    6.0000    0.1355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 0.2500   12.0000    0.0651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 0.1250   24.0000    0.0320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 0.0625   48.0000    0.0158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 0.0313   96.0000    0.0079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 0.0156  192.0000    0.0039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8678" name="Object 6"/>
          <p:cNvGraphicFramePr/>
          <p:nvPr/>
        </p:nvGraphicFramePr>
        <p:xfrm>
          <a:off x="5429250" y="2571750"/>
          <a:ext cx="3429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938530" imgH="165100" progId="Equation.DSMT4">
                  <p:embed/>
                </p:oleObj>
              </mc:Choice>
              <mc:Fallback>
                <p:oleObj r:id="rId7" imgW="938530" imgH="165100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29250" y="2571750"/>
                        <a:ext cx="3429000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6286500" y="1643063"/>
            <a:ext cx="1265238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exm3.m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数值解法的稳定性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11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3"/>
              <p:cNvSpPr txBox="1">
                <a:spLocks noChangeArrowheads="1"/>
              </p:cNvSpPr>
              <p:nvPr/>
            </p:nvSpPr>
            <p:spPr bwMode="auto">
              <a:xfrm>
                <a:off x="714914" y="1808885"/>
                <a:ext cx="6318554" cy="40894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ODE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初值问题数值解法的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稳定性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解函数近似值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存在误差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在后续递推计算过程中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它会如何传播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?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定义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8.2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若在节点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上的函数近似值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有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扰动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由它引起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的后续节点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上的误差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满足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𝛿</m:t>
                            </m:r>
                          </m:e>
                          <m:sub>
                            <m:r>
                              <a:rPr kumimoji="0" lang="en-US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则该方法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稳定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仅考虑</a:t>
                </a:r>
                <a:r>
                  <a:rPr kumimoji="0" lang="zh-CN" altLang="en-US" sz="1800" b="1" i="0" u="sng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截断误差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计算公式为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+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h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𝜆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1+</m:t>
                            </m:r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h</m:t>
                            </m:r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𝜆</m:t>
                            </m:r>
                          </m:e>
                        </m:d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上的扰动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引起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的误差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+1</m:t>
                        </m:r>
                      </m:sub>
                    </m:sSub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1+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h</m:t>
                        </m:r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𝜆</m:t>
                        </m:r>
                      </m:e>
                    </m:d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𝛿</m:t>
                        </m:r>
                      </m:e>
                      <m:sub>
                        <m:r>
                          <a:rPr kumimoji="0" lang="en-US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要保证欧拉法稳定</a:t>
                </a: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lang="en-US" altLang="zh-CN" sz="1800" b="1" kern="100" dirty="0">
                  <a:solidFill>
                    <a:srgbClr val="000000"/>
                  </a:solidFill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lvl="0" eaLnBrk="1" hangingPunct="1">
                  <a:spcBef>
                    <a:spcPts val="600"/>
                  </a:spcBef>
                  <a:buClr>
                    <a:srgbClr val="00007D"/>
                  </a:buClr>
                </a:pPr>
                <a:r>
                  <a:rPr lang="zh-CN" altLang="en-US" sz="1800" b="1" kern="100" dirty="0">
                    <a:solidFill>
                      <a:srgbClr val="FF0000"/>
                    </a:solidFill>
                    <a:ea typeface="宋体" panose="02010600030101010101" pitchFamily="2" charset="-122"/>
                    <a:cs typeface="Times New Roman" panose="02020603050405020304"/>
                  </a:rPr>
                  <a:t>为了保证数值解法的稳定性步长</a:t>
                </a:r>
                <a:r>
                  <a:rPr lang="en-US" altLang="zh-CN" sz="1800" b="1" kern="100" dirty="0">
                    <a:solidFill>
                      <a:srgbClr val="FF0000"/>
                    </a:solidFill>
                    <a:ea typeface="宋体" panose="02010600030101010101" pitchFamily="2" charset="-122"/>
                    <a:cs typeface="Times New Roman" panose="02020603050405020304"/>
                  </a:rPr>
                  <a:t>h</a:t>
                </a:r>
                <a:r>
                  <a:rPr lang="zh-CN" altLang="en-US" sz="1800" b="1" kern="100" dirty="0">
                    <a:solidFill>
                      <a:srgbClr val="FF0000"/>
                    </a:solidFill>
                    <a:ea typeface="宋体" panose="02010600030101010101" pitchFamily="2" charset="-122"/>
                    <a:cs typeface="Times New Roman" panose="02020603050405020304"/>
                  </a:rPr>
                  <a:t>不能太大</a:t>
                </a:r>
                <a:endParaRPr lang="en-US" altLang="zh-CN" sz="1800" b="1" kern="100" dirty="0">
                  <a:solidFill>
                    <a:srgbClr val="FF0000"/>
                  </a:solidFill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54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914" y="1808885"/>
                <a:ext cx="6318554" cy="4089471"/>
              </a:xfrm>
              <a:prstGeom prst="rect">
                <a:avLst/>
              </a:prstGeom>
              <a:blipFill rotWithShape="1">
                <a:blip r:embed="rId2"/>
                <a:stretch>
                  <a:fillRect l="-9" t="-10" r="3" b="-666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/>
              <p:cNvSpPr/>
              <p:nvPr/>
            </p:nvSpPr>
            <p:spPr>
              <a:xfrm>
                <a:off x="3918051" y="4437572"/>
                <a:ext cx="1308100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1+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h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𝜆</m:t>
                          </m:r>
                        </m:e>
                      </m:d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≤1</m:t>
                      </m:r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矩形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051" y="4437572"/>
                <a:ext cx="1308100" cy="344805"/>
              </a:xfrm>
              <a:prstGeom prst="rect">
                <a:avLst/>
              </a:prstGeom>
              <a:blipFill rotWithShape="1">
                <a:blip r:embed="rId3"/>
                <a:stretch>
                  <a:fillRect l="-8" t="-56" r="8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左右箭头 55"/>
          <p:cNvSpPr/>
          <p:nvPr/>
        </p:nvSpPr>
        <p:spPr>
          <a:xfrm>
            <a:off x="3203329" y="4528550"/>
            <a:ext cx="540060" cy="162018"/>
          </a:xfrm>
          <a:prstGeom prst="leftRightArrow">
            <a:avLst/>
          </a:prstGeom>
          <a:solidFill>
            <a:srgbClr val="92D050"/>
          </a:solidFill>
          <a:ln>
            <a:solidFill>
              <a:srgbClr val="000000"/>
            </a:solidFill>
          </a:ln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/>
              <p:cNvSpPr/>
              <p:nvPr/>
            </p:nvSpPr>
            <p:spPr>
              <a:xfrm>
                <a:off x="2646064" y="4941687"/>
                <a:ext cx="2627630" cy="4521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165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𝜆</m:t>
                    </m:r>
                  </m:oMath>
                </a14:m>
                <a:r>
                  <a:rPr lang="zh-CN" altLang="zh-CN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为</a:t>
                </a: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实</a:t>
                </a:r>
                <a:r>
                  <a:rPr lang="zh-CN" altLang="zh-CN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数</a:t>
                </a: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1650" i="1" spc="-500" smtClean="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</a:rPr>
                      <m:t>𝜆</m:t>
                    </m:r>
                    <m:r>
                      <a:rPr lang="en-US" altLang="zh-CN" sz="1650" i="1" spc="-500" smtClean="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</a:rPr>
                      <m:t>&lt;0</m:t>
                    </m:r>
                  </m:oMath>
                </a14:m>
                <a:r>
                  <a:rPr lang="en-US" altLang="zh-CN" sz="16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,</a:t>
                </a:r>
                <a:r>
                  <a:rPr lang="en-US" altLang="zh-CN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sz="1650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h</m:t>
                    </m:r>
                    <m:r>
                      <a:rPr lang="en-US" altLang="zh-CN" sz="1650" i="1" smtClean="0">
                        <a:solidFill>
                          <a:srgbClr val="C00000"/>
                        </a:solidFill>
                        <a:latin typeface="Cambria Math" panose="02040503050406030204"/>
                      </a:rPr>
                      <m:t>≤</m:t>
                    </m:r>
                    <m:f>
                      <m:fPr>
                        <m:ctrlPr>
                          <a:rPr lang="zh-CN" altLang="zh-CN" sz="165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−2</m:t>
                        </m:r>
                      </m:num>
                      <m:den>
                        <m:r>
                          <a:rPr lang="en-US" altLang="zh-CN" sz="1650" i="1">
                            <a:solidFill>
                              <a:srgbClr val="C00000"/>
                            </a:solidFill>
                            <a:latin typeface="Cambria Math" panose="02040503050406030204"/>
                          </a:rPr>
                          <m:t>𝜆</m:t>
                        </m:r>
                      </m:den>
                    </m:f>
                  </m:oMath>
                </a14:m>
                <a:endParaRPr lang="zh-CN" altLang="en-US" sz="1650" dirty="0">
                  <a:solidFill>
                    <a:srgbClr val="C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矩形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064" y="4941687"/>
                <a:ext cx="2627630" cy="452120"/>
              </a:xfrm>
              <a:prstGeom prst="rect">
                <a:avLst/>
              </a:prstGeom>
              <a:blipFill rotWithShape="1">
                <a:blip r:embed="rId4"/>
                <a:stretch>
                  <a:fillRect l="-1" t="-26" r="1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矩形 67"/>
              <p:cNvSpPr/>
              <p:nvPr/>
            </p:nvSpPr>
            <p:spPr>
              <a:xfrm>
                <a:off x="3062714" y="3038401"/>
                <a:ext cx="3821430" cy="368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800" b="1" kern="100" dirty="0">
                    <a:solidFill>
                      <a:srgbClr val="000000"/>
                    </a:solidFill>
                    <a:cs typeface="Times New Roman" panose="02020603050405020304"/>
                  </a:rPr>
                  <a:t>以欧拉法为例</a:t>
                </a:r>
                <a:r>
                  <a:rPr lang="en-US" altLang="zh-CN" sz="1800" kern="100" dirty="0">
                    <a:solidFill>
                      <a:srgbClr val="000000"/>
                    </a:solidFill>
                    <a:cs typeface="Times New Roman" panose="02020603050405020304"/>
                  </a:rPr>
                  <a:t>, </a:t>
                </a:r>
                <a:r>
                  <a:rPr lang="zh-CN" altLang="en-US" sz="1800" b="1" kern="100" dirty="0">
                    <a:solidFill>
                      <a:srgbClr val="000000"/>
                    </a:solidFill>
                    <a:cs typeface="Times New Roman" panose="02020603050405020304"/>
                  </a:rPr>
                  <a:t>针对模型问题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lang="en-US" altLang="zh-CN" sz="180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=</m:t>
                    </m:r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𝜆</m:t>
                    </m:r>
                    <m:r>
                      <a:rPr lang="en-US" altLang="zh-CN" sz="18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𝑦</m:t>
                    </m:r>
                  </m:oMath>
                </a14:m>
                <a:endParaRPr lang="zh-CN" altLang="en-US" sz="1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8" name="矩形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2714" y="3038401"/>
                <a:ext cx="3821430" cy="368300"/>
              </a:xfrm>
              <a:prstGeom prst="rect">
                <a:avLst/>
              </a:prstGeom>
              <a:blipFill rotWithShape="1">
                <a:blip r:embed="rId5"/>
                <a:stretch>
                  <a:fillRect l="-3" t="-152" r="3" b="1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 bldLvl="0" animBg="1"/>
      <p:bldP spid="57" grpId="0"/>
      <p:bldP spid="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数值解法的稳定性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12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3"/>
              <p:cNvSpPr txBox="1">
                <a:spLocks noChangeArrowheads="1"/>
              </p:cNvSpPr>
              <p:nvPr/>
            </p:nvSpPr>
            <p:spPr bwMode="auto">
              <a:xfrm>
                <a:off x="691060" y="1866509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例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8.5: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用欧拉法求解</a:t>
                </a: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解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+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h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−100</m:t>
                        </m:r>
                        <m:sSub>
                          <m:sSub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=−1.5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2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准确解为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</m:e>
                    </m:d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sSup>
                      <m:sSup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𝑒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−100</m:t>
                        </m:r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</m:sup>
                    </m:sSup>
                  </m:oMath>
                </a14:m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从结果看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,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欧拉法的误差越来越大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,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上下波动</a:t>
                </a: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要保证欧拉法稳定</a:t>
                </a:r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,</a:t>
                </a:r>
                <a:r>
                  <a:rPr kumimoji="0" lang="en-US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应使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h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≤</m:t>
                    </m:r>
                    <m:f>
                      <m:f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fPr>
                      <m:num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−2</m:t>
                        </m:r>
                      </m:num>
                      <m:den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𝜆</m:t>
                        </m:r>
                      </m:den>
                    </m:f>
                    <m:r>
                      <a:rPr kumimoji="0" lang="en-US" altLang="zh-CN" sz="1800" b="0" i="0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=0.02</m:t>
                    </m:r>
                  </m:oMath>
                </a14:m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9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060" y="1866509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3" t="-7" r="8" b="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078930" y="1751800"/>
                <a:ext cx="1351915" cy="5892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=−100</m:t>
                                </m:r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8930" y="1751800"/>
                <a:ext cx="1351915" cy="589280"/>
              </a:xfrm>
              <a:prstGeom prst="rect">
                <a:avLst/>
              </a:prstGeom>
              <a:blipFill rotWithShape="1">
                <a:blip r:embed="rId3"/>
                <a:stretch>
                  <a:fillRect l="-33" t="-80" r="33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4538161" y="1900157"/>
                <a:ext cx="2379980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步长</a:t>
                </a:r>
                <a:r>
                  <a:rPr lang="en-US" altLang="zh-CN" sz="1650">
                    <a:solidFill>
                      <a:srgbClr val="000000"/>
                    </a:solidFill>
                    <a:latin typeface="Arial" panose="020B0604020202020204" pitchFamily="34" charset="0"/>
                  </a:rPr>
                  <a:t>h=0.025, </a:t>
                </a:r>
                <a:r>
                  <a:rPr lang="zh-CN" altLang="zh-CN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165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0.15</m:t>
                        </m:r>
                      </m:e>
                    </m:d>
                  </m:oMath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161" y="1900157"/>
                <a:ext cx="2379980" cy="344805"/>
              </a:xfrm>
              <a:prstGeom prst="rect">
                <a:avLst/>
              </a:prstGeom>
              <a:blipFill rotWithShape="1">
                <a:blip r:embed="rId4"/>
                <a:stretch>
                  <a:fillRect l="-19" t="-69" r="1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014948" y="3056773"/>
              <a:ext cx="5832475" cy="685800"/>
            </p:xfrm>
            <a:graphic>
              <a:graphicData uri="http://schemas.openxmlformats.org/drawingml/2006/table">
                <a:tbl>
                  <a:tblPr/>
                  <a:tblGrid>
                    <a:gridCol w="5397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923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318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3185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3185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84518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87249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850265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16510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0.075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6510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-1.5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2.25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-3.375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5.0625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-7.59375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11.3906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01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>
                                    <a:effectLst/>
                                    <a:latin typeface="Cambria Math" panose="020405030504060302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sz="15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kern="100">
                                            <a:effectLst/>
                                            <a:latin typeface="Cambria Math" panose="02040503050406030204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500" kern="100">
                                            <a:effectLst/>
                                            <a:latin typeface="Cambria Math" panose="02040503050406030204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1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0.082085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0.006738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0.000553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4.54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0000CC"/>
                              </a:solidFill>
                              <a:effectLst/>
                            </a:rPr>
                            <a:t>-5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3.73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0000CC"/>
                              </a:solidFill>
                              <a:effectLst/>
                            </a:rPr>
                            <a:t>-6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3.06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0000CC"/>
                              </a:solidFill>
                              <a:effectLst/>
                            </a:rPr>
                            <a:t>-7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11"/>
              <p:cNvGraphicFramePr>
                <a:graphicFrameLocks noGrp="1"/>
              </p:cNvGraphicFramePr>
              <p:nvPr/>
            </p:nvGraphicFramePr>
            <p:xfrm>
              <a:off x="1014948" y="3056773"/>
              <a:ext cx="5832475" cy="685800"/>
            </p:xfrm>
            <a:graphic>
              <a:graphicData uri="http://schemas.openxmlformats.org/drawingml/2006/table">
                <a:tbl>
                  <a:tblPr/>
                  <a:tblGrid>
                    <a:gridCol w="539750"/>
                    <a:gridCol w="229235"/>
                    <a:gridCol w="831850"/>
                    <a:gridCol w="831850"/>
                    <a:gridCol w="831850"/>
                    <a:gridCol w="845185"/>
                    <a:gridCol w="872490"/>
                    <a:gridCol w="850265"/>
                  </a:tblGrid>
                  <a:tr h="228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0.075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28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-1.5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2.25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-3.375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5.0625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-7.59375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11.3906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28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1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0.082085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0.006738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0.000553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4.54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0000CC"/>
                              </a:solidFill>
                              <a:effectLst/>
                            </a:rPr>
                            <a:t>-5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3.73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0000CC"/>
                              </a:solidFill>
                              <a:effectLst/>
                            </a:rPr>
                            <a:t>-6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3.06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0000CC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0000CC"/>
                              </a:solidFill>
                              <a:effectLst/>
                            </a:rPr>
                            <a:t>-7</a:t>
                          </a:r>
                          <a:endParaRPr lang="zh-CN" sz="1500" kern="100" dirty="0">
                            <a:solidFill>
                              <a:srgbClr val="0000CC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TextBox 6"/>
          <p:cNvSpPr txBox="1"/>
          <p:nvPr/>
        </p:nvSpPr>
        <p:spPr>
          <a:xfrm>
            <a:off x="5003709" y="4725948"/>
            <a:ext cx="191683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这里设的</a:t>
            </a:r>
            <a:r>
              <a:rPr lang="en-US" altLang="zh-CN" sz="1800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h</a:t>
            </a:r>
            <a:r>
              <a:rPr lang="zh-CN" altLang="en-US" sz="1800" b="1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太大</a:t>
            </a:r>
            <a:r>
              <a:rPr lang="en-US" altLang="zh-CN" sz="1800" b="1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!</a:t>
            </a:r>
            <a:endParaRPr lang="zh-CN" altLang="en-US" sz="1800" b="1" dirty="0">
              <a:solidFill>
                <a:srgbClr val="00007D">
                  <a:lumMod val="60000"/>
                  <a:lumOff val="4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"/>
          <p:cNvSpPr txBox="1"/>
          <p:nvPr/>
        </p:nvSpPr>
        <p:spPr>
          <a:xfrm>
            <a:off x="960941" y="2712266"/>
            <a:ext cx="2430270" cy="344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50" b="1" dirty="0">
                <a:solidFill>
                  <a:srgbClr val="000000"/>
                </a:solidFill>
                <a:latin typeface="Arial" panose="020B0604020202020204" pitchFamily="34" charset="0"/>
              </a:rPr>
              <a:t>计算结果如下表</a:t>
            </a:r>
            <a:r>
              <a:rPr lang="en-US" altLang="zh-CN" sz="1650" b="1" dirty="0">
                <a:solidFill>
                  <a:srgbClr val="000000"/>
                </a:solidFill>
                <a:latin typeface="Arial" panose="020B0604020202020204" pitchFamily="34" charset="0"/>
              </a:rPr>
              <a:t>:</a:t>
            </a:r>
            <a:endParaRPr lang="zh-CN" altLang="en-US" sz="1650" b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Practice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13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619144" y="1722215"/>
                <a:ext cx="7727764" cy="20377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什么是</a:t>
                </a:r>
                <a:r>
                  <a:rPr lang="en-US" altLang="zh-CN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ode</a:t>
                </a:r>
                <a:r>
                  <a:rPr lang="zh-CN" altLang="en-US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初值问题的数值计算的显格式方法和隐格式方法？</a:t>
                </a:r>
                <a:endParaRPr lang="en-US" altLang="zh-CN" sz="2100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r>
                  <a:rPr lang="zh-CN" altLang="en-US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若计算公式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𝐺</m:t>
                    </m:r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(</m:t>
                    </m:r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, </m:t>
                    </m:r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,</m:t>
                    </m:r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−1</m:t>
                        </m:r>
                      </m:sub>
                    </m:sSub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,…,</m:t>
                    </m:r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−</m:t>
                        </m:r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𝑘</m:t>
                        </m:r>
                      </m:sub>
                    </m:sSub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)</m:t>
                    </m:r>
                  </m:oMath>
                </a14:m>
                <a:r>
                  <a:rPr lang="zh-CN" altLang="en-US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中，</a:t>
                </a:r>
                <a:r>
                  <a:rPr lang="en-US" altLang="zh-CN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G</a:t>
                </a:r>
                <a:r>
                  <a:rPr lang="zh-CN" altLang="en-US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函数显含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lang="zh-CN" altLang="en-US" sz="2100" i="1" kern="10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/>
                      </a:rPr>
                      <m:t>则</m:t>
                    </m:r>
                  </m:oMath>
                </a14:m>
                <a:r>
                  <a:rPr lang="zh-CN" altLang="en-US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为隐格式，若不含有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21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则为显格式</a:t>
                </a:r>
                <a:endParaRPr lang="en-US" altLang="zh-CN" sz="21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:endParaRPr lang="en-US" altLang="zh-CN" sz="21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zh-CN" altLang="en-US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1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lang="en-US" altLang="zh-CN" sz="210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lang="en-US" altLang="zh-CN" sz="210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lang="en-US" altLang="zh-CN" sz="21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=</m:t>
                    </m:r>
                    <m:r>
                      <a:rPr lang="en-US" altLang="zh-CN" sz="21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𝜆</m:t>
                    </m:r>
                    <m:r>
                      <a:rPr lang="en-US" altLang="zh-CN" sz="210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𝑦</m:t>
                    </m:r>
                  </m:oMath>
                </a14:m>
                <a:r>
                  <a:rPr lang="zh-CN" altLang="en-US" sz="2100" dirty="0">
                    <a:latin typeface="黑体" panose="02010609060101010101" pitchFamily="49" charset="-122"/>
                    <a:ea typeface="黑体" panose="02010609060101010101" pitchFamily="49" charset="-122"/>
                    <a:cs typeface="Arial" panose="020B0604020202020204" pitchFamily="34" charset="0"/>
                  </a:rPr>
                  <a:t>，欧拉法的计算公式是什么？</a:t>
                </a:r>
                <a:endParaRPr lang="en-US" altLang="zh-CN" sz="2100" dirty="0"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 kern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lang="en-US" altLang="zh-CN" sz="2100" i="1" kern="100">
                        <a:solidFill>
                          <a:srgbClr val="FF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+</m:t>
                    </m:r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h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lang="en-US" altLang="zh-CN" sz="2100" i="1">
                        <a:solidFill>
                          <a:srgbClr val="FF0000"/>
                        </a:solidFill>
                        <a:latin typeface="Cambria Math" panose="02040503050406030204"/>
                      </a:rPr>
                      <m:t>𝜆</m:t>
                    </m:r>
                    <m:sSub>
                      <m:sSubPr>
                        <m:ctrlPr>
                          <a:rPr lang="zh-CN" altLang="zh-CN" sz="2100" i="1" ker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2100" i="1" kern="100">
                            <a:solidFill>
                              <a:srgbClr val="FF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21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44" y="1722215"/>
                <a:ext cx="7727764" cy="2037715"/>
              </a:xfrm>
              <a:prstGeom prst="rect">
                <a:avLst/>
              </a:prstGeom>
              <a:blipFill rotWithShape="1">
                <a:blip r:embed="rId2"/>
                <a:stretch>
                  <a:fillRect t="-5" r="6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数值解法的局部截断误差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14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/>
              <p:cNvSpPr txBox="1">
                <a:spLocks noChangeArrowheads="1"/>
              </p:cNvSpPr>
              <p:nvPr/>
            </p:nvSpPr>
            <p:spPr bwMode="auto">
              <a:xfrm>
                <a:off x="708950" y="1675525"/>
                <a:ext cx="6318554" cy="1465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just" defTabSz="914400" rtl="0" eaLnBrk="0" fontAlgn="base" latinLnBrk="0" hangingPunct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0" cap="none" spc="-5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定义</a:t>
                </a:r>
                <a:r>
                  <a:rPr kumimoji="0" lang="en-US" altLang="zh-CN" sz="2100" b="1" i="0" u="none" strike="noStrike" kern="0" cap="none" spc="-5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8.3</a:t>
                </a:r>
                <a:r>
                  <a:rPr kumimoji="0" lang="en-US" altLang="zh-CN" sz="2100" b="0" i="0" u="none" strike="noStrike" kern="0" cap="none" spc="-5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:</a:t>
                </a:r>
                <a:r>
                  <a:rPr kumimoji="0" lang="zh-CN" altLang="en-US" sz="2100" b="1" i="0" u="none" strike="noStrike" kern="0" cap="none" spc="-5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求解初值问题的</a:t>
                </a:r>
                <a:r>
                  <a:rPr kumimoji="0" lang="zh-CN" altLang="zh-CN" sz="2100" b="1" i="0" u="none" strike="noStrike" kern="0" cap="none" spc="-5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数值</a:t>
                </a:r>
                <a:r>
                  <a:rPr kumimoji="0" lang="zh-CN" altLang="en-US" sz="2100" b="1" i="0" u="none" strike="noStrike" kern="0" cap="none" spc="-5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解</a:t>
                </a:r>
                <a:r>
                  <a:rPr kumimoji="0" lang="zh-CN" altLang="zh-CN" sz="2100" b="1" i="0" u="none" strike="noStrike" kern="0" cap="none" spc="-5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法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21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𝑛</m:t>
                        </m:r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+1</m:t>
                        </m:r>
                      </m:sub>
                    </m:sSub>
                    <m:r>
                      <a:rPr kumimoji="0" lang="en-US" altLang="zh-CN" sz="2100" b="0" i="1" u="none" strike="noStrike" kern="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=</m:t>
                    </m:r>
                    <m:r>
                      <a:rPr kumimoji="0" lang="en-US" altLang="zh-CN" sz="21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𝐺</m:t>
                    </m:r>
                    <m:r>
                      <a:rPr kumimoji="0" lang="en-US" altLang="zh-CN" sz="21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(</m:t>
                    </m:r>
                    <m:sSub>
                      <m:sSubPr>
                        <m:ctrlPr>
                          <a:rPr kumimoji="0" lang="zh-CN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𝑛</m:t>
                        </m:r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+1</m:t>
                        </m:r>
                      </m:sub>
                    </m:sSub>
                    <m:r>
                      <a:rPr kumimoji="0" lang="en-US" altLang="zh-CN" sz="21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kumimoji="0" lang="zh-CN" altLang="zh-CN" sz="2100" b="0" i="1" u="none" strike="noStrike" kern="0" cap="none" spc="-1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𝑛</m:t>
                        </m:r>
                      </m:sub>
                    </m:sSub>
                    <m:r>
                      <a:rPr kumimoji="0" lang="en-US" altLang="zh-CN" sz="21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,…,</m:t>
                    </m:r>
                    <m:sSub>
                      <m:sSubPr>
                        <m:ctrlPr>
                          <a:rPr kumimoji="0" lang="zh-CN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21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𝑛</m:t>
                        </m:r>
                        <m:r>
                          <a:rPr kumimoji="0" lang="en-US" altLang="zh-CN" sz="2100" b="0" i="1" u="none" strike="noStrike" kern="0" cap="none" spc="-1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−</m:t>
                        </m:r>
                        <m:r>
                          <a:rPr kumimoji="0" lang="en-US" altLang="zh-CN" sz="2100" b="0" i="1" u="none" strike="noStrike" kern="0" cap="none" spc="-1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𝑘</m:t>
                        </m:r>
                      </m:sub>
                    </m:sSub>
                    <m:r>
                      <a:rPr kumimoji="0" lang="en-US" altLang="zh-CN" sz="21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)</m:t>
                    </m:r>
                  </m:oMath>
                </a14:m>
                <a:r>
                  <a:rPr kumimoji="0" lang="en-US" altLang="zh-CN" sz="2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在</a:t>
                </a: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2100" b="1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kumimoji="0" lang="en-US" altLang="zh-CN" sz="2100" b="1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𝒚</m:t>
                        </m:r>
                      </m:e>
                      <m:sub>
                        <m:r>
                          <a:rPr kumimoji="0" lang="en-US" altLang="zh-CN" sz="2100" b="1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𝒏</m:t>
                        </m:r>
                        <m:r>
                          <a:rPr kumimoji="0" lang="en-US" altLang="zh-CN" sz="2100" b="1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−</m:t>
                        </m:r>
                        <m:r>
                          <a:rPr kumimoji="0" lang="en-US" altLang="zh-CN" sz="2100" b="1" i="1" u="none" strike="noStrike" kern="100" cap="none" spc="-50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𝒊</m:t>
                        </m:r>
                      </m:sub>
                    </m:sSub>
                    <m:r>
                      <a:rPr kumimoji="0" lang="en-US" altLang="zh-CN" sz="2100" b="1" i="1" u="none" strike="noStrike" kern="100" cap="none" spc="-600" normalizeH="0" baseline="0" noProof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2100" b="1" i="1" u="none" strike="noStrike" kern="100" cap="none" spc="-100" normalizeH="0" baseline="0" noProof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𝒚</m:t>
                    </m:r>
                    <m:d>
                      <m:dPr>
                        <m:ctrlPr>
                          <a:rPr kumimoji="0" lang="zh-CN" altLang="zh-CN" sz="2100" b="1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2100" b="1" i="1" u="none" strike="noStrike" kern="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kumimoji="0" lang="en-US" altLang="zh-CN" sz="2100" b="1" i="1" u="none" strike="noStrike" kern="10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𝒕</m:t>
                            </m:r>
                          </m:e>
                          <m:sub>
                            <m:r>
                              <a:rPr kumimoji="0" lang="en-US" altLang="zh-CN" sz="2100" b="1" i="1" u="none" strike="noStrike" kern="10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𝒏</m:t>
                            </m:r>
                            <m:r>
                              <a:rPr kumimoji="0" lang="en-US" altLang="zh-CN" sz="2100" b="1" i="1" u="none" strike="noStrike" kern="10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−</m:t>
                            </m:r>
                            <m:r>
                              <a:rPr kumimoji="0" lang="en-US" altLang="zh-CN" sz="2100" b="1" i="1" u="none" strike="noStrike" kern="10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C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kumimoji="0" lang="en-US" altLang="zh-CN" sz="2100" b="0" i="1" u="none" strike="noStrike" kern="10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, (</m:t>
                    </m:r>
                    <m:r>
                      <a:rPr kumimoji="0" lang="en-US" altLang="zh-CN" sz="2100" b="0" i="1" u="none" strike="noStrike" kern="10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0≤</m:t>
                    </m:r>
                    <m:r>
                      <a:rPr kumimoji="0" lang="en-US" altLang="zh-CN" sz="2100" b="0" i="1" u="none" strike="noStrike" kern="10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𝑖</m:t>
                    </m:r>
                    <m:r>
                      <a:rPr kumimoji="0" lang="en-US" altLang="zh-CN" sz="2100" b="0" i="1" u="none" strike="noStrike" kern="10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≤</m:t>
                    </m:r>
                    <m:r>
                      <a:rPr kumimoji="0" lang="en-US" altLang="zh-CN" sz="2100" b="0" i="1" u="none" strike="noStrike" kern="10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𝑘</m:t>
                    </m:r>
                    <m:r>
                      <a:rPr kumimoji="0" lang="en-US" altLang="zh-CN" sz="2100" b="0" i="1" u="none" strike="noStrike" kern="10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)</m:t>
                    </m:r>
                  </m:oMath>
                </a14:m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的前提下</a:t>
                </a:r>
                <a:r>
                  <a:rPr kumimoji="0" lang="en-US" altLang="zh-CN" sz="2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21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/>
                          </a:rPr>
                        </m:ctrlPr>
                      </m:sSubPr>
                      <m:e>
                        <m:r>
                          <a:rPr kumimoji="0" lang="en-US" altLang="zh-CN" sz="21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𝑙</m:t>
                        </m:r>
                      </m:e>
                      <m:sub>
                        <m:r>
                          <a:rPr kumimoji="0" lang="en-US" altLang="zh-CN" sz="21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21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kumimoji="0" lang="en-US" altLang="zh-CN" sz="2100" b="0" i="1" u="none" strike="noStrike" kern="10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2100" b="0" i="1" u="none" strike="noStrike" kern="10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r>
                      <a:rPr kumimoji="0" lang="en-US" altLang="zh-CN" sz="2100" b="0" i="1" u="none" strike="noStrike" kern="100" cap="none" spc="-1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/>
                      </a:rPr>
                      <m:t>(</m:t>
                    </m:r>
                    <m:sSub>
                      <m:sSubPr>
                        <m:ctrlPr>
                          <a:rPr kumimoji="0" lang="zh-CN" altLang="zh-CN" sz="21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/>
                          </a:rPr>
                        </m:ctrlPr>
                      </m:sSubPr>
                      <m:e>
                        <m:r>
                          <a:rPr kumimoji="0" lang="en-US" altLang="zh-CN" sz="21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𝑡</m:t>
                        </m:r>
                      </m:e>
                      <m:sub>
                        <m:r>
                          <a:rPr kumimoji="0" lang="en-US" altLang="zh-CN" sz="2100" b="0" i="1" u="none" strike="noStrike" kern="100" cap="none" spc="-3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2100" b="0" i="1" u="none" strike="noStrike" kern="100" cap="none" spc="-3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kumimoji="0" lang="en-US" altLang="zh-CN" sz="2100" b="0" i="1" u="none" strike="noStrike" kern="100" cap="none" spc="-50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/>
                      </a:rPr>
                      <m:t>)</m:t>
                    </m:r>
                    <m:r>
                      <a:rPr kumimoji="0" lang="en-US" altLang="zh-CN" sz="2100" b="0" i="1" u="none" strike="noStrike" kern="10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−</m:t>
                    </m:r>
                    <m:sSub>
                      <m:sSubPr>
                        <m:ctrlPr>
                          <a:rPr kumimoji="0" lang="zh-CN" altLang="zh-CN" sz="21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Times New Roman" panose="02020603050405020304"/>
                          </a:rPr>
                        </m:ctrlPr>
                      </m:sSubPr>
                      <m:e>
                        <m:r>
                          <a:rPr kumimoji="0" lang="en-US" altLang="zh-CN" sz="21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2100" b="0" i="1" u="none" strike="noStrike" kern="100" cap="none" spc="-3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2100" b="0" i="1" u="none" strike="noStrike" kern="100" cap="none" spc="-3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</m:oMath>
                </a14:m>
                <a:r>
                  <a:rPr kumimoji="0" lang="zh-CN" altLang="en-US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称为该方法的</a:t>
                </a:r>
                <a:r>
                  <a:rPr kumimoji="0" lang="zh-CN" altLang="en-US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楷体" panose="02010609060101010101" pitchFamily="49" charset="-122"/>
                    <a:ea typeface="楷体" panose="02010609060101010101" pitchFamily="49" charset="-122"/>
                    <a:cs typeface="Times New Roman" panose="02020603050405020304"/>
                  </a:rPr>
                  <a:t>局部截断误差</a:t>
                </a:r>
                <a:endParaRPr kumimoji="0" lang="zh-CN" altLang="zh-CN" sz="2100" b="1" i="0" u="none" strike="noStrike" kern="10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/>
                </a:endParaRPr>
              </a:p>
              <a:p>
                <a:pPr lvl="0" eaLnBrk="1" hangingPunct="1">
                  <a:spcBef>
                    <a:spcPts val="400"/>
                  </a:spcBef>
                  <a:buClr>
                    <a:srgbClr val="00007D"/>
                  </a:buClr>
                </a:pPr>
                <a:r>
                  <a:rPr kumimoji="0" lang="zh-CN" altLang="zh-CN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局部截断误差</a:t>
                </a: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反映了</a:t>
                </a:r>
                <a:r>
                  <a:rPr kumimoji="0" lang="zh-CN" altLang="zh-CN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一步计算</a:t>
                </a:r>
                <a:r>
                  <a:rPr kumimoji="0" lang="zh-CN" altLang="zh-CN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产生的误差</a:t>
                </a:r>
                <a:r>
                  <a:rPr lang="zh-CN" altLang="en-US" sz="2100" b="1" kern="0" dirty="0">
                    <a:solidFill>
                      <a:srgbClr val="000000"/>
                    </a:solidFill>
                    <a:latin typeface="Arial" panose="020B0604020202020204"/>
                    <a:ea typeface="宋体" panose="02010600030101010101" pitchFamily="2" charset="-122"/>
                  </a:rPr>
                  <a:t>，</a:t>
                </a:r>
                <a:r>
                  <a:rPr lang="zh-CN" altLang="en-US" sz="2100" b="1" kern="0" dirty="0">
                    <a:solidFill>
                      <a:srgbClr val="0000CC"/>
                    </a:solidFill>
                    <a:latin typeface="Arial" panose="020B0604020202020204"/>
                    <a:ea typeface="宋体" panose="02010600030101010101" pitchFamily="2" charset="-122"/>
                  </a:rPr>
                  <a:t>一般仅能研究局部截断误差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2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6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950" y="1675525"/>
                <a:ext cx="6318554" cy="1465738"/>
              </a:xfrm>
              <a:prstGeom prst="rect">
                <a:avLst/>
              </a:prstGeom>
              <a:blipFill rotWithShape="1">
                <a:blip r:embed="rId2"/>
                <a:stretch>
                  <a:fillRect l="-5" t="-27" r="9" b="-620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"/>
              <p:cNvSpPr txBox="1">
                <a:spLocks noChangeArrowheads="1"/>
              </p:cNvSpPr>
              <p:nvPr/>
            </p:nvSpPr>
            <p:spPr bwMode="auto">
              <a:xfrm>
                <a:off x="708950" y="3832000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例</a:t>
                </a:r>
                <a:r>
                  <a:rPr kumimoji="0" lang="zh-CN" altLang="en-US" sz="21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：</a:t>
                </a:r>
                <a:r>
                  <a:rPr kumimoji="0" lang="zh-CN" altLang="en-US" sz="21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欧拉法的局部截断误差</a:t>
                </a:r>
                <a:endParaRPr kumimoji="0" lang="en-US" altLang="zh-CN" sz="21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对模型问题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en-US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=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𝜆</m:t>
                    </m:r>
                    <m:r>
                      <a:rPr kumimoji="0" lang="en-US" altLang="zh-CN" sz="1800" b="0" i="1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𝑦</m:t>
                    </m:r>
                  </m:oMath>
                </a14:m>
                <a:endParaRPr kumimoji="0" lang="en-US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8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对一般的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𝑓</m:t>
                    </m:r>
                    <m:d>
                      <m:dPr>
                        <m:ctrlPr>
                          <a:rPr kumimoji="0" lang="zh-CN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, 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</m:d>
                  </m:oMath>
                </a14:m>
                <a:r>
                  <a:rPr kumimoji="0" lang="en-US" altLang="zh-CN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, </a:t>
                </a: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有同样的结论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32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8950" y="3832000"/>
                <a:ext cx="6318554" cy="3618309"/>
              </a:xfrm>
              <a:prstGeom prst="rect">
                <a:avLst/>
              </a:prstGeom>
              <a:blipFill rotWithShape="1">
                <a:blip r:embed="rId3"/>
                <a:stretch>
                  <a:fillRect l="-5" t="-11" r="9" b="1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2528068" y="4124184"/>
                <a:ext cx="3670300" cy="4006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80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80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800" spc="-4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1800" i="1" spc="-1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𝑦</m:t>
                      </m:r>
                      <m:d>
                        <m:dPr>
                          <m:ctrlPr>
                            <a:rPr lang="zh-CN" altLang="zh-CN" sz="18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 spc="-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spc="-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 spc="-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𝑛</m:t>
                              </m:r>
                              <m:r>
                                <a:rPr lang="en-US" altLang="zh-CN" sz="1800" i="1" spc="-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 spc="-4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−</m:t>
                      </m:r>
                      <m:r>
                        <a:rPr lang="en-US" altLang="zh-CN" sz="1800" i="1" spc="-100" smtClean="0">
                          <a:solidFill>
                            <a:srgbClr val="00007D">
                              <a:lumMod val="60000"/>
                              <a:lumOff val="40000"/>
                            </a:srgbClr>
                          </a:solidFill>
                          <a:latin typeface="Cambria Math" panose="02040503050406030204"/>
                        </a:rPr>
                        <m:t>𝑦</m:t>
                      </m:r>
                      <m:d>
                        <m:dPr>
                          <m:ctrlPr>
                            <a:rPr lang="zh-CN" altLang="zh-CN" sz="1800" i="1" spc="-10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 spc="-100">
                                  <a:solidFill>
                                    <a:srgbClr val="00007D">
                                      <a:lumMod val="60000"/>
                                      <a:lumOff val="4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spc="-100">
                                  <a:solidFill>
                                    <a:srgbClr val="00007D">
                                      <a:lumMod val="60000"/>
                                      <a:lumOff val="40000"/>
                                    </a:srgbClr>
                                  </a:solidFill>
                                  <a:latin typeface="Cambria Math" panose="020405030504060302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 spc="-100">
                                  <a:solidFill>
                                    <a:srgbClr val="00007D">
                                      <a:lumMod val="60000"/>
                                      <a:lumOff val="40000"/>
                                    </a:srgbClr>
                                  </a:solidFill>
                                  <a:latin typeface="Cambria Math" panose="02040503050406030204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altLang="zh-CN" sz="1800" i="1" spc="-4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−</m:t>
                      </m:r>
                      <m:r>
                        <a:rPr lang="en-US" altLang="zh-CN" sz="1800" i="1" spc="-1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h𝑓</m:t>
                      </m:r>
                      <m:d>
                        <m:dPr>
                          <m:ctrlPr>
                            <a:rPr lang="zh-CN" altLang="zh-CN" sz="180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800" i="1" spc="-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 spc="-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 spc="-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80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, </m:t>
                          </m:r>
                          <m:r>
                            <a:rPr lang="en-US" altLang="zh-CN" sz="1800" i="1" spc="-100" smtClean="0">
                              <a:solidFill>
                                <a:srgbClr val="00007D">
                                  <a:lumMod val="60000"/>
                                  <a:lumOff val="40000"/>
                                </a:srgbClr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  <m:d>
                            <m:dPr>
                              <m:ctrlPr>
                                <a:rPr lang="zh-CN" altLang="zh-CN" sz="1800" i="1" spc="-100">
                                  <a:solidFill>
                                    <a:srgbClr val="00007D">
                                      <a:lumMod val="60000"/>
                                      <a:lumOff val="40000"/>
                                    </a:srgb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 spc="-100">
                                      <a:solidFill>
                                        <a:srgbClr val="00007D">
                                          <a:lumMod val="60000"/>
                                          <a:lumOff val="40000"/>
                                        </a:srgb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 spc="-100">
                                      <a:solidFill>
                                        <a:srgbClr val="00007D">
                                          <a:lumMod val="60000"/>
                                          <a:lumOff val="40000"/>
                                        </a:srgbClr>
                                      </a:solidFill>
                                      <a:latin typeface="Cambria Math" panose="020405030504060302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800" i="1" spc="-100">
                                      <a:solidFill>
                                        <a:srgbClr val="00007D">
                                          <a:lumMod val="60000"/>
                                          <a:lumOff val="40000"/>
                                        </a:srgbClr>
                                      </a:solidFill>
                                      <a:latin typeface="Cambria Math" panose="02040503050406030204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800" spc="-1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068" y="4124184"/>
                <a:ext cx="3670300" cy="400685"/>
              </a:xfrm>
              <a:prstGeom prst="rect">
                <a:avLst/>
              </a:prstGeom>
              <a:blipFill rotWithShape="1">
                <a:blip r:embed="rId4"/>
                <a:stretch>
                  <a:fillRect l="-4" t="-123" r="4" b="1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3538038" y="4490809"/>
                <a:ext cx="2320290" cy="3733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spc="-4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𝑦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h</m:t>
                              </m:r>
                              <m:r>
                                <a:rPr lang="en-US" altLang="zh-CN" sz="1650" i="1" spc="-5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𝜆</m:t>
                              </m:r>
                            </m:sup>
                          </m:sSup>
                          <m:r>
                            <a:rPr lang="en-US" altLang="zh-CN" sz="1650" i="1" spc="-500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−</m:t>
                          </m:r>
                          <m:r>
                            <a:rPr lang="en-US" altLang="zh-CN" sz="1650" i="1" spc="-4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1</m:t>
                          </m:r>
                          <m:r>
                            <a:rPr lang="en-US" altLang="zh-CN" sz="1650" i="1" spc="-5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−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h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𝜆</m:t>
                          </m:r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8038" y="4490809"/>
                <a:ext cx="2320290" cy="373380"/>
              </a:xfrm>
              <a:prstGeom prst="rect">
                <a:avLst/>
              </a:prstGeom>
              <a:blipFill rotWithShape="1">
                <a:blip r:embed="rId5"/>
                <a:stretch>
                  <a:fillRect l="-20" t="-24" r="20" b="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5725788" y="4496621"/>
                <a:ext cx="982345" cy="3733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1650" b="1" i="1" smtClean="0">
                          <a:solidFill>
                            <a:srgbClr val="C00000"/>
                          </a:solidFill>
                          <a:latin typeface="Cambria Math" panose="02040503050406030204"/>
                        </a:rPr>
                        <m:t>𝑶</m:t>
                      </m:r>
                      <m:d>
                        <m:dPr>
                          <m:ctrlPr>
                            <a:rPr lang="zh-CN" altLang="zh-CN" sz="165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50" b="1" i="1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  <m:t>𝒉</m:t>
                              </m:r>
                            </m:e>
                            <m:sup>
                              <m:r>
                                <a:rPr lang="en-US" altLang="zh-CN" sz="1650" b="1" i="1">
                                  <a:solidFill>
                                    <a:srgbClr val="C00000"/>
                                  </a:solidFill>
                                  <a:latin typeface="Cambria Math" panose="02040503050406030204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50" b="1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788" y="4496621"/>
                <a:ext cx="982345" cy="373380"/>
              </a:xfrm>
              <a:prstGeom prst="rect">
                <a:avLst/>
              </a:prstGeom>
              <a:blipFill rotWithShape="1">
                <a:blip r:embed="rId6"/>
                <a:stretch>
                  <a:fillRect l="-64" t="-50" r="64" b="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/>
              <p:cNvSpPr/>
              <p:nvPr/>
            </p:nvSpPr>
            <p:spPr>
              <a:xfrm>
                <a:off x="5075823" y="4870041"/>
                <a:ext cx="1290320" cy="3359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spc="-4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=</m:t>
                      </m:r>
                      <m:r>
                        <a:rPr lang="en-US" altLang="zh-CN" sz="1650" i="1" smtClean="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𝑂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矩形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5823" y="4870041"/>
                <a:ext cx="1290320" cy="335915"/>
              </a:xfrm>
              <a:prstGeom prst="rect">
                <a:avLst/>
              </a:prstGeom>
              <a:blipFill rotWithShape="1">
                <a:blip r:embed="rId7"/>
                <a:stretch>
                  <a:fillRect l="-21" t="-67" r="21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数值解法的局部截断误差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15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/>
              <p:cNvSpPr txBox="1">
                <a:spLocks noChangeArrowheads="1"/>
              </p:cNvSpPr>
              <p:nvPr/>
            </p:nvSpPr>
            <p:spPr bwMode="auto">
              <a:xfrm>
                <a:off x="444796" y="1697075"/>
                <a:ext cx="5513092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定义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8.4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若某种解法的</a:t>
                </a:r>
                <a:r>
                  <a:rPr kumimoji="0" lang="zh-CN" altLang="zh-CN" sz="1800" b="1" i="0" u="sng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局部</a:t>
                </a:r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截断误差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𝑙</m:t>
                        </m:r>
                      </m:e>
                      <m:sub>
                        <m:r>
                          <a:rPr kumimoji="0" lang="en-US" altLang="zh-CN" sz="18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kumimoji="0" lang="en-US" altLang="zh-CN" sz="1800" b="0" i="1" u="none" strike="noStrike" kern="10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kumimoji="0" lang="en-US" altLang="zh-CN" sz="1800" b="0" i="1" u="none" strike="noStrike" kern="10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1800" b="0" i="1" u="none" strike="noStrike" kern="100" cap="none" spc="-4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𝑂</m:t>
                    </m:r>
                    <m:d>
                      <m:dPr>
                        <m:ctrlPr>
                          <a:rPr kumimoji="0" lang="zh-CN" altLang="zh-CN" sz="18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zh-CN" sz="1800" b="0" i="1" u="none" strike="noStrike" kern="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0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h</m:t>
                            </m:r>
                          </m:e>
                          <m:sup>
                            <m:r>
                              <a:rPr kumimoji="0" lang="en-US" altLang="zh-CN" sz="1800" b="0" i="1" u="none" strike="noStrike" kern="100" cap="none" spc="-10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𝑝</m:t>
                            </m:r>
                            <m:r>
                              <a:rPr kumimoji="0" lang="en-US" altLang="zh-CN" sz="1800" b="0" i="1" u="none" strike="noStrike" kern="100" cap="none" spc="-10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7D">
                                    <a:lumMod val="60000"/>
                                    <a:lumOff val="40000"/>
                                  </a:srgbClr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则称该方法具有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楷体" panose="02010609060101010101" pitchFamily="49" charset="-122"/>
                    <a:cs typeface="+mn-cs"/>
                  </a:rPr>
                  <a:t>p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楷体" panose="02010609060101010101" pitchFamily="49" charset="-122"/>
                    <a:cs typeface="+mn-cs"/>
                  </a:rPr>
                  <a:t>阶准确度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/>
                  <a:ea typeface="楷体" panose="02010609060101010101" pitchFamily="49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实际关心整体误差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kumimoji="0" lang="en-US" altLang="zh-CN" sz="1800" b="0" i="1" u="none" strike="noStrike" kern="0" cap="none" spc="-7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zh-CN" altLang="zh-CN" sz="18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altLang="zh-CN" sz="1800" b="0" i="1" u="none" strike="noStrike" kern="0" cap="none" spc="-7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−</m:t>
                    </m:r>
                    <m:r>
                      <a:rPr kumimoji="0" lang="en-US" altLang="zh-CN" sz="1800" b="0" i="1" u="none" strike="noStrike" kern="0" cap="none" spc="-1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𝑦</m:t>
                    </m:r>
                    <m:d>
                      <m:dPr>
                        <m:ctrlPr>
                          <a:rPr kumimoji="0" lang="zh-CN" altLang="zh-CN" sz="1800" b="0" i="1" u="none" strike="noStrike" kern="0" cap="none" spc="-1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zh-CN" altLang="zh-CN" sz="1800" b="0" i="1" u="none" strike="noStrike" kern="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1800" b="0" i="1" u="none" strike="noStrike" kern="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𝑡</m:t>
                            </m:r>
                          </m:e>
                          <m:sub>
                            <m:r>
                              <a:rPr kumimoji="0" lang="en-US" altLang="zh-CN" sz="1800" b="0" i="1" u="none" strike="noStrike" kern="0" cap="none" spc="-10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zh-CN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. </a:t>
                </a:r>
                <a:r>
                  <a:rPr kumimoji="0" lang="zh-CN" altLang="en-US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在适当条件下</a:t>
                </a:r>
                <a:r>
                  <a:rPr kumimoji="0" lang="en-US" altLang="zh-CN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, </a:t>
                </a:r>
                <a:r>
                  <a:rPr kumimoji="0" lang="zh-CN" altLang="en-US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若</a:t>
                </a:r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局部截断误差为</a:t>
                </a:r>
                <a14:m>
                  <m:oMath xmlns:m="http://schemas.openxmlformats.org/officeDocument/2006/math"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𝑂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h</m:t>
                            </m:r>
                          </m:e>
                          <m:sup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𝑝</m:t>
                            </m:r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p>
                        </m:sSup>
                      </m:e>
                    </m:d>
                  </m:oMath>
                </a14:m>
                <a:r>
                  <a:rPr kumimoji="0" lang="en-US" altLang="zh-CN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, </a:t>
                </a:r>
                <a:r>
                  <a:rPr kumimoji="0" lang="zh-CN" altLang="en-US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则</a:t>
                </a:r>
                <a:r>
                  <a:rPr kumimoji="0" lang="zh-CN" altLang="zh-CN" sz="1800" b="1" i="0" u="none" strike="noStrike" kern="1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Times New Roman" panose="02020603050405020304"/>
                  </a:rPr>
                  <a:t>整体误差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𝑒</m:t>
                        </m:r>
                      </m:e>
                      <m:sub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𝑂</m:t>
                    </m:r>
                    <m:d>
                      <m:dPr>
                        <m:ctrlPr>
                          <a:rPr kumimoji="0" lang="zh-CN" altLang="zh-CN" sz="1800" b="0" i="1" u="none" strike="noStrike" kern="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0" lang="zh-CN" altLang="zh-CN" sz="1800" b="0" i="1" u="none" strike="noStrike" kern="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h</m:t>
                            </m:r>
                          </m:e>
                          <m:sup>
                            <m:r>
                              <a:rPr kumimoji="0" lang="en-US" altLang="zh-CN" sz="18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/>
                                <a:cs typeface="Times New Roman" panose="02020603050405020304"/>
                              </a:rPr>
                              <m:t>𝑝</m:t>
                            </m:r>
                          </m:sup>
                        </m:sSup>
                      </m:e>
                    </m:d>
                  </m:oMath>
                </a14:m>
                <a:endParaRPr kumimoji="0" lang="en-US" altLang="zh-CN" sz="18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1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4796" y="1697075"/>
                <a:ext cx="5513092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5" t="-10" r="6" b="1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695201" y="3250247"/>
            <a:ext cx="2090420" cy="3575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725" b="1" kern="100" dirty="0">
                <a:solidFill>
                  <a:srgbClr val="000000"/>
                </a:solidFill>
                <a:cs typeface="Times New Roman" panose="02020603050405020304"/>
              </a:rPr>
              <a:t>欧拉法有</a:t>
            </a:r>
            <a:r>
              <a:rPr lang="en-US" altLang="zh-CN" sz="1725" b="1" kern="100" dirty="0">
                <a:solidFill>
                  <a:srgbClr val="00007D">
                    <a:lumMod val="60000"/>
                    <a:lumOff val="40000"/>
                  </a:srgbClr>
                </a:solidFill>
                <a:cs typeface="Times New Roman" panose="02020603050405020304"/>
              </a:rPr>
              <a:t>1</a:t>
            </a:r>
            <a:r>
              <a:rPr lang="zh-CN" altLang="en-US" sz="1725" b="1" kern="100" dirty="0">
                <a:solidFill>
                  <a:srgbClr val="00007D">
                    <a:lumMod val="60000"/>
                    <a:lumOff val="40000"/>
                  </a:srgbClr>
                </a:solidFill>
                <a:cs typeface="Times New Roman" panose="02020603050405020304"/>
              </a:rPr>
              <a:t>阶准确度</a:t>
            </a:r>
            <a:endParaRPr lang="zh-CN" altLang="en-US" sz="1725" dirty="0">
              <a:solidFill>
                <a:srgbClr val="00007D">
                  <a:lumMod val="60000"/>
                  <a:lumOff val="4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6"/>
          <p:cNvSpPr txBox="1"/>
          <p:nvPr/>
        </p:nvSpPr>
        <p:spPr>
          <a:xfrm>
            <a:off x="395536" y="3764927"/>
            <a:ext cx="4932571" cy="38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75" b="1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我们讨论的所有方法都至少有</a:t>
            </a:r>
            <a:r>
              <a:rPr lang="en-US" altLang="zh-CN" sz="1875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1</a:t>
            </a:r>
            <a:r>
              <a:rPr lang="zh-CN" altLang="en-US" sz="1875" b="1" dirty="0">
                <a:solidFill>
                  <a:srgbClr val="000000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阶准确度</a:t>
            </a:r>
            <a:endParaRPr lang="en-US" sz="1875" b="1" dirty="0">
              <a:solidFill>
                <a:srgbClr val="000000"/>
              </a:solidFill>
              <a:latin typeface="Arial" panose="020B0604020202020204" pitchFamily="34" charset="0"/>
              <a:ea typeface="华文楷体" panose="02010600040101010101" pitchFamily="2" charset="-122"/>
            </a:endParaRPr>
          </a:p>
        </p:txBody>
      </p:sp>
      <p:sp>
        <p:nvSpPr>
          <p:cNvPr id="18" name="TextBox 11"/>
          <p:cNvSpPr txBox="1"/>
          <p:nvPr/>
        </p:nvSpPr>
        <p:spPr>
          <a:xfrm>
            <a:off x="680086" y="4509120"/>
            <a:ext cx="4932571" cy="380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75" b="1" dirty="0">
                <a:solidFill>
                  <a:srgbClr val="000000"/>
                </a:solidFill>
                <a:latin typeface="Arial" panose="020B0604020202020204" pitchFamily="34" charset="0"/>
              </a:rPr>
              <a:t>数值解法的</a:t>
            </a:r>
            <a:r>
              <a:rPr lang="zh-CN" altLang="en-US" sz="1875" b="1" dirty="0">
                <a:solidFill>
                  <a:srgbClr val="0000FF"/>
                </a:solidFill>
                <a:latin typeface="Arial" panose="020B0604020202020204" pitchFamily="34" charset="0"/>
              </a:rPr>
              <a:t>收敛性</a:t>
            </a:r>
            <a:r>
              <a:rPr lang="zh-CN" altLang="en-US" sz="1875" b="1" dirty="0">
                <a:solidFill>
                  <a:srgbClr val="000000"/>
                </a:solidFill>
                <a:latin typeface="Arial" panose="020B0604020202020204" pitchFamily="34" charset="0"/>
              </a:rPr>
              <a:t>：随着</a:t>
            </a:r>
            <a:r>
              <a:rPr lang="en-US" altLang="zh-CN" sz="1875" dirty="0">
                <a:solidFill>
                  <a:srgbClr val="000000"/>
                </a:solidFill>
                <a:latin typeface="Arial" panose="020B0604020202020204" pitchFamily="34" charset="0"/>
              </a:rPr>
              <a:t>h</a:t>
            </a:r>
            <a:r>
              <a:rPr lang="en-US" altLang="zh-CN" sz="1875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/>
              </a:rPr>
              <a:t>0</a:t>
            </a:r>
            <a:r>
              <a:rPr lang="zh-CN" altLang="en-US" sz="1875" b="1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/>
              </a:rPr>
              <a:t>，误差</a:t>
            </a:r>
            <a:r>
              <a:rPr lang="en-US" altLang="zh-CN" sz="1875" dirty="0">
                <a:solidFill>
                  <a:srgbClr val="000000"/>
                </a:solidFill>
                <a:latin typeface="Arial" panose="020B0604020202020204" pitchFamily="34" charset="0"/>
                <a:sym typeface="Symbol" panose="05050102010706020507"/>
              </a:rPr>
              <a:t>0</a:t>
            </a:r>
            <a:endParaRPr lang="en-US" sz="1875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向后欧拉法与休恩（梯形）法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16</a:t>
            </a:fld>
            <a:endParaRPr lang="zh-CN" altLang="en-US" sz="900"/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679133" y="1907163"/>
            <a:ext cx="6318554" cy="3618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从数值积分的角度推导</a:t>
            </a:r>
            <a:endParaRPr kumimoji="0" lang="zh-CN" altLang="zh-CN" sz="1800" b="1" i="0" u="none" strike="noStrike" kern="1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7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向后欧拉法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7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休恩法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两者均为单步、</a:t>
            </a:r>
            <a:r>
              <a:rPr kumimoji="0" lang="zh-CN" altLang="en-US" sz="1950" b="1" i="1" u="sng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隐格式方法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, 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每步计算要求解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非线性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方程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7D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例</a:t>
            </a: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:</a:t>
            </a:r>
            <a:r>
              <a:rPr kumimoji="0" lang="zh-CN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用向后欧拉法求解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1800" b="1" i="0" u="none" strike="noStrike" kern="100" cap="none" spc="-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515572" y="2386058"/>
            <a:ext cx="758190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500" b="1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右矩形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908070" y="2298713"/>
                <a:ext cx="3516757" cy="458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sz="1650" i="1" kern="100" spc="-3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+</m:t>
                    </m:r>
                    <m:nary>
                      <m:naryPr>
                        <m:limLoc m:val="subSup"/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</m:sup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𝑓</m:t>
                        </m:r>
                        <m:d>
                          <m:d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d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𝑠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, 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  <m:d>
                              <m:dPr>
                                <m:ctrlPr>
                                  <a:rPr lang="zh-CN" altLang="zh-CN" sz="165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</a:rPr>
                                </m:ctrlPr>
                              </m:dPr>
                              <m:e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𝑑𝑠</m:t>
                        </m:r>
                      </m:e>
                    </m:nary>
                  </m:oMath>
                </a14:m>
                <a:r>
                  <a:rPr lang="zh-CN" altLang="en-US" sz="165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070" y="2298713"/>
                <a:ext cx="3516757" cy="458470"/>
              </a:xfrm>
              <a:prstGeom prst="rect">
                <a:avLst/>
              </a:prstGeom>
              <a:blipFill rotWithShape="1">
                <a:blip r:embed="rId2"/>
                <a:stretch>
                  <a:fillRect l="-1" t="-3" r="4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圆角矩形 17"/>
          <p:cNvSpPr/>
          <p:nvPr/>
        </p:nvSpPr>
        <p:spPr>
          <a:xfrm>
            <a:off x="2613821" y="2332159"/>
            <a:ext cx="1667042" cy="387408"/>
          </a:xfrm>
          <a:prstGeom prst="roundRect">
            <a:avLst/>
          </a:prstGeom>
          <a:ln w="22225">
            <a:solidFill>
              <a:srgbClr val="00007D">
                <a:lumMod val="60000"/>
                <a:lumOff val="40000"/>
              </a:srgbClr>
            </a:solidFill>
            <a:prstDash val="dash"/>
          </a:ln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3501110" y="1711146"/>
                <a:ext cx="2088515" cy="591185"/>
              </a:xfrm>
              <a:prstGeom prst="rect">
                <a:avLst/>
              </a:prstGeom>
              <a:ln w="12700">
                <a:noFill/>
                <a:prstDash val="dash"/>
              </a:ln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要求解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zh-CN" sz="165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zh-CN" altLang="en-US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=</m:t>
                              </m:r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𝑡</m:t>
                                  </m:r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, </m:t>
                                  </m:r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,</m:t>
                              </m:r>
                              <m:r>
                                <a:rPr lang="en-US" altLang="zh-CN" sz="1650" i="1" smtClean="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16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altLang="zh-CN" sz="165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110" y="1711146"/>
                <a:ext cx="2088515" cy="591185"/>
              </a:xfrm>
              <a:prstGeom prst="rect">
                <a:avLst/>
              </a:prstGeom>
              <a:blipFill rotWithShape="1">
                <a:blip r:embed="rId3"/>
                <a:stretch>
                  <a:fillRect l="-17" t="-77" r="17" b="77"/>
                </a:stretch>
              </a:blipFill>
              <a:ln w="12700"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4674593" y="2359912"/>
                <a:ext cx="1621015" cy="374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h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𝑓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𝑛</m:t>
                                  </m:r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593" y="2359912"/>
                <a:ext cx="1621015" cy="374650"/>
              </a:xfrm>
              <a:prstGeom prst="rect">
                <a:avLst/>
              </a:prstGeom>
              <a:blipFill rotWithShape="1">
                <a:blip r:embed="rId4"/>
                <a:stretch>
                  <a:fillRect l="-22" t="-67" r="-11778" b="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339247" y="3054625"/>
                <a:ext cx="2807335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+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h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𝑓</m:t>
                      </m:r>
                      <m:r>
                        <a:rPr lang="en-US" altLang="zh-CN" sz="1650" i="1" smtClean="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, 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smtClean="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247" y="3054625"/>
                <a:ext cx="2807335" cy="344805"/>
              </a:xfrm>
              <a:prstGeom prst="rect">
                <a:avLst/>
              </a:prstGeom>
              <a:blipFill rotWithShape="1">
                <a:blip r:embed="rId5"/>
                <a:stretch>
                  <a:fillRect l="-19" t="-80" r="19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3581114" y="2674931"/>
                <a:ext cx="3038530" cy="4514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1650" i="1" spc="-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0" i="1" spc="-1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1</m:t>
                        </m:r>
                      </m:num>
                      <m:den>
                        <m:r>
                          <a:rPr lang="en-US" altLang="zh-CN" sz="1650" i="1" spc="-1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zh-CN" altLang="zh-CN" sz="1650" i="1" spc="-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 spc="-1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h</m:t>
                        </m:r>
                      </m:e>
                      <m:sub>
                        <m:r>
                          <a:rPr lang="en-US" altLang="zh-CN" sz="1650" i="1" spc="-1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𝑛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zh-CN" altLang="zh-CN" sz="1650" i="1" spc="-1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 spc="-2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𝑓</m:t>
                        </m:r>
                        <m:r>
                          <a:rPr lang="en-US" altLang="zh-CN" sz="1650" i="1" spc="-100" smtClean="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1650" i="1" spc="-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 spc="-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spc="-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50" i="1" spc="-1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,</m:t>
                        </m:r>
                        <m:r>
                          <a:rPr lang="en-US" altLang="zh-CN" sz="1650" i="1" kern="100" spc="-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  <m:r>
                          <a:rPr lang="en-US" altLang="zh-CN" sz="1650" i="1" kern="100" spc="-100" smtClean="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1650" i="1" spc="-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 spc="-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 spc="-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1650" i="1" kern="100" spc="-300" smtClean="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)</m:t>
                        </m:r>
                        <m:r>
                          <a:rPr lang="en-US" altLang="zh-CN" sz="1650" i="1" kern="100" spc="-500" smtClean="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)</m:t>
                        </m:r>
                        <m:r>
                          <a:rPr lang="en-US" altLang="zh-CN" sz="1650" i="1" spc="-5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+</m:t>
                        </m:r>
                        <m:r>
                          <a:rPr lang="en-US" altLang="zh-CN" sz="1650" i="1" spc="-2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𝑓</m:t>
                        </m:r>
                        <m:r>
                          <a:rPr lang="en-US" altLang="zh-CN" sz="1650" i="1" spc="-100" smtClean="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1650" i="1" spc="-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50" i="1" spc="-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spc="-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𝑛</m:t>
                            </m:r>
                            <m:r>
                              <a:rPr lang="en-US" altLang="zh-CN" sz="1650" i="1" spc="-100" smtClean="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+</m:t>
                            </m:r>
                            <m:r>
                              <a:rPr lang="en-US" altLang="zh-CN" sz="1650" i="1" spc="-300" smtClean="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50" i="1" spc="-100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,</m:t>
                        </m:r>
                        <m:r>
                          <a:rPr lang="en-US" altLang="zh-CN" sz="1650" i="1" kern="100" spc="-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  <m:r>
                          <a:rPr lang="en-US" altLang="zh-CN" sz="1650" i="1" kern="100" spc="-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1650" i="1" spc="-1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 spc="-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 spc="-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 spc="-100" smtClean="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</m:t>
                            </m:r>
                            <m:r>
                              <a:rPr lang="en-US" altLang="zh-CN" sz="1650" i="1" kern="100" spc="-300" smtClean="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650" i="1" kern="100" spc="-3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))</m:t>
                        </m:r>
                      </m:e>
                    </m:d>
                  </m:oMath>
                </a14:m>
                <a:r>
                  <a:rPr lang="zh-CN" altLang="en-US" sz="16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114" y="2674931"/>
                <a:ext cx="3038530" cy="451485"/>
              </a:xfrm>
              <a:prstGeom prst="rect">
                <a:avLst/>
              </a:prstGeom>
              <a:blipFill rotWithShape="1">
                <a:blip r:embed="rId6"/>
                <a:stretch>
                  <a:fillRect l="-11" t="-69" r="13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/>
          <p:cNvSpPr/>
          <p:nvPr/>
        </p:nvSpPr>
        <p:spPr>
          <a:xfrm>
            <a:off x="6441503" y="2718005"/>
            <a:ext cx="566420" cy="321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500" b="1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梯形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1780383" y="3332660"/>
                <a:ext cx="4184015" cy="561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=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+</m:t>
                      </m:r>
                      <m:f>
                        <m:f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h</m:t>
                          </m:r>
                        </m:e>
                        <m:sub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+</m:t>
                          </m:r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𝑛</m:t>
                                  </m:r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𝑛</m:t>
                                  </m:r>
                                  <m:r>
                                    <a:rPr lang="en-US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383" y="3332660"/>
                <a:ext cx="4184015" cy="561975"/>
              </a:xfrm>
              <a:prstGeom prst="rect">
                <a:avLst/>
              </a:prstGeom>
              <a:blipFill rotWithShape="1">
                <a:blip r:embed="rId7"/>
                <a:stretch>
                  <a:fillRect l="-11" t="-32" r="11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3459013" y="4303435"/>
                <a:ext cx="1351915" cy="5892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=−100</m:t>
                                </m:r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9013" y="4303435"/>
                <a:ext cx="1351915" cy="589280"/>
              </a:xfrm>
              <a:prstGeom prst="rect">
                <a:avLst/>
              </a:prstGeom>
              <a:blipFill rotWithShape="1">
                <a:blip r:embed="rId8"/>
                <a:stretch>
                  <a:fillRect l="-12" t="-7" r="12" b="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705780" y="4437599"/>
                <a:ext cx="2379980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步长</a:t>
                </a:r>
                <a:r>
                  <a:rPr lang="en-US" altLang="zh-CN" sz="1650">
                    <a:solidFill>
                      <a:srgbClr val="000000"/>
                    </a:solidFill>
                    <a:latin typeface="Arial" panose="020B0604020202020204" pitchFamily="34" charset="0"/>
                  </a:rPr>
                  <a:t>h=0.025, </a:t>
                </a:r>
                <a:r>
                  <a:rPr lang="zh-CN" altLang="zh-CN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165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0.15</m:t>
                        </m:r>
                      </m:e>
                    </m:d>
                  </m:oMath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780" y="4437599"/>
                <a:ext cx="2379980" cy="344805"/>
              </a:xfrm>
              <a:prstGeom prst="rect">
                <a:avLst/>
              </a:prstGeom>
              <a:blipFill rotWithShape="1">
                <a:blip r:embed="rId9"/>
                <a:stretch>
                  <a:fillRect l="-18" t="-64" r="1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/>
              <p:cNvGraphicFramePr>
                <a:graphicFrameLocks noGrp="1"/>
              </p:cNvGraphicFramePr>
              <p:nvPr/>
            </p:nvGraphicFramePr>
            <p:xfrm>
              <a:off x="827543" y="5373518"/>
              <a:ext cx="6344920" cy="685800"/>
            </p:xfrm>
            <a:graphic>
              <a:graphicData uri="http://schemas.openxmlformats.org/drawingml/2006/table">
                <a:tbl>
                  <a:tblPr/>
                  <a:tblGrid>
                    <a:gridCol w="587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489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487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48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90551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918845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949960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24560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 dirty="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effectLst/>
                            </a:rPr>
                            <a:t>0.075</a:t>
                          </a:r>
                          <a:endParaRPr lang="zh-CN" sz="1500" kern="100" dirty="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6510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effectLst/>
                                        <a:latin typeface="Cambria Math" panose="02040503050406030204"/>
                                      </a:rPr>
                                      <m:t>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sz="1500" kern="1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/>
                                    <a:ea typeface="+mn-ea"/>
                                    <a:cs typeface="+mn-cs"/>
                                  </a:rPr>
                                  <m:t>0.285714</m:t>
                                </m:r>
                              </m:oMath>
                            </m:oMathPara>
                          </a14:m>
                          <a:endParaRPr lang="zh-CN" sz="1500" kern="1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/>
                                    <a:ea typeface="+mn-ea"/>
                                    <a:cs typeface="+mn-cs"/>
                                  </a:rPr>
                                  <m:t>0.0816327</m:t>
                                </m:r>
                              </m:oMath>
                            </m:oMathPara>
                          </a14:m>
                          <a:endParaRPr lang="zh-CN" sz="1500" kern="1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/>
                                    <a:ea typeface="+mn-ea"/>
                                    <a:cs typeface="+mn-cs"/>
                                  </a:rPr>
                                  <m:t>0.023323</m:t>
                                </m:r>
                              </m:oMath>
                            </m:oMathPara>
                          </a14:m>
                          <a:endParaRPr lang="zh-CN" sz="1500" kern="1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0.006663</a:t>
                          </a:r>
                          <a:endParaRPr lang="zh-CN" sz="1500" kern="1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0.001904</a:t>
                          </a:r>
                          <a:endParaRPr lang="zh-CN" sz="1500" kern="1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0.000544</a:t>
                          </a:r>
                          <a:endParaRPr lang="zh-CN" sz="1500" kern="1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0180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>
                                    <a:effectLst/>
                                    <a:latin typeface="Cambria Math" panose="020405030504060302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sz="15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zh-CN" sz="1500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500" kern="100">
                                            <a:effectLst/>
                                            <a:latin typeface="Cambria Math" panose="02040503050406030204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sz="1500" kern="100">
                                            <a:effectLst/>
                                            <a:latin typeface="Cambria Math" panose="02040503050406030204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1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0.082085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0.006738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0.000553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4.54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C00000"/>
                              </a:solidFill>
                              <a:effectLst/>
                            </a:rPr>
                            <a:t>-5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3.73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C00000"/>
                              </a:solidFill>
                              <a:effectLst/>
                            </a:rPr>
                            <a:t>-6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3.06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C00000"/>
                              </a:solidFill>
                              <a:effectLst/>
                            </a:rPr>
                            <a:t>-7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/>
              <p:cNvGraphicFramePr>
                <a:graphicFrameLocks noGrp="1"/>
              </p:cNvGraphicFramePr>
              <p:nvPr/>
            </p:nvGraphicFramePr>
            <p:xfrm>
              <a:off x="827543" y="5373518"/>
              <a:ext cx="6344920" cy="685800"/>
            </p:xfrm>
            <a:graphic>
              <a:graphicData uri="http://schemas.openxmlformats.org/drawingml/2006/table">
                <a:tbl>
                  <a:tblPr/>
                  <a:tblGrid>
                    <a:gridCol w="587375"/>
                    <a:gridCol w="248920"/>
                    <a:gridCol w="904875"/>
                    <a:gridCol w="904875"/>
                    <a:gridCol w="905510"/>
                    <a:gridCol w="918845"/>
                    <a:gridCol w="949960"/>
                    <a:gridCol w="924560"/>
                  </a:tblGrid>
                  <a:tr h="228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0.05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effectLst/>
                            </a:rPr>
                            <a:t>0.075</a:t>
                          </a:r>
                          <a:endParaRPr lang="zh-CN" sz="1500" kern="100" dirty="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0.125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effectLst/>
                            </a:rPr>
                            <a:t>0.15</a:t>
                          </a:r>
                          <a:endParaRPr lang="zh-CN" sz="1500" kern="100"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28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  <a:endParaRPr lang="zh-CN" sz="1500" kern="1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0.006663</a:t>
                          </a:r>
                          <a:endParaRPr lang="zh-CN" sz="1500" kern="1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0.001904</a:t>
                          </a:r>
                          <a:endParaRPr lang="zh-CN" sz="1500" kern="1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marL="0" algn="ctr" defTabSz="914400" rtl="0" eaLnBrk="1" latinLnBrk="0" hangingPunct="1">
                            <a:spcAft>
                              <a:spcPts val="0"/>
                            </a:spcAft>
                          </a:pPr>
                          <a:r>
                            <a:rPr lang="en-US" sz="1500" kern="10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0.000544</a:t>
                          </a:r>
                          <a:endParaRPr lang="zh-CN" sz="1500" kern="10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51435" marR="51435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  <a:tr h="2286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0"/>
                        </a:blipFill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1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0.082085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0.006738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0.000553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4.54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C00000"/>
                              </a:solidFill>
                              <a:effectLst/>
                            </a:rPr>
                            <a:t>-5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 anchor="ctr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3.73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C00000"/>
                              </a:solidFill>
                              <a:effectLst/>
                            </a:rPr>
                            <a:t>-6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Arial" panose="020B0604020202020204"/>
                              <a:ea typeface="宋体" panose="02010600030101010101" pitchFamily="2" charset="-122"/>
                            </a:defRPr>
                          </a:lvl9pPr>
                        </a:lstStyle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3.06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  <a:sym typeface="Symbol" panose="05050102010706020507"/>
                            </a:rPr>
                            <a:t></a:t>
                          </a:r>
                          <a:r>
                            <a:rPr lang="en-US" sz="1500" kern="100" dirty="0">
                              <a:solidFill>
                                <a:srgbClr val="C00000"/>
                              </a:solidFill>
                              <a:effectLst/>
                            </a:rPr>
                            <a:t>10</a:t>
                          </a:r>
                          <a:r>
                            <a:rPr lang="en-US" sz="1500" kern="100" baseline="30000" dirty="0">
                              <a:solidFill>
                                <a:srgbClr val="C00000"/>
                              </a:solidFill>
                              <a:effectLst/>
                            </a:rPr>
                            <a:t>-7</a:t>
                          </a:r>
                          <a:endParaRPr lang="zh-CN" sz="1500" kern="100" dirty="0">
                            <a:solidFill>
                              <a:srgbClr val="C00000"/>
                            </a:solidFill>
                            <a:effectLst/>
                            <a:latin typeface="Calibri" panose="020F0502020204030204"/>
                            <a:ea typeface="宋体" panose="02010600030101010101" pitchFamily="2" charset="-122"/>
                            <a:cs typeface="Times New Roman" panose="02020603050405020304"/>
                          </a:endParaRPr>
                        </a:p>
                      </a:txBody>
                      <a:tcPr marL="5400" marR="5400" marT="0" marB="0">
                        <a:lnL w="12700" cmpd="sng">
                          <a:solidFill>
                            <a:srgbClr val="000000"/>
                          </a:solidFill>
                        </a:lnL>
                        <a:lnR w="12700" cmpd="sng">
                          <a:solidFill>
                            <a:srgbClr val="000000"/>
                          </a:solidFill>
                        </a:lnR>
                        <a:lnT w="12700" cmpd="sng">
                          <a:solidFill>
                            <a:srgbClr val="000000"/>
                          </a:solidFill>
                        </a:lnT>
                        <a:lnB w="12700" cmpd="sng">
                          <a:solidFill>
                            <a:srgbClr val="000000"/>
                          </a:solidFill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28" name="任意多边形 27"/>
          <p:cNvSpPr/>
          <p:nvPr/>
        </p:nvSpPr>
        <p:spPr>
          <a:xfrm>
            <a:off x="4274934" y="2622304"/>
            <a:ext cx="443753" cy="121090"/>
          </a:xfrm>
          <a:custGeom>
            <a:avLst/>
            <a:gdLst>
              <a:gd name="connsiteX0" fmla="*/ 0 w 591670"/>
              <a:gd name="connsiteY0" fmla="*/ 0 h 161453"/>
              <a:gd name="connsiteX1" fmla="*/ 251011 w 591670"/>
              <a:gd name="connsiteY1" fmla="*/ 161365 h 161453"/>
              <a:gd name="connsiteX2" fmla="*/ 591670 w 591670"/>
              <a:gd name="connsiteY2" fmla="*/ 17929 h 161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670" h="161453">
                <a:moveTo>
                  <a:pt x="0" y="0"/>
                </a:moveTo>
                <a:cubicBezTo>
                  <a:pt x="76199" y="79188"/>
                  <a:pt x="152399" y="158377"/>
                  <a:pt x="251011" y="161365"/>
                </a:cubicBezTo>
                <a:cubicBezTo>
                  <a:pt x="349623" y="164353"/>
                  <a:pt x="470646" y="91141"/>
                  <a:pt x="591670" y="17929"/>
                </a:cubicBezTo>
              </a:path>
            </a:pathLst>
          </a:cu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txBody>
          <a:bodyPr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9" name="任意多边形 28"/>
          <p:cNvSpPr/>
          <p:nvPr/>
        </p:nvSpPr>
        <p:spPr>
          <a:xfrm rot="1824437">
            <a:off x="3147272" y="2808497"/>
            <a:ext cx="443753" cy="121090"/>
          </a:xfrm>
          <a:custGeom>
            <a:avLst/>
            <a:gdLst>
              <a:gd name="connsiteX0" fmla="*/ 0 w 591670"/>
              <a:gd name="connsiteY0" fmla="*/ 0 h 161453"/>
              <a:gd name="connsiteX1" fmla="*/ 251011 w 591670"/>
              <a:gd name="connsiteY1" fmla="*/ 161365 h 161453"/>
              <a:gd name="connsiteX2" fmla="*/ 591670 w 591670"/>
              <a:gd name="connsiteY2" fmla="*/ 17929 h 161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670" h="161453">
                <a:moveTo>
                  <a:pt x="0" y="0"/>
                </a:moveTo>
                <a:cubicBezTo>
                  <a:pt x="76199" y="79188"/>
                  <a:pt x="152399" y="158377"/>
                  <a:pt x="251011" y="161365"/>
                </a:cubicBezTo>
                <a:cubicBezTo>
                  <a:pt x="349623" y="164353"/>
                  <a:pt x="470646" y="91141"/>
                  <a:pt x="591670" y="17929"/>
                </a:cubicBezTo>
              </a:path>
            </a:pathLst>
          </a:custGeom>
          <a:noFill/>
          <a:ln>
            <a:solidFill>
              <a:srgbClr val="0000FF"/>
            </a:solidFill>
            <a:headEnd type="none" w="med" len="med"/>
            <a:tailEnd type="triangle" w="med" len="med"/>
          </a:ln>
        </p:spPr>
        <p:txBody>
          <a:bodyPr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ldLvl="0" animBg="1"/>
      <p:bldP spid="20" grpId="0"/>
      <p:bldP spid="21" grpId="0"/>
      <p:bldP spid="22" grpId="0"/>
      <p:bldP spid="23" grpId="0"/>
      <p:bldP spid="24" grpId="0"/>
      <p:bldP spid="25" grpId="0"/>
      <p:bldP spid="26" grpId="0"/>
      <p:bldP spid="28" grpId="0" bldLvl="0" animBg="1"/>
      <p:bldP spid="2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向后欧拉法与休恩法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17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"/>
              <p:cNvSpPr txBox="1">
                <a:spLocks noChangeArrowheads="1"/>
              </p:cNvSpPr>
              <p:nvPr/>
            </p:nvSpPr>
            <p:spPr bwMode="auto">
              <a:xfrm>
                <a:off x="643352" y="1841180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例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: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用向后欧拉法求解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随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n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增大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误差趋于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0</a:t>
                </a: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比</a:t>
                </a:r>
                <a:r>
                  <a:rPr kumimoji="0" lang="zh-CN" altLang="en-US" sz="1800" b="1" i="0" u="sng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欧拉法</a:t>
                </a:r>
                <a:r>
                  <a:rPr kumimoji="0" lang="zh-CN" altLang="en-US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效果好得多</a:t>
                </a:r>
                <a:endParaRPr kumimoji="0" lang="en-US" altLang="zh-CN" sz="18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向后欧拉法的</a:t>
                </a:r>
                <a:r>
                  <a:rPr kumimoji="0" lang="zh-CN" altLang="en-US" sz="21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稳定性</a:t>
                </a:r>
                <a:endParaRPr kumimoji="0" lang="en-US" altLang="zh-CN" sz="21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模型问题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8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800" b="0" i="1" u="none" strike="noStrike" kern="100" cap="none" spc="-80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kumimoji="0" lang="en-US" altLang="zh-CN" sz="1800" b="0" i="1" u="none" strike="noStrike" kern="10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zh-CN" altLang="en-US" sz="18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𝜆</m:t>
                    </m:r>
                    <m:r>
                      <a:rPr kumimoji="0" lang="en-US" altLang="zh-CN" sz="18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</m:oMath>
                </a14:m>
                <a:endParaRPr kumimoji="0" lang="en-US" altLang="zh-CN" sz="18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4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352" y="1841180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2" t="-9" r="6" b="1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/>
              <p:cNvSpPr/>
              <p:nvPr/>
            </p:nvSpPr>
            <p:spPr>
              <a:xfrm>
                <a:off x="3409264" y="1700081"/>
                <a:ext cx="1351915" cy="58928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=−100</m:t>
                                </m:r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𝑦</m:t>
                                </m:r>
                                <m:d>
                                  <m:dPr>
                                    <m:ctrlPr>
                                      <a:rPr lang="zh-CN" altLang="zh-CN" sz="165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1650" i="1" kern="10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/>
                                        <a:cs typeface="Times New Roman" panose="02020603050405020304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sz="1650" i="1" kern="100">
                                    <a:solidFill>
                                      <a:srgbClr val="000000"/>
                                    </a:solidFill>
                                    <a:latin typeface="Cambria Math" panose="02040503050406030204"/>
                                    <a:cs typeface="Times New Roman" panose="02020603050405020304"/>
                                  </a:rPr>
                                  <m:t>=1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矩形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264" y="1700081"/>
                <a:ext cx="1351915" cy="589280"/>
              </a:xfrm>
              <a:prstGeom prst="rect">
                <a:avLst/>
              </a:prstGeom>
              <a:blipFill rotWithShape="1">
                <a:blip r:embed="rId3"/>
                <a:stretch>
                  <a:fillRect l="-43" t="-32" r="43" b="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矩形 41"/>
              <p:cNvSpPr/>
              <p:nvPr/>
            </p:nvSpPr>
            <p:spPr>
              <a:xfrm>
                <a:off x="4656031" y="1866299"/>
                <a:ext cx="2379980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步长</a:t>
                </a:r>
                <a:r>
                  <a:rPr lang="en-US" altLang="zh-CN" sz="1650">
                    <a:solidFill>
                      <a:srgbClr val="000000"/>
                    </a:solidFill>
                    <a:latin typeface="Arial" panose="020B0604020202020204" pitchFamily="34" charset="0"/>
                  </a:rPr>
                  <a:t>h=0.025, </a:t>
                </a:r>
                <a:r>
                  <a:rPr lang="zh-CN" altLang="zh-CN" sz="165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165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5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0.15</m:t>
                        </m:r>
                      </m:e>
                    </m:d>
                  </m:oMath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矩形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031" y="1866299"/>
                <a:ext cx="2379980" cy="344805"/>
              </a:xfrm>
              <a:prstGeom prst="rect">
                <a:avLst/>
              </a:prstGeom>
              <a:blipFill rotWithShape="1">
                <a:blip r:embed="rId4"/>
                <a:stretch>
                  <a:fillRect l="-9" t="-10" r="9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AutoShape 6"/>
          <p:cNvSpPr>
            <a:spLocks noChangeAspect="1" noChangeArrowheads="1"/>
          </p:cNvSpPr>
          <p:nvPr/>
        </p:nvSpPr>
        <p:spPr bwMode="auto">
          <a:xfrm>
            <a:off x="3449655" y="3152058"/>
            <a:ext cx="1714500" cy="128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4" name="Picture 8"/>
          <p:cNvPicPr>
            <a:picLocks noChangeAspect="1" noChangeArrowheads="1"/>
          </p:cNvPicPr>
          <p:nvPr/>
        </p:nvPicPr>
        <p:blipFill>
          <a:blip r:embed="rId5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5665" y="2247681"/>
            <a:ext cx="2486240" cy="1611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5" name="直接箭头连接符 44"/>
          <p:cNvCxnSpPr/>
          <p:nvPr/>
        </p:nvCxnSpPr>
        <p:spPr bwMode="auto">
          <a:xfrm flipH="1">
            <a:off x="4730338" y="2813735"/>
            <a:ext cx="324036" cy="162018"/>
          </a:xfrm>
          <a:prstGeom prst="straightConnector1">
            <a:avLst/>
          </a:prstGeom>
          <a:solidFill>
            <a:srgbClr val="9999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6" name="TextBox 3"/>
          <p:cNvSpPr txBox="1"/>
          <p:nvPr/>
        </p:nvSpPr>
        <p:spPr>
          <a:xfrm>
            <a:off x="4932074" y="2597711"/>
            <a:ext cx="8100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准确解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1003542" y="3383833"/>
                <a:ext cx="3390900" cy="5632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 spc="-4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 spc="-8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 kern="100" spc="-4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+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h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𝜆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 ⟹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 spc="-4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50" i="1" kern="100" spc="-5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1−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h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𝜆</m:t>
                          </m:r>
                        </m:den>
                      </m:f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542" y="3383833"/>
                <a:ext cx="3390900" cy="563245"/>
              </a:xfrm>
              <a:prstGeom prst="rect">
                <a:avLst/>
              </a:prstGeom>
              <a:blipFill rotWithShape="1">
                <a:blip r:embed="rId6"/>
                <a:stretch>
                  <a:fillRect l="-7" t="-98" r="7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/>
              <p:cNvSpPr/>
              <p:nvPr/>
            </p:nvSpPr>
            <p:spPr>
              <a:xfrm>
                <a:off x="924389" y="3891403"/>
                <a:ext cx="3438084" cy="344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zh-CN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1650" i="1" kern="100" spc="-2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存在扰动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5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𝛿</m:t>
                        </m:r>
                      </m:e>
                      <m:sub>
                        <m:r>
                          <a:rPr lang="en-US" altLang="zh-CN" sz="1650" i="1">
                            <a:solidFill>
                              <a:srgbClr val="000000"/>
                            </a:solidFill>
                            <a:latin typeface="Cambria Math" panose="02040503050406030204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16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, </a:t>
                </a: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引起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1650" i="1" kern="100" spc="-2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1650" i="1" kern="100" spc="-2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</m:oMath>
                </a14:m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的误差为</a:t>
                </a:r>
              </a:p>
            </p:txBody>
          </p:sp>
        </mc:Choice>
        <mc:Fallback xmlns=""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389" y="3891403"/>
                <a:ext cx="3438084" cy="344805"/>
              </a:xfrm>
              <a:prstGeom prst="rect">
                <a:avLst/>
              </a:prstGeom>
              <a:blipFill rotWithShape="1">
                <a:blip r:embed="rId7"/>
                <a:stretch>
                  <a:fillRect l="-13" t="-36" r="1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矩形 48"/>
              <p:cNvSpPr/>
              <p:nvPr/>
            </p:nvSpPr>
            <p:spPr>
              <a:xfrm>
                <a:off x="1010485" y="4110888"/>
                <a:ext cx="1405255" cy="5632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 spc="-4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50" i="1" kern="100" spc="-5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1−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h</m:t>
                          </m:r>
                          <m:r>
                            <a:rPr lang="en-US" altLang="zh-CN" sz="1650" i="1" kern="100" spc="-4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𝜆</m:t>
                          </m:r>
                        </m:den>
                      </m:f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spc="-100">
                              <a:solidFill>
                                <a:srgbClr val="000000"/>
                              </a:solidFill>
                              <a:latin typeface="Cambria Math" panose="02040503050406030204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矩形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85" y="4110888"/>
                <a:ext cx="1405255" cy="563245"/>
              </a:xfrm>
              <a:prstGeom prst="rect">
                <a:avLst/>
              </a:prstGeom>
              <a:blipFill rotWithShape="1">
                <a:blip r:embed="rId8"/>
                <a:stretch>
                  <a:fillRect l="-14" t="-95" r="14" b="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/>
              <p:cNvSpPr/>
              <p:nvPr/>
            </p:nvSpPr>
            <p:spPr>
              <a:xfrm>
                <a:off x="2876726" y="3166316"/>
                <a:ext cx="1045845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1650">
                    <a:solidFill>
                      <a:srgbClr val="000000"/>
                    </a:solidFill>
                    <a:latin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50" spc="-100" smtClean="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</a:rPr>
                      <m:t>Re</m:t>
                    </m:r>
                    <m:r>
                      <a:rPr lang="en-US" altLang="zh-CN" sz="1650" spc="-100" smtClean="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</a:rPr>
                      <m:t>(</m:t>
                    </m:r>
                    <m:r>
                      <a:rPr lang="en-US" altLang="zh-CN" sz="1650" i="1" spc="-10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</a:rPr>
                      <m:t>𝜆</m:t>
                    </m:r>
                    <m:r>
                      <a:rPr lang="en-US" altLang="zh-CN" sz="1650" spc="-50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</a:rPr>
                      <m:t>)</m:t>
                    </m:r>
                    <m:r>
                      <a:rPr lang="en-US" altLang="zh-CN" sz="1650" spc="-40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</a:rPr>
                      <m:t>≤</m:t>
                    </m:r>
                    <m:r>
                      <a:rPr lang="en-US" altLang="zh-CN" sz="1650" spc="-100">
                        <a:solidFill>
                          <a:srgbClr val="00007D">
                            <a:lumMod val="60000"/>
                            <a:lumOff val="40000"/>
                          </a:srgbClr>
                        </a:solidFill>
                        <a:latin typeface="Cambria Math" panose="02040503050406030204"/>
                      </a:rPr>
                      <m:t>0</m:t>
                    </m:r>
                  </m:oMath>
                </a14:m>
                <a:r>
                  <a:rPr lang="en-US" altLang="zh-CN" sz="1650">
                    <a:solidFill>
                      <a:srgbClr val="000000"/>
                    </a:solidFill>
                    <a:latin typeface="Arial" panose="020B0604020202020204" pitchFamily="34" charset="0"/>
                  </a:rPr>
                  <a:t>)</a:t>
                </a:r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726" y="3166316"/>
                <a:ext cx="1045845" cy="344805"/>
              </a:xfrm>
              <a:prstGeom prst="rect">
                <a:avLst/>
              </a:prstGeom>
              <a:blipFill rotWithShape="1">
                <a:blip r:embed="rId9"/>
                <a:stretch>
                  <a:fillRect l="-17" t="-60" r="17" b="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右箭头 50"/>
          <p:cNvSpPr/>
          <p:nvPr/>
        </p:nvSpPr>
        <p:spPr>
          <a:xfrm>
            <a:off x="2356803" y="4334033"/>
            <a:ext cx="376036" cy="176284"/>
          </a:xfrm>
          <a:prstGeom prst="rightArrow">
            <a:avLst/>
          </a:prstGeom>
          <a:solidFill>
            <a:srgbClr val="00B050"/>
          </a:solidFill>
          <a:ln>
            <a:solidFill>
              <a:srgbClr val="000000"/>
            </a:solidFill>
          </a:ln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矩形 51"/>
              <p:cNvSpPr/>
              <p:nvPr/>
            </p:nvSpPr>
            <p:spPr>
              <a:xfrm>
                <a:off x="2722276" y="4203713"/>
                <a:ext cx="2670007" cy="4648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稳定的条件是</a:t>
                </a:r>
                <a:r>
                  <a:rPr lang="en-US" altLang="zh-CN" sz="16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:</a:t>
                </a:r>
                <a:r>
                  <a:rPr lang="zh-CN" altLang="zh-CN" sz="165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1−</m:t>
                            </m:r>
                            <m:r>
                              <a:rPr lang="en-US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h</m:t>
                            </m:r>
                            <m:r>
                              <a:rPr lang="en-US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</a:rPr>
                              <m:t>𝜆</m:t>
                            </m:r>
                          </m:den>
                        </m:f>
                      </m:e>
                    </m:d>
                    <m:r>
                      <a:rPr lang="en-US" altLang="zh-CN" sz="1650" i="1">
                        <a:solidFill>
                          <a:srgbClr val="000000"/>
                        </a:solidFill>
                        <a:latin typeface="Cambria Math" panose="02040503050406030204"/>
                      </a:rPr>
                      <m:t>≤1</m:t>
                    </m:r>
                  </m:oMath>
                </a14:m>
                <a:endParaRPr lang="zh-CN" altLang="en-US" sz="1650" b="1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2" name="矩形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276" y="4203713"/>
                <a:ext cx="2670007" cy="464820"/>
              </a:xfrm>
              <a:prstGeom prst="rect">
                <a:avLst/>
              </a:prstGeom>
              <a:blipFill rotWithShape="1">
                <a:blip r:embed="rId10"/>
                <a:stretch>
                  <a:fillRect l="-1" t="-3" r="19" b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/>
              <p:cNvSpPr/>
              <p:nvPr/>
            </p:nvSpPr>
            <p:spPr>
              <a:xfrm>
                <a:off x="949820" y="4643948"/>
                <a:ext cx="1353281" cy="3448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1650" b="1" spc="-100" smtClean="0">
                        <a:solidFill>
                          <a:srgbClr val="000000"/>
                        </a:solidFill>
                        <a:latin typeface="Cambria Math" panose="02040503050406030204"/>
                      </a:rPr>
                      <m:t>|</m:t>
                    </m:r>
                    <m:r>
                      <a:rPr lang="en-US" altLang="zh-CN" sz="1650" i="1" spc="-100">
                        <a:solidFill>
                          <a:srgbClr val="000000"/>
                        </a:solidFill>
                        <a:latin typeface="Cambria Math" panose="02040503050406030204"/>
                      </a:rPr>
                      <m:t>h</m:t>
                    </m:r>
                    <m:r>
                      <a:rPr lang="en-US" altLang="zh-CN" sz="1650" i="1" spc="-500">
                        <a:solidFill>
                          <a:srgbClr val="000000"/>
                        </a:solidFill>
                        <a:latin typeface="Cambria Math" panose="02040503050406030204"/>
                      </a:rPr>
                      <m:t>𝜆</m:t>
                    </m:r>
                    <m:r>
                      <a:rPr lang="en-US" altLang="zh-CN" sz="1650" i="1" spc="-300">
                        <a:solidFill>
                          <a:srgbClr val="000000"/>
                        </a:solidFill>
                        <a:latin typeface="Cambria Math" panose="02040503050406030204"/>
                      </a:rPr>
                      <m:t>−</m:t>
                    </m:r>
                    <m:r>
                      <a:rPr lang="en-US" altLang="zh-CN" sz="1650" i="1" spc="-200">
                        <a:solidFill>
                          <a:srgbClr val="000000"/>
                        </a:solidFill>
                        <a:latin typeface="Cambria Math" panose="02040503050406030204"/>
                      </a:rPr>
                      <m:t>1</m:t>
                    </m:r>
                    <m:r>
                      <a:rPr lang="en-US" altLang="zh-CN" sz="1650" i="1" spc="-400" smtClean="0">
                        <a:solidFill>
                          <a:srgbClr val="000000"/>
                        </a:solidFill>
                        <a:latin typeface="Cambria Math" panose="02040503050406030204"/>
                      </a:rPr>
                      <m:t>|</m:t>
                    </m:r>
                    <m:r>
                      <a:rPr lang="en-US" altLang="zh-CN" sz="1650" i="1" spc="-500">
                        <a:solidFill>
                          <a:srgbClr val="000000"/>
                        </a:solidFill>
                        <a:latin typeface="Cambria Math" panose="02040503050406030204"/>
                      </a:rPr>
                      <m:t>≥</m:t>
                    </m:r>
                    <m:r>
                      <a:rPr lang="en-US" altLang="zh-CN" sz="1650" i="1" spc="-200">
                        <a:solidFill>
                          <a:srgbClr val="000000"/>
                        </a:solidFill>
                        <a:latin typeface="Cambria Math" panose="02040503050406030204"/>
                      </a:rPr>
                      <m:t>1</m:t>
                    </m:r>
                  </m:oMath>
                </a14:m>
                <a:endParaRPr lang="zh-CN" altLang="en-US" sz="1650" b="1" spc="-2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矩形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820" y="4643948"/>
                <a:ext cx="1353281" cy="344805"/>
              </a:xfrm>
              <a:prstGeom prst="rect">
                <a:avLst/>
              </a:prstGeom>
              <a:blipFill rotWithShape="1">
                <a:blip r:embed="rId11"/>
                <a:stretch>
                  <a:fillRect l="-37" t="-56" r="44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23561"/>
              <p:cNvSpPr txBox="1"/>
              <p:nvPr/>
            </p:nvSpPr>
            <p:spPr>
              <a:xfrm>
                <a:off x="2407114" y="4650657"/>
                <a:ext cx="1944216" cy="344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对任意的</a:t>
                </a:r>
                <a14:m>
                  <m:oMath xmlns:m="http://schemas.openxmlformats.org/officeDocument/2006/math"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h</m:t>
                    </m:r>
                  </m:oMath>
                </a14:m>
                <a:r>
                  <a:rPr lang="zh-CN" altLang="en-US" sz="1650" b="1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都满足</a:t>
                </a:r>
              </a:p>
            </p:txBody>
          </p:sp>
        </mc:Choice>
        <mc:Fallback xmlns="">
          <p:sp>
            <p:nvSpPr>
              <p:cNvPr id="63" name="TextBox 235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114" y="4650657"/>
                <a:ext cx="1944216" cy="344805"/>
              </a:xfrm>
              <a:prstGeom prst="rect">
                <a:avLst/>
              </a:prstGeom>
              <a:blipFill rotWithShape="1">
                <a:blip r:embed="rId12"/>
                <a:stretch>
                  <a:fillRect l="-24" t="-160" r="16" b="1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矩形 63"/>
          <p:cNvSpPr/>
          <p:nvPr/>
        </p:nvSpPr>
        <p:spPr>
          <a:xfrm>
            <a:off x="926519" y="4935431"/>
            <a:ext cx="3239770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1650" b="1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无条件稳定</a:t>
            </a:r>
            <a:r>
              <a:rPr lang="en-US" altLang="zh-CN" sz="1500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(unconditionally stable)!</a:t>
            </a:r>
            <a:endParaRPr lang="zh-CN" altLang="en-US" sz="1650" dirty="0">
              <a:solidFill>
                <a:srgbClr val="00007D">
                  <a:lumMod val="60000"/>
                  <a:lumOff val="40000"/>
                </a:srgbClr>
              </a:solidFill>
              <a:latin typeface="Arial" panose="020B0604020202020204" pitchFamily="3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1480966" y="5213372"/>
            <a:ext cx="1852295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50" b="1" dirty="0">
                <a:solidFill>
                  <a:srgbClr val="000000"/>
                </a:solidFill>
                <a:latin typeface="Arial" panose="020B0604020202020204" pitchFamily="34" charset="0"/>
              </a:rPr>
              <a:t>绝对</a:t>
            </a:r>
            <a:r>
              <a:rPr lang="zh-CN" altLang="zh-CN" sz="1650" b="1" dirty="0">
                <a:solidFill>
                  <a:srgbClr val="000000"/>
                </a:solidFill>
                <a:latin typeface="Arial" panose="020B0604020202020204" pitchFamily="34" charset="0"/>
              </a:rPr>
              <a:t>稳定</a:t>
            </a:r>
            <a:r>
              <a:rPr lang="en-US" altLang="zh-CN" sz="1500" dirty="0">
                <a:solidFill>
                  <a:srgbClr val="000000"/>
                </a:solidFill>
                <a:latin typeface="Arial" panose="020B0604020202020204" pitchFamily="34" charset="0"/>
              </a:rPr>
              <a:t>(A-stable)</a:t>
            </a:r>
            <a:endParaRPr lang="zh-CN" altLang="en-US" sz="165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0" grpId="0"/>
      <p:bldP spid="51" grpId="0" bldLvl="0" animBg="1"/>
      <p:bldP spid="52" grpId="0"/>
      <p:bldP spid="62" grpId="0"/>
      <p:bldP spid="63" grpId="0"/>
      <p:bldP spid="64" grpId="0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向后欧拉法与休恩法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18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3"/>
              <p:cNvSpPr txBox="1">
                <a:spLocks noChangeArrowheads="1"/>
              </p:cNvSpPr>
              <p:nvPr/>
            </p:nvSpPr>
            <p:spPr bwMode="auto">
              <a:xfrm>
                <a:off x="577754" y="1852127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对一般的方程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+mn-cs"/>
                      </a:rPr>
                      <m:t>𝑓</m:t>
                    </m:r>
                    <m:d>
                      <m:dPr>
                        <m:ctrlPr>
                          <a:rPr kumimoji="0" lang="zh-CN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𝑡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, 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+mn-cs"/>
                          </a:rPr>
                          <m:t>𝑦</m:t>
                        </m:r>
                      </m:e>
                    </m:d>
                  </m:oMath>
                </a14:m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类似地分析知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只要初值问题本身是稳定的</a:t>
                </a:r>
                <a:r>
                  <a:rPr kumimoji="0" lang="en-US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向后欧拉法也是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无条件稳定的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向后欧拉法的</a:t>
                </a: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准确度</a:t>
                </a:r>
                <a:endParaRPr kumimoji="0" lang="en-US" altLang="zh-CN" sz="21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考虑一般的方程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zh-CN" alt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=</m:t>
                    </m:r>
                    <m:r>
                      <a:rPr kumimoji="0" lang="en-US" altLang="zh-CN" sz="18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</a:rPr>
                      <m:t>𝑓</m:t>
                    </m:r>
                    <m:d>
                      <m:dPr>
                        <m:ctrlPr>
                          <a:rPr kumimoji="0" lang="zh-CN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𝑡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, </m:t>
                        </m:r>
                        <m:r>
                          <a:rPr kumimoji="0" lang="en-US" altLang="zh-CN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</a:rPr>
                          <m:t>𝑦</m:t>
                        </m:r>
                      </m:e>
                    </m:d>
                  </m:oMath>
                </a14:m>
                <a:endParaRPr kumimoji="0" lang="en-US" altLang="zh-CN" sz="18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endParaRPr kumimoji="0" lang="en-US" altLang="zh-CN" sz="18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30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7754" y="1852127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9" t="-13" r="3" b="1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utoShape 6"/>
          <p:cNvSpPr>
            <a:spLocks noChangeAspect="1" noChangeArrowheads="1"/>
          </p:cNvSpPr>
          <p:nvPr/>
        </p:nvSpPr>
        <p:spPr bwMode="auto">
          <a:xfrm>
            <a:off x="3384057" y="3163004"/>
            <a:ext cx="1714500" cy="128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913326" y="3094711"/>
                <a:ext cx="5463540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𝑙</m:t>
                        </m:r>
                      </m:e>
                      <m:sub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  <m:r>
                      <a:rPr lang="en-US" altLang="zh-CN" sz="1650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−</m:t>
                    </m:r>
                    <m:sSub>
                      <m:sSub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sSubPr>
                      <m:e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b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𝑛</m:t>
                        </m:r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altLang="zh-CN" sz="1650" kern="10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−</m:t>
                    </m:r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−</m:t>
                    </m:r>
                    <m:r>
                      <a:rPr lang="en-US" altLang="zh-CN" sz="1650" i="1" kern="100">
                        <a:solidFill>
                          <a:srgbClr val="000000"/>
                        </a:solidFill>
                        <a:latin typeface="Cambria Math" panose="02040503050406030204"/>
                        <a:cs typeface="Times New Roman" panose="02020603050405020304"/>
                      </a:rPr>
                      <m:t>h𝑓</m:t>
                    </m:r>
                    <m:d>
                      <m:dPr>
                        <m:ctrlPr>
                          <a:rPr lang="zh-CN" altLang="zh-CN" sz="16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sz="1650" i="1" kern="100">
                            <a:solidFill>
                              <a:srgbClr val="000000"/>
                            </a:solidFill>
                            <a:latin typeface="Cambria Math" panose="02040503050406030204"/>
                            <a:cs typeface="Times New Roman" panose="02020603050405020304"/>
                          </a:rPr>
                          <m:t>, </m:t>
                        </m:r>
                        <m:sSub>
                          <m:sSubPr>
                            <m:ctrlPr>
                              <a:rPr lang="zh-CN" altLang="zh-CN" sz="16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</a:rPr>
                            </m:ctrlPr>
                          </m:sSubPr>
                          <m:e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𝑛</m:t>
                            </m:r>
                            <m:r>
                              <a:rPr lang="en-US" altLang="zh-CN" sz="1650" i="1" kern="100">
                                <a:solidFill>
                                  <a:srgbClr val="000000"/>
                                </a:solidFill>
                                <a:latin typeface="Cambria Math" panose="02040503050406030204"/>
                                <a:cs typeface="Times New Roman" panose="02020603050405020304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326" y="3094711"/>
                <a:ext cx="5463540" cy="344805"/>
              </a:xfrm>
              <a:prstGeom prst="rect">
                <a:avLst/>
              </a:prstGeom>
              <a:blipFill rotWithShape="1">
                <a:blip r:embed="rId3"/>
                <a:stretch>
                  <a:fillRect l="-4" t="-103" r="4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1373009" y="4076047"/>
                <a:ext cx="2820035" cy="36449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50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h</m:t>
                      </m:r>
                      <m:sSubSup>
                        <m:sSubSup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sub>
                        <m:sup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𝜉</m:t>
                          </m:r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∙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+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𝑂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009" y="4076047"/>
                <a:ext cx="2820035" cy="364490"/>
              </a:xfrm>
              <a:prstGeom prst="rect">
                <a:avLst/>
              </a:prstGeom>
              <a:blipFill rotWithShape="1">
                <a:blip r:embed="rId4"/>
                <a:stretch>
                  <a:fillRect l="-5" t="-169" r="5" b="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33"/>
              <p:cNvSpPr/>
              <p:nvPr/>
            </p:nvSpPr>
            <p:spPr>
              <a:xfrm>
                <a:off x="1380551" y="3419618"/>
                <a:ext cx="4968552" cy="374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50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h𝑓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𝑛</m:t>
                                  </m:r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+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𝑂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−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h𝑓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矩形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551" y="3419618"/>
                <a:ext cx="4968552" cy="374650"/>
              </a:xfrm>
              <a:prstGeom prst="rect">
                <a:avLst/>
              </a:prstGeom>
              <a:blipFill rotWithShape="1">
                <a:blip r:embed="rId5"/>
                <a:stretch>
                  <a:fillRect l="-1" t="-38" r="8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1380649" y="3733324"/>
                <a:ext cx="4227671" cy="3644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650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h</m:t>
                      </m:r>
                      <m:sSubSup>
                        <m:sSubSup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Sup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sub>
                        <m:sup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, 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𝜉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𝑛</m:t>
                                  </m:r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+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𝑂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0649" y="3733324"/>
                <a:ext cx="4227671" cy="364490"/>
              </a:xfrm>
              <a:prstGeom prst="rect">
                <a:avLst/>
              </a:prstGeom>
              <a:blipFill rotWithShape="1">
                <a:blip r:embed="rId6"/>
                <a:stretch>
                  <a:fillRect l="-4" t="-44" b="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右箭头 35"/>
          <p:cNvSpPr/>
          <p:nvPr/>
        </p:nvSpPr>
        <p:spPr>
          <a:xfrm>
            <a:off x="1063659" y="4543332"/>
            <a:ext cx="316892" cy="162018"/>
          </a:xfrm>
          <a:prstGeom prst="rightArrow">
            <a:avLst/>
          </a:prstGeom>
          <a:solidFill>
            <a:srgbClr val="92D050"/>
          </a:solidFill>
          <a:ln>
            <a:solidFill>
              <a:srgbClr val="000000"/>
            </a:solidFill>
          </a:ln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1381534" y="4443989"/>
                <a:ext cx="3686175" cy="6343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1−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h</m:t>
                          </m:r>
                          <m:sSubSup>
                            <m:sSub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Sup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65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𝑛</m:t>
                                  </m:r>
                                  <m:r>
                                    <a:rPr lang="en-US" altLang="zh-CN" sz="1650" i="1" kern="100">
                                      <a:solidFill>
                                        <a:srgbClr val="000000"/>
                                      </a:solidFill>
                                      <a:latin typeface="Cambria Math" panose="02040503050406030204"/>
                                      <a:cs typeface="Times New Roman" panose="02020603050405020304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/>
                                </a:rPr>
                                <m:t>, 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𝜉</m:t>
                              </m:r>
                            </m:e>
                          </m:d>
                        </m:den>
                      </m:f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𝑂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𝑂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1534" y="4443989"/>
                <a:ext cx="3686175" cy="634365"/>
              </a:xfrm>
              <a:prstGeom prst="rect">
                <a:avLst/>
              </a:prstGeom>
              <a:blipFill rotWithShape="1">
                <a:blip r:embed="rId7"/>
                <a:stretch>
                  <a:fillRect l="-11" t="-41" r="11" b="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/>
          <p:cNvSpPr/>
          <p:nvPr/>
        </p:nvSpPr>
        <p:spPr>
          <a:xfrm>
            <a:off x="4918025" y="4571861"/>
            <a:ext cx="1634490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1650" b="1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具有</a:t>
            </a:r>
            <a:r>
              <a:rPr lang="en-US" altLang="zh-CN" sz="165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1</a:t>
            </a:r>
            <a:r>
              <a:rPr lang="zh-CN" altLang="zh-CN" sz="1650" b="1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阶准确度</a:t>
            </a:r>
            <a:r>
              <a:rPr lang="en-US" altLang="zh-CN" sz="1650" b="1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!</a:t>
            </a:r>
            <a:endParaRPr lang="zh-CN" altLang="en-US" sz="1650" b="1">
              <a:solidFill>
                <a:srgbClr val="00007D">
                  <a:lumMod val="60000"/>
                  <a:lumOff val="40000"/>
                </a:srgb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  <p:bldP spid="36" grpId="0" bldLvl="0" animBg="1"/>
      <p:bldP spid="37" grpId="0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kern="0" dirty="0">
                <a:solidFill>
                  <a:srgbClr val="000000"/>
                </a:solidFill>
                <a:latin typeface="Arial" panose="020B0604020202020204"/>
                <a:ea typeface="宋体" panose="02010600030101010101" pitchFamily="2" charset="-122"/>
              </a:rPr>
              <a:t>向后欧拉法与休恩法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z="900" smtClean="0"/>
              <a:t>19</a:t>
            </a:fld>
            <a:endParaRPr lang="zh-CN" altLang="en-US" sz="9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3"/>
              <p:cNvSpPr txBox="1">
                <a:spLocks noChangeArrowheads="1"/>
              </p:cNvSpPr>
              <p:nvPr/>
            </p:nvSpPr>
            <p:spPr bwMode="auto">
              <a:xfrm>
                <a:off x="691060" y="1858090"/>
                <a:ext cx="6318554" cy="36183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just" defTabSz="914400" rtl="0" eaLnBrk="0" fontAlgn="base" latinLnBrk="0" hangingPunct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休恩法的稳定性</a:t>
                </a:r>
                <a:endParaRPr kumimoji="0" lang="en-US" altLang="zh-CN" sz="21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742950" marR="0" lvl="1" indent="-285750" algn="just" defTabSz="914400" rtl="0" eaLnBrk="0" fontAlgn="base" latinLnBrk="0" hangingPunct="0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en-US" sz="18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模型问题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/>
                          </a:rPr>
                        </m:ctrlPr>
                      </m:sSupPr>
                      <m:e>
                        <m:r>
                          <a:rPr kumimoji="0" lang="en-US" altLang="zh-CN" sz="18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𝑦</m:t>
                        </m:r>
                      </m:e>
                      <m:sup>
                        <m:r>
                          <a:rPr kumimoji="0" lang="en-US" altLang="zh-CN" sz="1800" b="0" i="1" u="none" strike="noStrike" kern="100" cap="none" spc="-80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/>
                            <a:cs typeface="Times New Roman" panose="02020603050405020304"/>
                          </a:rPr>
                          <m:t>′</m:t>
                        </m:r>
                      </m:sup>
                    </m:sSup>
                    <m:r>
                      <a:rPr kumimoji="0" lang="en-US" altLang="zh-CN" sz="1800" b="0" i="1" u="none" strike="noStrike" kern="100" cap="none" spc="-50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=</m:t>
                    </m:r>
                    <m:r>
                      <a:rPr kumimoji="0" lang="zh-CN" altLang="en-US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𝜆</m:t>
                    </m:r>
                    <m:r>
                      <a:rPr kumimoji="0" lang="en-US" altLang="zh-CN" sz="1800" b="0" i="1" u="none" strike="noStrike" kern="1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/>
                        <a:cs typeface="Times New Roman" panose="02020603050405020304"/>
                      </a:rPr>
                      <m:t>𝑦</m:t>
                    </m:r>
                  </m:oMath>
                </a14:m>
                <a:endParaRPr kumimoji="0" lang="zh-CN" altLang="zh-CN" sz="1800" b="1" i="0" u="none" strike="noStrike" kern="1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100" cap="none" spc="-10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/>
                  </a:rPr>
                  <a:t>梯形法的准确度</a:t>
                </a:r>
                <a:endParaRPr kumimoji="0" lang="en-US" altLang="zh-CN" sz="2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r>
                  <a:rPr kumimoji="0" lang="zh-CN" altLang="en-US" sz="21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  <a:cs typeface="+mn-cs"/>
                  </a:rPr>
                  <a:t>小结</a:t>
                </a:r>
                <a:endParaRPr kumimoji="0" lang="en-US" altLang="zh-CN" sz="2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  <a:cs typeface="+mn-cs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无条件稳定或稳定区域大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的方法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 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在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步长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h</a:t>
                </a:r>
                <a:r>
                  <a:rPr kumimoji="0" lang="zh-CN" alt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较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大时它仍能保证计算的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稳定性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7D">
                      <a:lumMod val="60000"/>
                      <a:lumOff val="40000"/>
                    </a:srgbClr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742950" marR="0" lvl="1" indent="-285750" algn="l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ct val="0"/>
                  </a:spcAft>
                  <a:buClr>
                    <a:srgbClr val="9999CC"/>
                  </a:buClr>
                  <a:buSzPct val="80000"/>
                  <a:buFont typeface="Wingdings" panose="05000000000000000000" pitchFamily="2" charset="2"/>
                  <a:buChar char="¨"/>
                  <a:defRPr/>
                </a:pP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7D">
                        <a:lumMod val="60000"/>
                        <a:lumOff val="4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准确度阶数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越高</a:t>
                </a:r>
                <a:r>
                  <a:rPr kumimoji="0" lang="en-US" altLang="zh-CN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,</a:t>
                </a:r>
                <a:r>
                  <a:rPr kumimoji="0" lang="zh-CN" altLang="zh-CN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/>
                    <a:ea typeface="宋体" panose="02010600030101010101" pitchFamily="2" charset="-122"/>
                  </a:rPr>
                  <a:t>计算误差随步长减小而减小的速度越快</a:t>
                </a:r>
                <a:endPara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宋体" panose="02010600030101010101" pitchFamily="2" charset="-122"/>
                </a:endParaRPr>
              </a:p>
              <a:p>
                <a:pPr marL="342900" marR="0" lvl="0" indent="-342900" algn="l" defTabSz="914400" rtl="0" eaLnBrk="1" fontAlgn="base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ct val="0"/>
                  </a:spcAft>
                  <a:buClr>
                    <a:srgbClr val="00007D"/>
                  </a:buClr>
                  <a:buSzPct val="75000"/>
                  <a:buFont typeface="Wingdings" panose="05000000000000000000" pitchFamily="2" charset="2"/>
                  <a:buChar char="n"/>
                  <a:defRPr/>
                </a:pPr>
                <a:endParaRPr kumimoji="0" lang="en-US" altLang="zh-CN" sz="1800" b="1" i="0" u="none" strike="noStrike" kern="100" cap="none" spc="-10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</mc:Choice>
        <mc:Fallback xmlns="">
          <p:sp>
            <p:nvSpPr>
              <p:cNvPr id="13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1060" y="1858090"/>
                <a:ext cx="6318554" cy="3618309"/>
              </a:xfrm>
              <a:prstGeom prst="rect">
                <a:avLst/>
              </a:prstGeom>
              <a:blipFill rotWithShape="1">
                <a:blip r:embed="rId2"/>
                <a:stretch>
                  <a:fillRect l="-3" t="-2" r="8" b="-1010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1245375" y="2506608"/>
                <a:ext cx="4191000" cy="5689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 spc="-4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 spc="-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/>
                            </a:rPr>
                            <m:t>𝑛</m:t>
                          </m:r>
                        </m:sub>
                      </m:sSub>
                      <m:r>
                        <a:rPr lang="en-US" altLang="zh-CN" sz="1650" i="1" kern="100" spc="-4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+</m:t>
                      </m:r>
                      <m:f>
                        <m:fPr>
                          <m:ctrlPr>
                            <a:rPr lang="en-US" altLang="zh-CN" sz="1650" i="1" kern="100" spc="-4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/>
                            </a:rPr>
                          </m:ctrlPr>
                        </m:fPr>
                        <m:num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h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1650" i="1" kern="100" spc="-400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altLang="zh-CN" sz="1650" i="1" kern="100" spc="-40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50" i="1" kern="100" spc="-6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1650" i="1" kern="100" spc="-200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</m:t>
                          </m:r>
                          <m:sSub>
                            <m:sSub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b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1650" i="1" kern="100" spc="-2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𝑛</m:t>
                              </m:r>
                              <m:r>
                                <a:rPr lang="en-US" altLang="zh-CN" sz="1650" i="1" kern="100" spc="-2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1650" i="1" kern="1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/>
                        </a:rPr>
                        <m:t>  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⟹</m:t>
                      </m:r>
                      <m:r>
                        <a:rPr lang="en-US" altLang="zh-CN" sz="1650" i="1" kern="1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/>
                        </a:rPr>
                        <m:t>  </m:t>
                      </m:r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 spc="-4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f>
                        <m:f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fPr>
                        <m:num>
                          <m:r>
                            <a:rPr lang="en-US" altLang="zh-CN" sz="1650" i="1" kern="100" spc="-5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2</m:t>
                          </m:r>
                          <m:r>
                            <a:rPr lang="en-US" altLang="zh-CN" sz="1650" i="1" kern="100" spc="-500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h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1650" i="1" kern="100" spc="-500" smtClean="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2</m:t>
                          </m:r>
                          <m:r>
                            <a:rPr lang="en-US" altLang="zh-CN" sz="1650" i="1" kern="100" spc="-5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−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h</m:t>
                          </m:r>
                          <m:r>
                            <a:rPr lang="en-US" altLang="zh-CN" sz="1650" i="1" kern="100" spc="-2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𝜆</m:t>
                          </m:r>
                        </m:den>
                      </m:f>
                      <m:sSub>
                        <m:sSub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𝑦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375" y="2506608"/>
                <a:ext cx="4191000" cy="568960"/>
              </a:xfrm>
              <a:prstGeom prst="rect">
                <a:avLst/>
              </a:prstGeom>
              <a:blipFill rotWithShape="1">
                <a:blip r:embed="rId3"/>
                <a:stretch>
                  <a:fillRect l="-3" t="-46" r="3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036391" y="3094401"/>
            <a:ext cx="1501013" cy="34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50" b="1">
                <a:solidFill>
                  <a:srgbClr val="000000"/>
                </a:solidFill>
                <a:latin typeface="Arial" panose="020B0604020202020204" pitchFamily="34" charset="0"/>
              </a:rPr>
              <a:t>稳定的条件是</a:t>
            </a:r>
            <a:r>
              <a:rPr lang="en-US" altLang="zh-CN" sz="1650" b="1">
                <a:solidFill>
                  <a:srgbClr val="000000"/>
                </a:solidFill>
                <a:latin typeface="Arial" panose="020B0604020202020204" pitchFamily="34" charset="0"/>
              </a:rPr>
              <a:t>: </a:t>
            </a:r>
            <a:endParaRPr lang="zh-CN" altLang="en-US" sz="165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2523304" y="2964087"/>
                <a:ext cx="1147445" cy="5753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fPr>
                            <m:num>
                              <m:r>
                                <a:rPr lang="en-US" altLang="zh-CN" sz="1650" i="1" kern="100" spc="-5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2+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  <m:r>
                                <a:rPr lang="en-US" altLang="zh-CN" sz="1650" i="1" kern="100" spc="-2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altLang="zh-CN" sz="1650" i="1" kern="100" spc="-5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2−</m:t>
                              </m:r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  <m:r>
                                <a:rPr lang="en-US" altLang="zh-CN" sz="1650" i="1" kern="100" spc="-2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𝜆</m:t>
                              </m:r>
                            </m:den>
                          </m:f>
                        </m:e>
                      </m:d>
                      <m:r>
                        <a:rPr lang="en-US" altLang="zh-CN" sz="1650" i="1" smtClean="0">
                          <a:solidFill>
                            <a:srgbClr val="000000"/>
                          </a:solidFill>
                          <a:latin typeface="Cambria Math" panose="02040503050406030204"/>
                          <a:ea typeface="Cambria Math" panose="02040503050406030204"/>
                        </a:rPr>
                        <m:t>≤1</m:t>
                      </m:r>
                    </m:oMath>
                  </m:oMathPara>
                </a14:m>
                <a:endParaRPr lang="zh-CN" altLang="en-US" sz="165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3304" y="2964087"/>
                <a:ext cx="1147445" cy="575310"/>
              </a:xfrm>
              <a:prstGeom prst="rect">
                <a:avLst/>
              </a:prstGeom>
              <a:blipFill rotWithShape="1">
                <a:blip r:embed="rId4"/>
                <a:stretch>
                  <a:fillRect l="-39" t="-94" r="39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左右箭头 16"/>
          <p:cNvSpPr/>
          <p:nvPr/>
        </p:nvSpPr>
        <p:spPr>
          <a:xfrm>
            <a:off x="3661241" y="3200402"/>
            <a:ext cx="488096" cy="161583"/>
          </a:xfrm>
          <a:prstGeom prst="leftRightArrow">
            <a:avLst/>
          </a:prstGeom>
          <a:solidFill>
            <a:srgbClr val="92D050"/>
          </a:solidFill>
          <a:ln>
            <a:solidFill>
              <a:srgbClr val="000000"/>
            </a:solidFill>
          </a:ln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183088" y="3119610"/>
                <a:ext cx="1047750" cy="3448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650" spc="-100" smtClean="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Re</m:t>
                      </m:r>
                      <m:r>
                        <a:rPr lang="en-US" altLang="zh-CN" sz="1650" spc="-100" smtClean="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(</m:t>
                      </m:r>
                      <m:r>
                        <a:rPr lang="en-US" altLang="zh-CN" sz="1650" i="1" spc="-100" smtClean="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h</m:t>
                      </m:r>
                      <m:r>
                        <a:rPr lang="en-US" altLang="zh-CN" sz="1650" i="1" spc="-1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𝜆</m:t>
                      </m:r>
                      <m:r>
                        <a:rPr lang="en-US" altLang="zh-CN" sz="1650" spc="-5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)</m:t>
                      </m:r>
                      <m:r>
                        <a:rPr lang="en-US" altLang="zh-CN" sz="1650" spc="-4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≤</m:t>
                      </m:r>
                      <m:r>
                        <a:rPr lang="en-US" altLang="zh-CN" sz="1650" spc="-100">
                          <a:solidFill>
                            <a:srgbClr val="000000"/>
                          </a:solidFill>
                          <a:latin typeface="Cambria Math" panose="02040503050406030204"/>
                        </a:rPr>
                        <m:t>0</m:t>
                      </m:r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3088" y="3119610"/>
                <a:ext cx="1047750" cy="344805"/>
              </a:xfrm>
              <a:prstGeom prst="rect">
                <a:avLst/>
              </a:prstGeom>
              <a:blipFill rotWithShape="1">
                <a:blip r:embed="rId5"/>
                <a:stretch>
                  <a:fillRect l="-33" t="-142" r="33" b="1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/>
          <p:cNvSpPr/>
          <p:nvPr/>
        </p:nvSpPr>
        <p:spPr>
          <a:xfrm>
            <a:off x="5135319" y="3119014"/>
            <a:ext cx="1289685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zh-CN" sz="1650" b="1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无条件稳定</a:t>
            </a:r>
            <a:r>
              <a:rPr lang="en-US" altLang="zh-CN" sz="150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!</a:t>
            </a:r>
            <a:endParaRPr lang="zh-CN" altLang="en-US" sz="1650">
              <a:solidFill>
                <a:srgbClr val="00007D">
                  <a:lumMod val="60000"/>
                  <a:lumOff val="40000"/>
                </a:srgbClr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2987824" y="3645665"/>
                <a:ext cx="1375410" cy="3365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fontAlgn="base">
                  <a:spcBef>
                    <a:spcPct val="5000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65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sSubPr>
                        <m:e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𝑙</m:t>
                          </m:r>
                        </m:e>
                        <m:sub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𝑛</m:t>
                          </m:r>
                          <m:r>
                            <a:rPr lang="en-US" altLang="zh-CN" sz="1650" i="1" kern="100">
                              <a:solidFill>
                                <a:srgbClr val="000000"/>
                              </a:solidFill>
                              <a:latin typeface="Cambria Math" panose="02040503050406030204"/>
                              <a:cs typeface="Times New Roman" panose="02020603050405020304"/>
                            </a:rPr>
                            <m:t>+1</m:t>
                          </m:r>
                        </m:sub>
                      </m:sSub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=</m:t>
                      </m:r>
                      <m:r>
                        <a:rPr lang="en-US" altLang="zh-CN" sz="1650" i="1" kern="100">
                          <a:solidFill>
                            <a:srgbClr val="000000"/>
                          </a:solidFill>
                          <a:latin typeface="Cambria Math" panose="02040503050406030204"/>
                          <a:cs typeface="Times New Roman" panose="02020603050405020304"/>
                        </a:rPr>
                        <m:t>𝑂</m:t>
                      </m:r>
                      <m:d>
                        <m:dPr>
                          <m:ctrlPr>
                            <a:rPr lang="zh-CN" altLang="zh-CN" sz="165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165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/>
                                </a:rPr>
                              </m:ctrlPr>
                            </m:sSupPr>
                            <m:e>
                              <m:r>
                                <a:rPr lang="en-US" altLang="zh-CN" sz="1650" i="1" kern="10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altLang="zh-CN" sz="1650" i="1" kern="100" smtClean="0">
                                  <a:solidFill>
                                    <a:srgbClr val="000000"/>
                                  </a:solidFill>
                                  <a:latin typeface="Cambria Math" panose="02040503050406030204"/>
                                  <a:cs typeface="Times New Roman" panose="02020603050405020304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5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824" y="3645665"/>
                <a:ext cx="1375410" cy="336550"/>
              </a:xfrm>
              <a:prstGeom prst="rect">
                <a:avLst/>
              </a:prstGeom>
              <a:blipFill rotWithShape="1">
                <a:blip r:embed="rId6"/>
                <a:stretch>
                  <a:fillRect l="-11" t="-39" r="1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4211965" y="3645704"/>
            <a:ext cx="1564640" cy="3448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50" b="1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具有</a:t>
            </a:r>
            <a:r>
              <a:rPr lang="en-US" altLang="zh-CN" sz="1650" dirty="0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2</a:t>
            </a:r>
            <a:r>
              <a:rPr lang="zh-CN" altLang="en-US" sz="1650" b="1">
                <a:solidFill>
                  <a:srgbClr val="00007D">
                    <a:lumMod val="60000"/>
                    <a:lumOff val="40000"/>
                  </a:srgbClr>
                </a:solidFill>
                <a:latin typeface="Arial" panose="020B0604020202020204" pitchFamily="34" charset="0"/>
              </a:rPr>
              <a:t>阶准确度</a:t>
            </a:r>
            <a:endParaRPr lang="zh-CN" altLang="en-US" sz="1650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95645" y="3645535"/>
            <a:ext cx="2578100" cy="3448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zh-CN" altLang="en-US" sz="1650" dirty="0">
                <a:solidFill>
                  <a:srgbClr val="C00000"/>
                </a:solidFill>
                <a:latin typeface="Arial" panose="020B0604020202020204" pitchFamily="34" charset="0"/>
              </a:rPr>
              <a:t>（被积函数用线性插值）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 bldLvl="0" animBg="1"/>
      <p:bldP spid="18" grpId="0"/>
      <p:bldP spid="20" grpId="0"/>
      <p:bldP spid="21" grpId="0"/>
      <p:bldP spid="22" grpId="0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内容占位符 2"/>
          <p:cNvSpPr>
            <a:spLocks noGrp="1"/>
          </p:cNvSpPr>
          <p:nvPr>
            <p:ph idx="1"/>
          </p:nvPr>
        </p:nvSpPr>
        <p:spPr>
          <a:xfrm>
            <a:off x="457200" y="1628458"/>
            <a:ext cx="8229600" cy="4938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用欧拉方法近似式子右边中的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得到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休恩方法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一般步骤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得到逼近         的一系列点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0722" name="Object 2"/>
          <p:cNvGraphicFramePr/>
          <p:nvPr/>
        </p:nvGraphicFramePr>
        <p:xfrm>
          <a:off x="2786063" y="2271395"/>
          <a:ext cx="25812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104265" imgH="190500" progId="Equation.DSMT4">
                  <p:embed/>
                </p:oleObj>
              </mc:Choice>
              <mc:Fallback>
                <p:oleObj r:id="rId2" imgW="1104265" imgH="1905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86063" y="2271395"/>
                        <a:ext cx="2581275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4"/>
          <p:cNvGraphicFramePr/>
          <p:nvPr/>
        </p:nvGraphicFramePr>
        <p:xfrm>
          <a:off x="1714500" y="3271520"/>
          <a:ext cx="5275263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59330" imgH="330200" progId="Equation.DSMT4">
                  <p:embed/>
                </p:oleObj>
              </mc:Choice>
              <mc:Fallback>
                <p:oleObj r:id="rId4" imgW="2259330" imgH="330200" progId="Equation.DSMT4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14500" y="3271520"/>
                        <a:ext cx="5275263" cy="76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5"/>
          <p:cNvGraphicFramePr/>
          <p:nvPr/>
        </p:nvGraphicFramePr>
        <p:xfrm>
          <a:off x="2000250" y="4485958"/>
          <a:ext cx="406558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39265" imgH="190500" progId="Equation.DSMT4">
                  <p:embed/>
                </p:oleObj>
              </mc:Choice>
              <mc:Fallback>
                <p:oleObj r:id="rId6" imgW="1739265" imgH="190500" progId="Equation.DSMT4">
                  <p:embed/>
                  <p:pic>
                    <p:nvPicPr>
                      <p:cNvPr id="0" name="图片 310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00250" y="4485958"/>
                        <a:ext cx="4065588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5" name="Object 6"/>
          <p:cNvGraphicFramePr/>
          <p:nvPr/>
        </p:nvGraphicFramePr>
        <p:xfrm>
          <a:off x="1928813" y="5001895"/>
          <a:ext cx="4267200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28165" imgH="330200" progId="Equation.DSMT4">
                  <p:embed/>
                </p:oleObj>
              </mc:Choice>
              <mc:Fallback>
                <p:oleObj r:id="rId8" imgW="1828165" imgH="330200" progId="Equation.DSMT4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928813" y="5001895"/>
                        <a:ext cx="4267200" cy="76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6" name="Object 7"/>
          <p:cNvGraphicFramePr/>
          <p:nvPr/>
        </p:nvGraphicFramePr>
        <p:xfrm>
          <a:off x="2500313" y="5843270"/>
          <a:ext cx="1066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57200" imgH="190500" progId="Equation.DSMT4">
                  <p:embed/>
                </p:oleObj>
              </mc:Choice>
              <mc:Fallback>
                <p:oleObj r:id="rId10" imgW="457200" imgH="190500" progId="Equation.DSMT4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00313" y="5843270"/>
                        <a:ext cx="10668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6377940" y="4365625"/>
            <a:ext cx="2357438" cy="13843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微分预报子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积分校正子</a:t>
            </a:r>
          </a:p>
        </p:txBody>
      </p:sp>
      <p:graphicFrame>
        <p:nvGraphicFramePr>
          <p:cNvPr id="2" name="Object 8"/>
          <p:cNvGraphicFramePr/>
          <p:nvPr/>
        </p:nvGraphicFramePr>
        <p:xfrm>
          <a:off x="1547178" y="765175"/>
          <a:ext cx="4830762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069465" imgH="330200" progId="Equation.DSMT4">
                  <p:embed/>
                </p:oleObj>
              </mc:Choice>
              <mc:Fallback>
                <p:oleObj r:id="rId12" imgW="2069465" imgH="330200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47178" y="765175"/>
                        <a:ext cx="4830762" cy="769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2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zh-CN" altLang="en-US" dirty="0"/>
              <a:t>休恩方法求解</a:t>
            </a:r>
          </a:p>
        </p:txBody>
      </p:sp>
      <p:sp>
        <p:nvSpPr>
          <p:cNvPr id="32770" name="矩形 2"/>
          <p:cNvSpPr/>
          <p:nvPr/>
        </p:nvSpPr>
        <p:spPr>
          <a:xfrm>
            <a:off x="4643438" y="2571750"/>
            <a:ext cx="4500562" cy="2678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    1.0,   3.0,      0.063031]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    0.5,   6.0,      0.012730]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   0.25,  12.0,     0.002878]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  0.125,  24.0,    0.000685]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 0.0625,  48.0,    0.000167]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0.03125,  96.0,   0.000041]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[ 0.015625, 192.0,  0.000010]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2771" name="Picture 3" descr="D:\Program Files (x86)\MATLAB\Work\zdw\Numerical_Computing\chapter9\4.png"/>
          <p:cNvPicPr>
            <a:picLocks noChangeAspect="1"/>
          </p:cNvPicPr>
          <p:nvPr/>
        </p:nvPicPr>
        <p:blipFill>
          <a:blip r:embed="rId2"/>
          <a:srcRect l="8037" t="3572" r="6238"/>
          <a:stretch>
            <a:fillRect/>
          </a:stretch>
        </p:blipFill>
        <p:spPr>
          <a:xfrm>
            <a:off x="214313" y="2286000"/>
            <a:ext cx="4487862" cy="3786188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32772" name="Object 4"/>
          <p:cNvGraphicFramePr/>
          <p:nvPr/>
        </p:nvGraphicFramePr>
        <p:xfrm>
          <a:off x="5072063" y="2000250"/>
          <a:ext cx="3429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38530" imgH="165100" progId="Equation.DSMT4">
                  <p:embed/>
                </p:oleObj>
              </mc:Choice>
              <mc:Fallback>
                <p:oleObj r:id="rId3" imgW="938530" imgH="165100" progId="Equation.DSMT4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2063" y="2000250"/>
                        <a:ext cx="3429000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2"/>
          <p:cNvGraphicFramePr/>
          <p:nvPr/>
        </p:nvGraphicFramePr>
        <p:xfrm>
          <a:off x="2428875" y="1571625"/>
          <a:ext cx="3022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94765" imgH="190500" progId="Equation.DSMT4">
                  <p:embed/>
                </p:oleObj>
              </mc:Choice>
              <mc:Fallback>
                <p:oleObj r:id="rId5" imgW="1294765" imgH="190500" progId="Equation.DSMT4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28875" y="1571625"/>
                        <a:ext cx="3022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686800" cy="53578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4.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泰勒级数法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[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泰勒定理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：设                 ，且     在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处有  次泰勒级数展开：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其中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             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是函数   关于  的     次全导数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3794" name="Object 3"/>
          <p:cNvGraphicFramePr/>
          <p:nvPr/>
        </p:nvGraphicFramePr>
        <p:xfrm>
          <a:off x="3455988" y="1714500"/>
          <a:ext cx="200977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875665" imgH="203200" progId="Equation.DSMT4">
                  <p:embed/>
                </p:oleObj>
              </mc:Choice>
              <mc:Fallback>
                <p:oleObj r:id="rId2" imgW="875665" imgH="203200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55988" y="1714500"/>
                        <a:ext cx="2009775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5" name="Object 2"/>
          <p:cNvGraphicFramePr/>
          <p:nvPr/>
        </p:nvGraphicFramePr>
        <p:xfrm>
          <a:off x="6286500" y="1714500"/>
          <a:ext cx="5826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4000" imgH="190500" progId="Equation.DSMT4">
                  <p:embed/>
                </p:oleObj>
              </mc:Choice>
              <mc:Fallback>
                <p:oleObj r:id="rId4" imgW="254000" imgH="190500" progId="Equation.DSMT4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6500" y="1714500"/>
                        <a:ext cx="582613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6" name="Object 5"/>
          <p:cNvGraphicFramePr/>
          <p:nvPr/>
        </p:nvGraphicFramePr>
        <p:xfrm>
          <a:off x="719138" y="2300288"/>
          <a:ext cx="15716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85800" imgH="190500" progId="Equation.DSMT4">
                  <p:embed/>
                </p:oleObj>
              </mc:Choice>
              <mc:Fallback>
                <p:oleObj r:id="rId6" imgW="685800" imgH="1905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19138" y="2300288"/>
                        <a:ext cx="1571625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7" name="Object 6"/>
          <p:cNvGraphicFramePr/>
          <p:nvPr/>
        </p:nvGraphicFramePr>
        <p:xfrm>
          <a:off x="3071813" y="2357438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52400" imgH="152400" progId="Equation.DSMT4">
                  <p:embed/>
                </p:oleObj>
              </mc:Choice>
              <mc:Fallback>
                <p:oleObj r:id="rId8" imgW="152400" imgH="152400" progId="Equation.DSMT4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71813" y="2357438"/>
                        <a:ext cx="349250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7"/>
          <p:cNvGraphicFramePr/>
          <p:nvPr/>
        </p:nvGraphicFramePr>
        <p:xfrm>
          <a:off x="1785938" y="2786063"/>
          <a:ext cx="47720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042795" imgH="203200" progId="Equation.DSMT4">
                  <p:embed/>
                </p:oleObj>
              </mc:Choice>
              <mc:Fallback>
                <p:oleObj r:id="rId10" imgW="2042795" imgH="203200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85938" y="2786063"/>
                        <a:ext cx="4772025" cy="473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9" name="Object 8"/>
          <p:cNvGraphicFramePr/>
          <p:nvPr/>
        </p:nvGraphicFramePr>
        <p:xfrm>
          <a:off x="2143125" y="3500438"/>
          <a:ext cx="33797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472565" imgH="393700" progId="Equation.DSMT4">
                  <p:embed/>
                </p:oleObj>
              </mc:Choice>
              <mc:Fallback>
                <p:oleObj r:id="rId12" imgW="1472565" imgH="3937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143125" y="3500438"/>
                        <a:ext cx="3379788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0" name="Object 9"/>
          <p:cNvGraphicFramePr/>
          <p:nvPr/>
        </p:nvGraphicFramePr>
        <p:xfrm>
          <a:off x="857250" y="4572000"/>
          <a:ext cx="2620963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141730" imgH="203200" progId="Equation.DSMT4">
                  <p:embed/>
                </p:oleObj>
              </mc:Choice>
              <mc:Fallback>
                <p:oleObj r:id="rId14" imgW="1141730" imgH="203200" progId="Equation.DSMT4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57250" y="4572000"/>
                        <a:ext cx="2620963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1" name="Object 10"/>
          <p:cNvGraphicFramePr/>
          <p:nvPr/>
        </p:nvGraphicFramePr>
        <p:xfrm>
          <a:off x="4714875" y="4572000"/>
          <a:ext cx="35718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39700" imgH="190500" progId="Equation.DSMT4">
                  <p:embed/>
                </p:oleObj>
              </mc:Choice>
              <mc:Fallback>
                <p:oleObj r:id="rId16" imgW="139700" imgH="190500" progId="Equation.DSMT4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14875" y="4572000"/>
                        <a:ext cx="357188" cy="487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2" name="Object 11"/>
          <p:cNvGraphicFramePr/>
          <p:nvPr/>
        </p:nvGraphicFramePr>
        <p:xfrm>
          <a:off x="5857875" y="4643438"/>
          <a:ext cx="227013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88265" imgH="139065" progId="Equation.DSMT4">
                  <p:embed/>
                </p:oleObj>
              </mc:Choice>
              <mc:Fallback>
                <p:oleObj r:id="rId18" imgW="88265" imgH="139065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857875" y="4643438"/>
                        <a:ext cx="227013" cy="357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3" name="Object 12"/>
          <p:cNvGraphicFramePr/>
          <p:nvPr/>
        </p:nvGraphicFramePr>
        <p:xfrm>
          <a:off x="6429375" y="4643438"/>
          <a:ext cx="681038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266065" imgH="177800" progId="Equation.DSMT4">
                  <p:embed/>
                </p:oleObj>
              </mc:Choice>
              <mc:Fallback>
                <p:oleObj r:id="rId20" imgW="266065" imgH="177800" progId="Equation.DSMT4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6429375" y="4643438"/>
                        <a:ext cx="681038" cy="454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4" name="Object 13"/>
          <p:cNvGraphicFramePr/>
          <p:nvPr/>
        </p:nvGraphicFramePr>
        <p:xfrm>
          <a:off x="655638" y="5286375"/>
          <a:ext cx="28829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256030" imgH="203200" progId="Equation.DSMT4">
                  <p:embed/>
                </p:oleObj>
              </mc:Choice>
              <mc:Fallback>
                <p:oleObj r:id="rId22" imgW="1256030" imgH="203200" progId="Equation.DSMT4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55638" y="5286375"/>
                        <a:ext cx="2882900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805" name="Object 14"/>
          <p:cNvGraphicFramePr/>
          <p:nvPr/>
        </p:nvGraphicFramePr>
        <p:xfrm>
          <a:off x="4379913" y="5211763"/>
          <a:ext cx="1979612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862965" imgH="393700" progId="Equation.DSMT4">
                  <p:embed/>
                </p:oleObj>
              </mc:Choice>
              <mc:Fallback>
                <p:oleObj r:id="rId24" imgW="862965" imgH="393700" progId="Equation.DSMT4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379913" y="5211763"/>
                        <a:ext cx="1979612" cy="901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2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区间       上初值问题的近似解可由各子区间</a:t>
            </a: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          </a:t>
            </a:r>
            <a:r>
              <a:rPr lang="zh-CN" altLang="en-US" dirty="0"/>
              <a:t>应用而得到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在各步                ，有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4818" name="Object 3"/>
          <p:cNvGraphicFramePr/>
          <p:nvPr/>
        </p:nvGraphicFramePr>
        <p:xfrm>
          <a:off x="1643063" y="1000125"/>
          <a:ext cx="8445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8300" imgH="190500" progId="Equation.DSMT4">
                  <p:embed/>
                </p:oleObj>
              </mc:Choice>
              <mc:Fallback>
                <p:oleObj r:id="rId2" imgW="368300" imgH="190500" progId="Equation.DSMT4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43063" y="1000125"/>
                        <a:ext cx="844550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19" name="Object 4"/>
          <p:cNvGraphicFramePr/>
          <p:nvPr/>
        </p:nvGraphicFramePr>
        <p:xfrm>
          <a:off x="714375" y="1643063"/>
          <a:ext cx="931863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05765" imgH="190500" progId="Equation.DSMT4">
                  <p:embed/>
                </p:oleObj>
              </mc:Choice>
              <mc:Fallback>
                <p:oleObj r:id="rId4" imgW="405765" imgH="190500" progId="Equation.DSMT4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4375" y="1643063"/>
                        <a:ext cx="931863" cy="43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5"/>
          <p:cNvGraphicFramePr/>
          <p:nvPr/>
        </p:nvGraphicFramePr>
        <p:xfrm>
          <a:off x="2071688" y="2143125"/>
          <a:ext cx="4078287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776730" imgH="355600" progId="Equation.DSMT4">
                  <p:embed/>
                </p:oleObj>
              </mc:Choice>
              <mc:Fallback>
                <p:oleObj r:id="rId6" imgW="1776730" imgH="355600" progId="Equation.DSMT4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71688" y="2143125"/>
                        <a:ext cx="4078287" cy="8143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1" name="Object 6"/>
          <p:cNvGraphicFramePr/>
          <p:nvPr/>
        </p:nvGraphicFramePr>
        <p:xfrm>
          <a:off x="1714500" y="3357563"/>
          <a:ext cx="1804988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786130" imgH="177800" progId="Equation.DSMT4">
                  <p:embed/>
                </p:oleObj>
              </mc:Choice>
              <mc:Fallback>
                <p:oleObj r:id="rId8" imgW="786130" imgH="177800" progId="Equation.DSMT4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14500" y="3357563"/>
                        <a:ext cx="1804988" cy="407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2" name="Object 7"/>
          <p:cNvGraphicFramePr/>
          <p:nvPr/>
        </p:nvGraphicFramePr>
        <p:xfrm>
          <a:off x="4357688" y="3357563"/>
          <a:ext cx="15144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59765" imgH="215900" progId="Equation.DSMT4">
                  <p:embed/>
                </p:oleObj>
              </mc:Choice>
              <mc:Fallback>
                <p:oleObj r:id="rId10" imgW="659765" imgH="215900" progId="Equation.DSMT4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357688" y="3357563"/>
                        <a:ext cx="1514475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8"/>
          <p:cNvGraphicFramePr/>
          <p:nvPr/>
        </p:nvGraphicFramePr>
        <p:xfrm>
          <a:off x="6289675" y="3357563"/>
          <a:ext cx="13684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595630" imgH="177800" progId="Equation.DSMT4">
                  <p:embed/>
                </p:oleObj>
              </mc:Choice>
              <mc:Fallback>
                <p:oleObj r:id="rId12" imgW="595630" imgH="177800" progId="Equation.DSMT4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289675" y="3357563"/>
                        <a:ext cx="1368425" cy="407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2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/>
              <a:t>[   </a:t>
            </a:r>
            <a:r>
              <a:rPr lang="zh-CN" altLang="en-US" dirty="0"/>
              <a:t>次</a:t>
            </a:r>
            <a:r>
              <a:rPr lang="zh-CN" altLang="en-US" dirty="0">
                <a:solidFill>
                  <a:srgbClr val="FF0000"/>
                </a:solidFill>
              </a:rPr>
              <a:t>泰勒方法的精度</a:t>
            </a:r>
            <a:r>
              <a:rPr lang="en-US" altLang="zh-CN" dirty="0"/>
              <a:t>]</a:t>
            </a:r>
          </a:p>
          <a:p>
            <a:pPr>
              <a:buNone/>
            </a:pPr>
            <a:r>
              <a:rPr lang="zh-CN" altLang="en-US" dirty="0"/>
              <a:t>   设     是初值问题的解，如果                 ，而             为   次泰勒方法产生的近似序列则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最终全局误差</a:t>
            </a:r>
          </a:p>
          <a:p>
            <a:pPr>
              <a:buNone/>
            </a:pPr>
            <a:endParaRPr lang="zh-CN" altLang="en-US" dirty="0"/>
          </a:p>
        </p:txBody>
      </p:sp>
      <p:graphicFrame>
        <p:nvGraphicFramePr>
          <p:cNvPr id="35842" name="Object 3"/>
          <p:cNvGraphicFramePr/>
          <p:nvPr/>
        </p:nvGraphicFramePr>
        <p:xfrm>
          <a:off x="1000125" y="1071563"/>
          <a:ext cx="388938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52400" imgH="152400" progId="Equation.DSMT4">
                  <p:embed/>
                </p:oleObj>
              </mc:Choice>
              <mc:Fallback>
                <p:oleObj r:id="rId2" imgW="152400" imgH="152400" progId="Equation.DSMT4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0125" y="1071563"/>
                        <a:ext cx="388938" cy="388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2"/>
          <p:cNvGraphicFramePr/>
          <p:nvPr/>
        </p:nvGraphicFramePr>
        <p:xfrm>
          <a:off x="1285875" y="1571625"/>
          <a:ext cx="5826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4000" imgH="190500" progId="Equation.DSMT4">
                  <p:embed/>
                </p:oleObj>
              </mc:Choice>
              <mc:Fallback>
                <p:oleObj r:id="rId4" imgW="254000" imgH="190500" progId="Equation.DSMT4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85875" y="1571625"/>
                        <a:ext cx="582613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5"/>
          <p:cNvGraphicFramePr/>
          <p:nvPr/>
        </p:nvGraphicFramePr>
        <p:xfrm>
          <a:off x="5857875" y="1571625"/>
          <a:ext cx="2009775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875665" imgH="203200" progId="Equation.DSMT4">
                  <p:embed/>
                </p:oleObj>
              </mc:Choice>
              <mc:Fallback>
                <p:oleObj r:id="rId6" imgW="875665" imgH="203200" progId="Equation.DSMT4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857875" y="1571625"/>
                        <a:ext cx="2009775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/>
          <p:cNvGraphicFramePr/>
          <p:nvPr/>
        </p:nvGraphicFramePr>
        <p:xfrm>
          <a:off x="1285875" y="2071688"/>
          <a:ext cx="14509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622300" imgH="241300" progId="Equation.DSMT4">
                  <p:embed/>
                </p:oleObj>
              </mc:Choice>
              <mc:Fallback>
                <p:oleObj r:id="rId8" imgW="622300" imgH="241300" progId="Equation.DSMT4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85875" y="2071688"/>
                        <a:ext cx="1450975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7"/>
          <p:cNvGraphicFramePr/>
          <p:nvPr/>
        </p:nvGraphicFramePr>
        <p:xfrm>
          <a:off x="3143250" y="2143125"/>
          <a:ext cx="388938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52400" imgH="152400" progId="Equation.DSMT4">
                  <p:embed/>
                </p:oleObj>
              </mc:Choice>
              <mc:Fallback>
                <p:oleObj r:id="rId10" imgW="152400" imgH="152400" progId="Equation.DSMT4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43250" y="2143125"/>
                        <a:ext cx="388938" cy="3889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4"/>
          <p:cNvGraphicFramePr/>
          <p:nvPr/>
        </p:nvGraphicFramePr>
        <p:xfrm>
          <a:off x="2125663" y="2928938"/>
          <a:ext cx="31146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331595" imgH="215900" progId="Equation.DSMT4">
                  <p:embed/>
                </p:oleObj>
              </mc:Choice>
              <mc:Fallback>
                <p:oleObj r:id="rId11" imgW="1331595" imgH="2159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125663" y="2928938"/>
                        <a:ext cx="3114675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8" name="Object 8"/>
          <p:cNvGraphicFramePr/>
          <p:nvPr/>
        </p:nvGraphicFramePr>
        <p:xfrm>
          <a:off x="2014538" y="3543300"/>
          <a:ext cx="5219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232025" imgH="215900" progId="Equation.DSMT4">
                  <p:embed/>
                </p:oleObj>
              </mc:Choice>
              <mc:Fallback>
                <p:oleObj r:id="rId13" imgW="2232025" imgH="215900" progId="Equation.DSMT4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14538" y="3543300"/>
                        <a:ext cx="521970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10"/>
          <p:cNvGraphicFramePr/>
          <p:nvPr/>
        </p:nvGraphicFramePr>
        <p:xfrm>
          <a:off x="2471738" y="4857750"/>
          <a:ext cx="40005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711960" imgH="215900" progId="Equation.DSMT4">
                  <p:embed/>
                </p:oleObj>
              </mc:Choice>
              <mc:Fallback>
                <p:oleObj r:id="rId15" imgW="1711960" imgH="215900" progId="Equation.DSMT4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71738" y="4857750"/>
                        <a:ext cx="400050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泰勒方法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求解初值问题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取四次泰勒方法，有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6866" name="Object 2"/>
          <p:cNvGraphicFramePr/>
          <p:nvPr/>
        </p:nvGraphicFramePr>
        <p:xfrm>
          <a:off x="2428875" y="1571625"/>
          <a:ext cx="3022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294765" imgH="190500" progId="Equation.DSMT4">
                  <p:embed/>
                </p:oleObj>
              </mc:Choice>
              <mc:Fallback>
                <p:oleObj r:id="rId2" imgW="1294765" imgH="190500" progId="Equation.DSMT4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8875" y="1571625"/>
                        <a:ext cx="3022600" cy="44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7" name="Object 3"/>
          <p:cNvGraphicFramePr/>
          <p:nvPr/>
        </p:nvGraphicFramePr>
        <p:xfrm>
          <a:off x="2214563" y="2643188"/>
          <a:ext cx="3822700" cy="281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638300" imgH="1206500" progId="Equation.DSMT4">
                  <p:embed/>
                </p:oleObj>
              </mc:Choice>
              <mc:Fallback>
                <p:oleObj r:id="rId4" imgW="1638300" imgH="1206500" progId="Equation.DSMT4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14563" y="2643188"/>
                        <a:ext cx="3822700" cy="28146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2"/>
          </a:xfrm>
        </p:spPr>
        <p:txBody>
          <a:bodyPr vert="horz" wrap="square" lIns="91440" tIns="45720" rIns="91440" bIns="45720" anchor="t" anchorCtr="0"/>
          <a:lstStyle/>
          <a:p>
            <a:pPr>
              <a:buNone/>
            </a:pPr>
            <a:r>
              <a:rPr lang="zh-CN" altLang="en-US" dirty="0"/>
              <a:t>构造</a:t>
            </a:r>
            <a:r>
              <a:rPr lang="en-US" altLang="zh-CN" dirty="0"/>
              <a:t>4</a:t>
            </a:r>
            <a:r>
              <a:rPr lang="zh-CN" altLang="en-US" dirty="0"/>
              <a:t>阶导数表</a:t>
            </a:r>
          </a:p>
        </p:txBody>
      </p:sp>
      <p:sp>
        <p:nvSpPr>
          <p:cNvPr id="3" name="矩形 2"/>
          <p:cNvSpPr/>
          <p:nvPr/>
        </p:nvSpPr>
        <p:spPr>
          <a:xfrm>
            <a:off x="357188" y="1571625"/>
            <a:ext cx="8429625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fr-FR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df=@(t,y) [(t-y)/2 (2-t+y)/4 (-2+t-y)/8 (2-t+y)/16];</a:t>
            </a:r>
          </a:p>
        </p:txBody>
      </p:sp>
      <p:pic>
        <p:nvPicPr>
          <p:cNvPr id="37891" name="Picture 3" descr="D:\Program Files (x86)\MATLAB\Work\zdw\Numerical_Computing\chapter9\5.png"/>
          <p:cNvPicPr>
            <a:picLocks noChangeAspect="1"/>
          </p:cNvPicPr>
          <p:nvPr/>
        </p:nvPicPr>
        <p:blipFill>
          <a:blip r:embed="rId2"/>
          <a:srcRect l="6697" t="5357" r="7578" b="5345"/>
          <a:stretch>
            <a:fillRect/>
          </a:stretch>
        </p:blipFill>
        <p:spPr>
          <a:xfrm>
            <a:off x="0" y="2357438"/>
            <a:ext cx="4572000" cy="3571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2" name="矩形 4"/>
          <p:cNvSpPr/>
          <p:nvPr/>
        </p:nvSpPr>
        <p:spPr>
          <a:xfrm>
            <a:off x="4929188" y="3929063"/>
            <a:ext cx="3929062" cy="1570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 1.0,  3.0,    0.0007955]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 0.5,  6.0,    0.0000402]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 0.25, 12.0,   0.0000022]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[ 0.125, 24.0,  0.0000001]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7893" name="Object 4"/>
          <p:cNvGraphicFramePr/>
          <p:nvPr/>
        </p:nvGraphicFramePr>
        <p:xfrm>
          <a:off x="5072063" y="3286125"/>
          <a:ext cx="3429000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38530" imgH="165100" progId="Equation.DSMT4">
                  <p:embed/>
                </p:oleObj>
              </mc:Choice>
              <mc:Fallback>
                <p:oleObj r:id="rId3" imgW="938530" imgH="165100" progId="Equation.DSMT4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72063" y="3286125"/>
                        <a:ext cx="3429000" cy="5667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072188" y="2357438"/>
            <a:ext cx="917575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40000"/>
                    <a:lumOff val="60000"/>
                  </a:schemeClr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exm5</a:t>
            </a:r>
            <a:endParaRPr kumimoji="1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2">
                  <a:lumMod val="40000"/>
                  <a:lumOff val="60000"/>
                </a:schemeClr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内容占位符 2"/>
          <p:cNvSpPr>
            <a:spLocks noGrp="1"/>
          </p:cNvSpPr>
          <p:nvPr>
            <p:ph idx="1"/>
          </p:nvPr>
        </p:nvSpPr>
        <p:spPr>
          <a:xfrm>
            <a:off x="428625" y="642938"/>
            <a:ext cx="8229600" cy="6215062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sz="4000" dirty="0">
                <a:solidFill>
                  <a:srgbClr val="FF0000"/>
                </a:solidFill>
              </a:rPr>
              <a:t>5.</a:t>
            </a:r>
            <a:r>
              <a:rPr lang="zh-CN" altLang="en-US" sz="4000" dirty="0">
                <a:solidFill>
                  <a:srgbClr val="FF0000"/>
                </a:solidFill>
              </a:rPr>
              <a:t>龙格</a:t>
            </a:r>
            <a:r>
              <a:rPr lang="en-US" altLang="zh-CN" sz="4000" dirty="0">
                <a:solidFill>
                  <a:srgbClr val="FF0000"/>
                </a:solidFill>
              </a:rPr>
              <a:t>-</a:t>
            </a:r>
            <a:r>
              <a:rPr lang="zh-CN" altLang="en-US" sz="4000" dirty="0">
                <a:solidFill>
                  <a:srgbClr val="FF0000"/>
                </a:solidFill>
              </a:rPr>
              <a:t>库塔</a:t>
            </a:r>
            <a:r>
              <a:rPr lang="en-US" altLang="zh-CN" sz="4000" dirty="0">
                <a:solidFill>
                  <a:srgbClr val="FF0000"/>
                </a:solidFill>
              </a:rPr>
              <a:t>(Runge-Kutta)</a:t>
            </a:r>
            <a:r>
              <a:rPr lang="zh-CN" altLang="en-US" sz="4000" dirty="0">
                <a:solidFill>
                  <a:srgbClr val="FF0000"/>
                </a:solidFill>
              </a:rPr>
              <a:t>方法</a:t>
            </a:r>
          </a:p>
          <a:p>
            <a:pPr>
              <a:buNone/>
            </a:pPr>
            <a:r>
              <a:rPr lang="zh-CN" altLang="en-US" dirty="0"/>
              <a:t>泰勒方法的优点是最终全局误差阶为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缺点：需要先确定  ，并计算高阶导数。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4</a:t>
            </a:r>
            <a:r>
              <a:rPr lang="zh-CN" altLang="en-US" dirty="0"/>
              <a:t>阶龙格</a:t>
            </a:r>
            <a:r>
              <a:rPr lang="en-US" altLang="zh-CN" dirty="0"/>
              <a:t>-</a:t>
            </a:r>
            <a:r>
              <a:rPr lang="zh-CN" altLang="en-US" dirty="0"/>
              <a:t>库塔方法</a:t>
            </a:r>
            <a:r>
              <a:rPr lang="en-US" altLang="zh-CN" dirty="0"/>
              <a:t>(RK4)</a:t>
            </a:r>
            <a:r>
              <a:rPr lang="zh-CN" altLang="en-US" dirty="0"/>
              <a:t>模拟</a:t>
            </a:r>
            <a:r>
              <a:rPr lang="en-US" altLang="zh-CN" dirty="0"/>
              <a:t>4</a:t>
            </a:r>
            <a:r>
              <a:rPr lang="zh-CN" altLang="en-US" dirty="0"/>
              <a:t>阶泰勒方法精度：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其中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endParaRPr lang="zh-CN" altLang="en-US" dirty="0"/>
          </a:p>
        </p:txBody>
      </p:sp>
      <p:graphicFrame>
        <p:nvGraphicFramePr>
          <p:cNvPr id="38914" name="Object 9"/>
          <p:cNvGraphicFramePr/>
          <p:nvPr/>
        </p:nvGraphicFramePr>
        <p:xfrm>
          <a:off x="7072313" y="1428750"/>
          <a:ext cx="84455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7665" imgH="203200" progId="Equation.DSMT4">
                  <p:embed/>
                </p:oleObj>
              </mc:Choice>
              <mc:Fallback>
                <p:oleObj r:id="rId2" imgW="367665" imgH="203200" progId="Equation.DSMT4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072313" y="1428750"/>
                        <a:ext cx="844550" cy="465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4"/>
          <p:cNvGraphicFramePr/>
          <p:nvPr/>
        </p:nvGraphicFramePr>
        <p:xfrm>
          <a:off x="3714750" y="2071688"/>
          <a:ext cx="34925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2400" imgH="152400" progId="Equation.DSMT4">
                  <p:embed/>
                </p:oleObj>
              </mc:Choice>
              <mc:Fallback>
                <p:oleObj r:id="rId4" imgW="152400" imgH="152400" progId="Equation.DSMT4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14750" y="2071688"/>
                        <a:ext cx="349250" cy="349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6" name="Object 5"/>
          <p:cNvGraphicFramePr/>
          <p:nvPr/>
        </p:nvGraphicFramePr>
        <p:xfrm>
          <a:off x="1603375" y="3500438"/>
          <a:ext cx="648970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840865" imgH="190500" progId="Equation.DSMT4">
                  <p:embed/>
                </p:oleObj>
              </mc:Choice>
              <mc:Fallback>
                <p:oleObj r:id="rId6" imgW="1840865" imgH="190500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603375" y="3500438"/>
                        <a:ext cx="6489700" cy="668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7" name="Object 6"/>
          <p:cNvGraphicFramePr/>
          <p:nvPr/>
        </p:nvGraphicFramePr>
        <p:xfrm>
          <a:off x="1571625" y="4429125"/>
          <a:ext cx="605155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29765" imgH="774065" progId="Equation.DSMT4">
                  <p:embed/>
                </p:oleObj>
              </mc:Choice>
              <mc:Fallback>
                <p:oleObj r:id="rId8" imgW="1929765" imgH="774065" progId="Equation.DSMT4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71625" y="4429125"/>
                        <a:ext cx="6051550" cy="242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内容占位符 2"/>
          <p:cNvSpPr>
            <a:spLocks noGrp="1"/>
          </p:cNvSpPr>
          <p:nvPr>
            <p:ph idx="1"/>
          </p:nvPr>
        </p:nvSpPr>
        <p:spPr>
          <a:xfrm>
            <a:off x="214313" y="928688"/>
            <a:ext cx="8929687" cy="5929312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比较</a:t>
            </a:r>
            <a:r>
              <a:rPr lang="en-US" altLang="zh-CN" dirty="0"/>
              <a:t>4</a:t>
            </a:r>
            <a:r>
              <a:rPr lang="zh-CN" altLang="en-US" dirty="0"/>
              <a:t>阶泰勒级数方法得到的系数，并令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有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得到从初始点        开始，由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生成序列，其中</a:t>
            </a:r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39938" name="Object 9"/>
          <p:cNvGraphicFramePr/>
          <p:nvPr/>
        </p:nvGraphicFramePr>
        <p:xfrm>
          <a:off x="3143250" y="1500188"/>
          <a:ext cx="18351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799465" imgH="190500" progId="Equation.DSMT4">
                  <p:embed/>
                </p:oleObj>
              </mc:Choice>
              <mc:Fallback>
                <p:oleObj r:id="rId2" imgW="799465" imgH="190500" progId="Equation.DSMT4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143250" y="1500188"/>
                        <a:ext cx="1835150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39" name="Object 4"/>
          <p:cNvGraphicFramePr/>
          <p:nvPr/>
        </p:nvGraphicFramePr>
        <p:xfrm>
          <a:off x="1285875" y="2357438"/>
          <a:ext cx="5564188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24430" imgH="571500" progId="Equation.DSMT4">
                  <p:embed/>
                </p:oleObj>
              </mc:Choice>
              <mc:Fallback>
                <p:oleObj r:id="rId4" imgW="2424430" imgH="571500" progId="Equation.DSMT4">
                  <p:embed/>
                  <p:pic>
                    <p:nvPicPr>
                      <p:cNvPr id="0" name="图片 316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85875" y="2357438"/>
                        <a:ext cx="5564188" cy="1304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0" name="Object 5"/>
          <p:cNvGraphicFramePr/>
          <p:nvPr/>
        </p:nvGraphicFramePr>
        <p:xfrm>
          <a:off x="2786063" y="3929063"/>
          <a:ext cx="8731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381000" imgH="190500" progId="Equation.DSMT4">
                  <p:embed/>
                </p:oleObj>
              </mc:Choice>
              <mc:Fallback>
                <p:oleObj r:id="rId6" imgW="381000" imgH="190500" progId="Equation.DSMT4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6063" y="3929063"/>
                        <a:ext cx="873125" cy="4349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1" name="Object 6"/>
          <p:cNvGraphicFramePr/>
          <p:nvPr/>
        </p:nvGraphicFramePr>
        <p:xfrm>
          <a:off x="5240338" y="3714750"/>
          <a:ext cx="3903662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701165" imgH="342900" progId="Equation.DSMT4">
                  <p:embed/>
                </p:oleObj>
              </mc:Choice>
              <mc:Fallback>
                <p:oleObj r:id="rId8" imgW="1701165" imgH="342900" progId="Equation.DSMT4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40338" y="3714750"/>
                        <a:ext cx="3903662" cy="784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6"/>
          <p:cNvGraphicFramePr/>
          <p:nvPr/>
        </p:nvGraphicFramePr>
        <p:xfrm>
          <a:off x="3357563" y="4429125"/>
          <a:ext cx="3543300" cy="242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129665" imgH="774065" progId="Equation.DSMT4">
                  <p:embed/>
                </p:oleObj>
              </mc:Choice>
              <mc:Fallback>
                <p:oleObj r:id="rId10" imgW="1129665" imgH="774065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57563" y="4429125"/>
                        <a:ext cx="3543300" cy="2428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龙格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库塔方法的精度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     是是初值问题的解，如果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且              为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阶龙格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库塔方法产生的近似序列，则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最终全局误差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0962" name="Object 2"/>
          <p:cNvGraphicFramePr/>
          <p:nvPr/>
        </p:nvGraphicFramePr>
        <p:xfrm>
          <a:off x="1285875" y="1571625"/>
          <a:ext cx="582613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4000" imgH="190500" progId="Equation.DSMT4">
                  <p:embed/>
                </p:oleObj>
              </mc:Choice>
              <mc:Fallback>
                <p:oleObj r:id="rId2" imgW="254000" imgH="190500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85875" y="1571625"/>
                        <a:ext cx="582613" cy="436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5"/>
          <p:cNvGraphicFramePr/>
          <p:nvPr/>
        </p:nvGraphicFramePr>
        <p:xfrm>
          <a:off x="6286500" y="1643063"/>
          <a:ext cx="1776413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774065" imgH="203200" progId="Equation.DSMT4">
                  <p:embed/>
                </p:oleObj>
              </mc:Choice>
              <mc:Fallback>
                <p:oleObj r:id="rId4" imgW="774065" imgH="20320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86500" y="1643063"/>
                        <a:ext cx="1776413" cy="465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" name="Object 4"/>
          <p:cNvGraphicFramePr/>
          <p:nvPr/>
        </p:nvGraphicFramePr>
        <p:xfrm>
          <a:off x="1285875" y="2071688"/>
          <a:ext cx="14509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622300" imgH="241300" progId="Equation.DSMT4">
                  <p:embed/>
                </p:oleObj>
              </mc:Choice>
              <mc:Fallback>
                <p:oleObj r:id="rId6" imgW="622300" imgH="241300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85875" y="2071688"/>
                        <a:ext cx="1450975" cy="563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" name="Object 5"/>
          <p:cNvGraphicFramePr/>
          <p:nvPr/>
        </p:nvGraphicFramePr>
        <p:xfrm>
          <a:off x="2782888" y="3100388"/>
          <a:ext cx="30559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06195" imgH="215900" progId="Equation.DSMT4">
                  <p:embed/>
                </p:oleObj>
              </mc:Choice>
              <mc:Fallback>
                <p:oleObj r:id="rId8" imgW="1306195" imgH="215900" progId="Equation.DSMT4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782888" y="3100388"/>
                        <a:ext cx="3055937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" name="Object 7"/>
          <p:cNvGraphicFramePr/>
          <p:nvPr/>
        </p:nvGraphicFramePr>
        <p:xfrm>
          <a:off x="2760663" y="3714750"/>
          <a:ext cx="498316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131060" imgH="215900" progId="Equation.DSMT4">
                  <p:embed/>
                </p:oleObj>
              </mc:Choice>
              <mc:Fallback>
                <p:oleObj r:id="rId10" imgW="2131060" imgH="215900" progId="Equation.DSMT4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760663" y="3714750"/>
                        <a:ext cx="4983162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" name="Object 10"/>
          <p:cNvGraphicFramePr/>
          <p:nvPr/>
        </p:nvGraphicFramePr>
        <p:xfrm>
          <a:off x="3128963" y="5029200"/>
          <a:ext cx="39433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687195" imgH="215900" progId="Equation.DSMT4">
                  <p:embed/>
                </p:oleObj>
              </mc:Choice>
              <mc:Fallback>
                <p:oleObj r:id="rId12" imgW="1687195" imgH="215900" progId="Equation.DSMT4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128963" y="5029200"/>
                        <a:ext cx="3943350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2"/>
          </a:xfrm>
        </p:spPr>
        <p:txBody>
          <a:bodyPr vert="horz" wrap="square" lIns="91440" tIns="45720" rIns="91440" bIns="45720" anchor="t" anchorCtr="0"/>
          <a:lstStyle/>
          <a:p>
            <a:r>
              <a:rPr lang="en-US" altLang="zh-CN" dirty="0">
                <a:solidFill>
                  <a:srgbClr val="FF0000"/>
                </a:solidFill>
              </a:rPr>
              <a:t>     </a:t>
            </a:r>
            <a:r>
              <a:rPr lang="zh-CN" altLang="en-US" dirty="0">
                <a:solidFill>
                  <a:srgbClr val="FF0000"/>
                </a:solidFill>
              </a:rPr>
              <a:t>的龙格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>
                <a:solidFill>
                  <a:srgbClr val="FF0000"/>
                </a:solidFill>
              </a:rPr>
              <a:t>库塔（</a:t>
            </a:r>
            <a:r>
              <a:rPr lang="en-US" altLang="zh-CN" dirty="0">
                <a:solidFill>
                  <a:srgbClr val="FF0000"/>
                </a:solidFill>
              </a:rPr>
              <a:t>RK2</a:t>
            </a:r>
            <a:r>
              <a:rPr lang="zh-CN" altLang="en-US" dirty="0">
                <a:solidFill>
                  <a:srgbClr val="FF0000"/>
                </a:solidFill>
              </a:rPr>
              <a:t>）方法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dirty="0"/>
              <a:t>对        用</a:t>
            </a:r>
            <a:r>
              <a:rPr lang="en-US" altLang="zh-CN" dirty="0"/>
              <a:t>2</a:t>
            </a:r>
            <a:r>
              <a:rPr lang="zh-CN" altLang="en-US" dirty="0"/>
              <a:t>阶泰勒级数展开：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其中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从而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41986" name="Object 2"/>
          <p:cNvGraphicFramePr/>
          <p:nvPr/>
        </p:nvGraphicFramePr>
        <p:xfrm>
          <a:off x="714375" y="1071563"/>
          <a:ext cx="8159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42900" imgH="152400" progId="Equation.DSMT4">
                  <p:embed/>
                </p:oleObj>
              </mc:Choice>
              <mc:Fallback>
                <p:oleObj r:id="rId2" imgW="342900" imgH="152400" progId="Equation.DSMT4">
                  <p:embed/>
                  <p:pic>
                    <p:nvPicPr>
                      <p:cNvPr id="0" name="图片 314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14375" y="1071563"/>
                        <a:ext cx="815975" cy="361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7" name="Object 4"/>
          <p:cNvGraphicFramePr/>
          <p:nvPr/>
        </p:nvGraphicFramePr>
        <p:xfrm>
          <a:off x="823913" y="1598613"/>
          <a:ext cx="1027112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31800" imgH="190500" progId="Equation.DSMT4">
                  <p:embed/>
                </p:oleObj>
              </mc:Choice>
              <mc:Fallback>
                <p:oleObj r:id="rId4" imgW="431800" imgH="190500" progId="Equation.DSMT4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3913" y="1598613"/>
                        <a:ext cx="1027112" cy="452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8" name="Object 5"/>
          <p:cNvGraphicFramePr/>
          <p:nvPr/>
        </p:nvGraphicFramePr>
        <p:xfrm>
          <a:off x="1585913" y="2143125"/>
          <a:ext cx="54387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284095" imgH="203200" progId="Equation.DSMT4">
                  <p:embed/>
                </p:oleObj>
              </mc:Choice>
              <mc:Fallback>
                <p:oleObj r:id="rId6" imgW="2284095" imgH="203200" progId="Equation.DSMT4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5913" y="2143125"/>
                        <a:ext cx="543877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9" name="Object 6"/>
          <p:cNvGraphicFramePr/>
          <p:nvPr/>
        </p:nvGraphicFramePr>
        <p:xfrm>
          <a:off x="1571625" y="3071813"/>
          <a:ext cx="610235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562860" imgH="203200" progId="Equation.DSMT4">
                  <p:embed/>
                </p:oleObj>
              </mc:Choice>
              <mc:Fallback>
                <p:oleObj r:id="rId8" imgW="2562860" imgH="203200" progId="Equation.DSMT4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71625" y="3071813"/>
                        <a:ext cx="6102350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7"/>
          <p:cNvGraphicFramePr/>
          <p:nvPr/>
        </p:nvGraphicFramePr>
        <p:xfrm>
          <a:off x="1398588" y="4000500"/>
          <a:ext cx="4954587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082165" imgH="444500" progId="Equation.DSMT4">
                  <p:embed/>
                </p:oleObj>
              </mc:Choice>
              <mc:Fallback>
                <p:oleObj r:id="rId10" imgW="2082165" imgH="444500" progId="Equation.DSMT4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398588" y="4000500"/>
                        <a:ext cx="4954587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内容占位符 2"/>
          <p:cNvSpPr>
            <a:spLocks noGrp="1"/>
          </p:cNvSpPr>
          <p:nvPr>
            <p:ph idx="1"/>
          </p:nvPr>
        </p:nvSpPr>
        <p:spPr>
          <a:xfrm>
            <a:off x="428625" y="928688"/>
            <a:ext cx="8229600" cy="5929312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由函数的线性组合逼近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其中</a:t>
            </a:r>
            <a:endParaRPr lang="en-US" altLang="zh-CN" dirty="0"/>
          </a:p>
          <a:p>
            <a:endParaRPr lang="zh-CN" altLang="en-US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对   ，用双独立变量的泰勒多项式逼近</a:t>
            </a:r>
            <a:endParaRPr lang="en-US" altLang="zh-CN" dirty="0"/>
          </a:p>
          <a:p>
            <a:endParaRPr lang="en-US" altLang="zh-CN" dirty="0"/>
          </a:p>
          <a:p>
            <a:pPr>
              <a:buNone/>
            </a:pPr>
            <a:r>
              <a:rPr lang="en-US" altLang="zh-CN" dirty="0">
                <a:solidFill>
                  <a:srgbClr val="C00000"/>
                </a:solidFill>
              </a:rPr>
              <a:t>	</a:t>
            </a:r>
            <a:r>
              <a:rPr lang="zh-CN" altLang="en-US" dirty="0">
                <a:solidFill>
                  <a:srgbClr val="C00000"/>
                </a:solidFill>
              </a:rPr>
              <a:t>利用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/>
              <a:t>得到</a:t>
            </a:r>
            <a:r>
              <a:rPr lang="en-US" altLang="zh-CN" dirty="0"/>
              <a:t>RK2</a:t>
            </a:r>
            <a:endParaRPr lang="zh-CN" altLang="en-US" dirty="0"/>
          </a:p>
          <a:p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graphicFrame>
        <p:nvGraphicFramePr>
          <p:cNvPr id="43010" name="Object 3"/>
          <p:cNvGraphicFramePr/>
          <p:nvPr/>
        </p:nvGraphicFramePr>
        <p:xfrm>
          <a:off x="2425700" y="1657350"/>
          <a:ext cx="3444875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47165" imgH="190500" progId="Equation.DSMT4">
                  <p:embed/>
                </p:oleObj>
              </mc:Choice>
              <mc:Fallback>
                <p:oleObj r:id="rId2" imgW="1447165" imgH="190500" progId="Equation.DSMT4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5700" y="1657350"/>
                        <a:ext cx="3444875" cy="452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1" name="Object 4"/>
          <p:cNvGraphicFramePr/>
          <p:nvPr/>
        </p:nvGraphicFramePr>
        <p:xfrm>
          <a:off x="2000250" y="2357438"/>
          <a:ext cx="293052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31265" imgH="393700" progId="Equation.DSMT4">
                  <p:embed/>
                </p:oleObj>
              </mc:Choice>
              <mc:Fallback>
                <p:oleObj r:id="rId4" imgW="1231265" imgH="393700" progId="Equation.DSMT4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00250" y="2357438"/>
                        <a:ext cx="2930525" cy="9350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5"/>
          <p:cNvGraphicFramePr/>
          <p:nvPr/>
        </p:nvGraphicFramePr>
        <p:xfrm>
          <a:off x="1214438" y="3357563"/>
          <a:ext cx="331787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9700" imgH="190500" progId="Equation.DSMT4">
                  <p:embed/>
                </p:oleObj>
              </mc:Choice>
              <mc:Fallback>
                <p:oleObj r:id="rId6" imgW="139700" imgH="190500" progId="Equation.DSMT4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14438" y="3357563"/>
                        <a:ext cx="331787" cy="452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3" name="Object 6"/>
          <p:cNvGraphicFramePr/>
          <p:nvPr/>
        </p:nvGraphicFramePr>
        <p:xfrm>
          <a:off x="1714500" y="3857625"/>
          <a:ext cx="5349875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44725" imgH="215900" progId="Equation.DSMT4">
                  <p:embed/>
                </p:oleObj>
              </mc:Choice>
              <mc:Fallback>
                <p:oleObj r:id="rId8" imgW="2244725" imgH="215900" progId="Equation.DSMT4">
                  <p:embed/>
                  <p:pic>
                    <p:nvPicPr>
                      <p:cNvPr id="0" name="图片 315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14500" y="3857625"/>
                        <a:ext cx="5349875" cy="512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4" name="Object 7"/>
          <p:cNvGraphicFramePr/>
          <p:nvPr/>
        </p:nvGraphicFramePr>
        <p:xfrm>
          <a:off x="1785938" y="4500563"/>
          <a:ext cx="607536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550795" imgH="203200" progId="Equation.DSMT4">
                  <p:embed/>
                </p:oleObj>
              </mc:Choice>
              <mc:Fallback>
                <p:oleObj r:id="rId10" imgW="2550795" imgH="203200" progId="Equation.DSMT4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785938" y="4500563"/>
                        <a:ext cx="6075362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5" name="Object 8"/>
          <p:cNvGraphicFramePr/>
          <p:nvPr/>
        </p:nvGraphicFramePr>
        <p:xfrm>
          <a:off x="2409825" y="5429250"/>
          <a:ext cx="561975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360930" imgH="444500" progId="Equation.DSMT4">
                  <p:embed/>
                </p:oleObj>
              </mc:Choice>
              <mc:Fallback>
                <p:oleObj r:id="rId12" imgW="2360930" imgH="444500" progId="Equation.DSMT4">
                  <p:embed/>
                  <p:pic>
                    <p:nvPicPr>
                      <p:cNvPr id="0" name="图片 3145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409825" y="5429250"/>
                        <a:ext cx="5619750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比较系数，有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选取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休恩方法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选取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改进的欧拉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柯西方法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]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4034" name="Object 3"/>
          <p:cNvGraphicFramePr/>
          <p:nvPr/>
        </p:nvGraphicFramePr>
        <p:xfrm>
          <a:off x="2000250" y="1571625"/>
          <a:ext cx="3414713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434465" imgH="190500" progId="Equation.DSMT4">
                  <p:embed/>
                </p:oleObj>
              </mc:Choice>
              <mc:Fallback>
                <p:oleObj r:id="rId2" imgW="1434465" imgH="190500" progId="Equation.DSMT4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00250" y="1571625"/>
                        <a:ext cx="3414713" cy="452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5" name="Object 4"/>
          <p:cNvGraphicFramePr/>
          <p:nvPr/>
        </p:nvGraphicFramePr>
        <p:xfrm>
          <a:off x="1571625" y="2214563"/>
          <a:ext cx="3173413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32865" imgH="190500" progId="Equation.DSMT4">
                  <p:embed/>
                </p:oleObj>
              </mc:Choice>
              <mc:Fallback>
                <p:oleObj r:id="rId4" imgW="1332865" imgH="190500" progId="Equation.DSMT4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71625" y="2214563"/>
                        <a:ext cx="3173413" cy="452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5"/>
          <p:cNvGraphicFramePr/>
          <p:nvPr/>
        </p:nvGraphicFramePr>
        <p:xfrm>
          <a:off x="571500" y="3286125"/>
          <a:ext cx="74803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487930" imgH="190500" progId="Equation.DSMT4">
                  <p:embed/>
                </p:oleObj>
              </mc:Choice>
              <mc:Fallback>
                <p:oleObj r:id="rId6" imgW="2487930" imgH="190500" progId="Equation.DSMT4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1500" y="3286125"/>
                        <a:ext cx="74803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7" name="Object 6"/>
          <p:cNvGraphicFramePr/>
          <p:nvPr/>
        </p:nvGraphicFramePr>
        <p:xfrm>
          <a:off x="1857375" y="4000500"/>
          <a:ext cx="31432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20165" imgH="190500" progId="Equation.DSMT4">
                  <p:embed/>
                </p:oleObj>
              </mc:Choice>
              <mc:Fallback>
                <p:oleObj r:id="rId8" imgW="1320165" imgH="190500" progId="Equation.DSMT4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57375" y="4000500"/>
                        <a:ext cx="3143250" cy="452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8" name="Object 7"/>
          <p:cNvGraphicFramePr/>
          <p:nvPr/>
        </p:nvGraphicFramePr>
        <p:xfrm>
          <a:off x="1800225" y="5072063"/>
          <a:ext cx="58785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955165" imgH="190500" progId="Equation.DSMT4">
                  <p:embed/>
                </p:oleObj>
              </mc:Choice>
              <mc:Fallback>
                <p:oleObj r:id="rId10" imgW="1955165" imgH="190500" progId="Equation.DSMT4">
                  <p:embed/>
                  <p:pic>
                    <p:nvPicPr>
                      <p:cNvPr id="0" name="图片 314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800225" y="5072063"/>
                        <a:ext cx="5878513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dirty="0" err="1">
                <a:solidFill>
                  <a:srgbClr val="000000"/>
                </a:solidFill>
                <a:latin typeface="Arial" panose="020B0604020202020204"/>
              </a:rPr>
              <a:t>Runge-Kutta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/>
              </a:rPr>
              <a:t>方法</a:t>
            </a:r>
          </a:p>
        </p:txBody>
      </p:sp>
      <p:sp>
        <p:nvSpPr>
          <p:cNvPr id="45058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900">
                <a:latin typeface="Arial Black" panose="020B0A04020102020204" pitchFamily="34" charset="0"/>
                <a:ea typeface="宋体" panose="02010600030101010101" pitchFamily="2" charset="-122"/>
              </a:rPr>
              <a:t>33</a:t>
            </a:fld>
            <a:endParaRPr lang="zh-CN" altLang="en-US" sz="900">
              <a:latin typeface="Arial Black" panose="020B0A04020102020204" pitchFamily="34" charset="0"/>
              <a:ea typeface="宋体" panose="02010600030101010101" pitchFamily="2" charset="-122"/>
            </a:endParaRPr>
          </a:p>
        </p:txBody>
      </p:sp>
      <p:pic>
        <p:nvPicPr>
          <p:cNvPr id="45059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768475"/>
            <a:ext cx="7648575" cy="393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2863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龙格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库塔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-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费尔伯格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(RKF45)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方法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（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不作推导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）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自动改变步长，每步取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个值：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6082" name="Object 3"/>
          <p:cNvGraphicFramePr/>
          <p:nvPr/>
        </p:nvGraphicFramePr>
        <p:xfrm>
          <a:off x="785813" y="2071688"/>
          <a:ext cx="7662862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692400" imgH="1206500" progId="Equation.DSMT4">
                  <p:embed/>
                </p:oleObj>
              </mc:Choice>
              <mc:Fallback>
                <p:oleObj r:id="rId2" imgW="2692400" imgH="1206500" progId="Equation.DSMT4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5813" y="2071688"/>
                        <a:ext cx="7662862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5286375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用</a:t>
            </a:r>
            <a:r>
              <a:rPr lang="en-US" altLang="zh-CN" dirty="0"/>
              <a:t>4</a:t>
            </a:r>
            <a:r>
              <a:rPr lang="zh-CN" altLang="en-US" dirty="0"/>
              <a:t>阶龙格</a:t>
            </a:r>
            <a:r>
              <a:rPr lang="en-US" altLang="zh-CN" dirty="0"/>
              <a:t>-</a:t>
            </a:r>
            <a:r>
              <a:rPr lang="zh-CN" altLang="en-US" dirty="0"/>
              <a:t>库塔方法求近似解</a:t>
            </a:r>
            <a:endParaRPr lang="en-US" altLang="zh-CN" dirty="0"/>
          </a:p>
          <a:p>
            <a:endParaRPr lang="zh-CN" altLang="en-US" dirty="0"/>
          </a:p>
          <a:p>
            <a:pPr>
              <a:buNone/>
            </a:pPr>
            <a:r>
              <a:rPr lang="zh-CN" altLang="en-US" dirty="0"/>
              <a:t>  用</a:t>
            </a:r>
            <a:r>
              <a:rPr lang="en-US" altLang="zh-CN" dirty="0"/>
              <a:t>5</a:t>
            </a:r>
            <a:r>
              <a:rPr lang="zh-CN" altLang="en-US" dirty="0"/>
              <a:t>阶龙格</a:t>
            </a:r>
            <a:r>
              <a:rPr lang="en-US" altLang="zh-CN" dirty="0"/>
              <a:t>-</a:t>
            </a:r>
            <a:r>
              <a:rPr lang="zh-CN" altLang="en-US" dirty="0"/>
              <a:t>库塔方法得更好的解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zh-CN" altLang="en-US" dirty="0"/>
              <a:t>最佳步长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标量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r>
              <a:rPr lang="en-US" altLang="zh-CN" dirty="0"/>
              <a:t>Tol</a:t>
            </a:r>
            <a:r>
              <a:rPr lang="zh-CN" altLang="en-US" dirty="0"/>
              <a:t>为指定的误差控制容差</a:t>
            </a:r>
            <a:endParaRPr lang="en-US" altLang="zh-CN" dirty="0"/>
          </a:p>
          <a:p>
            <a:pPr>
              <a:buNone/>
            </a:pPr>
            <a:endParaRPr lang="zh-CN" altLang="en-US" dirty="0">
              <a:solidFill>
                <a:srgbClr val="FF0000"/>
              </a:solidFill>
            </a:endParaRPr>
          </a:p>
          <a:p>
            <a:pPr>
              <a:buNone/>
            </a:pPr>
            <a:endParaRPr lang="zh-CN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7106" name="Object 3"/>
          <p:cNvGraphicFramePr/>
          <p:nvPr/>
        </p:nvGraphicFramePr>
        <p:xfrm>
          <a:off x="1304925" y="1500188"/>
          <a:ext cx="584041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42465" imgH="190500" progId="Equation.DSMT4">
                  <p:embed/>
                </p:oleObj>
              </mc:Choice>
              <mc:Fallback>
                <p:oleObj r:id="rId2" imgW="1942465" imgH="190500" progId="Equation.DSMT4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04925" y="1500188"/>
                        <a:ext cx="5840413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7" name="Object 4"/>
          <p:cNvGraphicFramePr/>
          <p:nvPr/>
        </p:nvGraphicFramePr>
        <p:xfrm>
          <a:off x="1143000" y="2857500"/>
          <a:ext cx="6985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22830" imgH="190500" progId="Equation.DSMT4">
                  <p:embed/>
                </p:oleObj>
              </mc:Choice>
              <mc:Fallback>
                <p:oleObj r:id="rId4" imgW="2322830" imgH="190500" progId="Equation.DSMT4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43000" y="2857500"/>
                        <a:ext cx="69850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8" name="Object 6"/>
          <p:cNvGraphicFramePr/>
          <p:nvPr/>
        </p:nvGraphicFramePr>
        <p:xfrm>
          <a:off x="2143125" y="3357563"/>
          <a:ext cx="3921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65100" imgH="165100" progId="Equation.DSMT4">
                  <p:embed/>
                </p:oleObj>
              </mc:Choice>
              <mc:Fallback>
                <p:oleObj r:id="rId6" imgW="165100" imgH="165100" progId="Equation.DSMT4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43125" y="3357563"/>
                        <a:ext cx="392113" cy="392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7"/>
          <p:cNvGraphicFramePr/>
          <p:nvPr/>
        </p:nvGraphicFramePr>
        <p:xfrm>
          <a:off x="1643063" y="4286250"/>
          <a:ext cx="5187950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183765" imgH="444500" progId="Equation.DSMT4">
                  <p:embed/>
                </p:oleObj>
              </mc:Choice>
              <mc:Fallback>
                <p:oleObj r:id="rId8" imgW="2183765" imgH="444500" progId="Equation.DSMT4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643063" y="4286250"/>
                        <a:ext cx="5187950" cy="1055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2"/>
          </a:xfrm>
        </p:spPr>
        <p:txBody>
          <a:bodyPr vert="horz" wrap="square" lIns="91440" tIns="45720" rIns="91440" bIns="45720" anchor="t" anchorCtr="0"/>
          <a:lstStyle/>
          <a:p>
            <a:r>
              <a:rPr lang="zh-CN" altLang="en-US" dirty="0"/>
              <a:t>例</a:t>
            </a:r>
            <a:r>
              <a:rPr lang="en-US" altLang="zh-CN" dirty="0"/>
              <a:t>.</a:t>
            </a:r>
            <a:r>
              <a:rPr lang="zh-CN" altLang="en-US" dirty="0"/>
              <a:t>区间</a:t>
            </a:r>
            <a:r>
              <a:rPr lang="en-US" altLang="zh-CN" dirty="0"/>
              <a:t>[0,1.4]</a:t>
            </a:r>
            <a:r>
              <a:rPr lang="zh-CN" altLang="en-US" dirty="0"/>
              <a:t>上的初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  值问题</a:t>
            </a:r>
          </a:p>
          <a:p>
            <a:endParaRPr lang="zh-CN" alt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altLang="zh-CN" dirty="0">
                <a:solidFill>
                  <a:srgbClr val="FF0000"/>
                </a:solidFill>
              </a:rPr>
              <a:t>	RKF45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/>
              <a:t>tol=        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自动改变步长，</a:t>
            </a:r>
            <a:r>
              <a:rPr lang="en-US" altLang="zh-CN" dirty="0"/>
              <a:t>10</a:t>
            </a:r>
            <a:r>
              <a:rPr lang="zh-CN" altLang="en-US" dirty="0"/>
              <a:t>步</a:t>
            </a:r>
          </a:p>
          <a:p>
            <a:pPr>
              <a:buNone/>
            </a:pPr>
            <a:r>
              <a:rPr lang="en-US" altLang="zh-CN" dirty="0"/>
              <a:t>   FGE=</a:t>
            </a:r>
            <a:endParaRPr lang="zh-CN" altLang="en-US" dirty="0"/>
          </a:p>
        </p:txBody>
      </p:sp>
      <p:graphicFrame>
        <p:nvGraphicFramePr>
          <p:cNvPr id="48130" name="Object 3"/>
          <p:cNvGraphicFramePr/>
          <p:nvPr/>
        </p:nvGraphicFramePr>
        <p:xfrm>
          <a:off x="1071563" y="2071688"/>
          <a:ext cx="24479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28065" imgH="203200" progId="Equation.DSMT4">
                  <p:embed/>
                </p:oleObj>
              </mc:Choice>
              <mc:Fallback>
                <p:oleObj r:id="rId2" imgW="1028065" imgH="203200" progId="Equation.DSMT4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71563" y="2071688"/>
                        <a:ext cx="2447925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4"/>
          <p:cNvGraphicFramePr/>
          <p:nvPr/>
        </p:nvGraphicFramePr>
        <p:xfrm>
          <a:off x="3214688" y="2786063"/>
          <a:ext cx="917575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393065" imgH="177800" progId="Equation.DSMT4">
                  <p:embed/>
                </p:oleObj>
              </mc:Choice>
              <mc:Fallback>
                <p:oleObj r:id="rId4" imgW="393065" imgH="177800" progId="Equation.DSMT4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14688" y="2786063"/>
                        <a:ext cx="917575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矩形 4"/>
          <p:cNvSpPr/>
          <p:nvPr/>
        </p:nvSpPr>
        <p:spPr>
          <a:xfrm>
            <a:off x="4929188" y="1225550"/>
            <a:ext cx="4000500" cy="563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0                   0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0.1272727   0.1279644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0.3818181   0.4015230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0.6363636   0.7389110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0.8909090   1.2369304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1.0181818   1.6215642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1.1454545   2.2076309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1.2090909   2.6431869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1.2727272   3.2551861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1.3045454   3.6669442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1.3363636   4.1875201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1.3522727   4.5034758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1.3681818   4.8682042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1.3840909   5.2941765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1.4000000   5.7985111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8133" name="Object 5"/>
          <p:cNvGraphicFramePr/>
          <p:nvPr/>
        </p:nvGraphicFramePr>
        <p:xfrm>
          <a:off x="5643563" y="600075"/>
          <a:ext cx="25717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57200" imgH="190500" progId="Equation.DSMT4">
                  <p:embed/>
                </p:oleObj>
              </mc:Choice>
              <mc:Fallback>
                <p:oleObj r:id="rId6" imgW="457200" imgH="190500" progId="Equation.DSMT4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643563" y="600075"/>
                        <a:ext cx="2571750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矩形 6"/>
          <p:cNvSpPr/>
          <p:nvPr/>
        </p:nvSpPr>
        <p:spPr>
          <a:xfrm>
            <a:off x="2000250" y="3929063"/>
            <a:ext cx="2073275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6.2741*10-04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内容占位符 2"/>
          <p:cNvSpPr>
            <a:spLocks noGrp="1"/>
          </p:cNvSpPr>
          <p:nvPr>
            <p:ph idx="1"/>
          </p:nvPr>
        </p:nvSpPr>
        <p:spPr>
          <a:xfrm>
            <a:off x="457200" y="0"/>
            <a:ext cx="8543925" cy="6858000"/>
          </a:xfrm>
        </p:spPr>
        <p:txBody>
          <a:bodyPr vert="horz" wrap="square" lIns="91440" tIns="45720" rIns="91440" bIns="45720" anchor="t" anchorCtr="0"/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FGE= 0.0059089</a:t>
            </a:r>
            <a:r>
              <a:rPr lang="zh-CN" altLang="en-US" dirty="0"/>
              <a:t>，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固定步长，</a:t>
            </a:r>
            <a:r>
              <a:rPr lang="en-US" altLang="zh-CN" dirty="0"/>
              <a:t>14</a:t>
            </a:r>
            <a:r>
              <a:rPr lang="zh-CN" altLang="en-US" dirty="0"/>
              <a:t>步</a:t>
            </a:r>
          </a:p>
        </p:txBody>
      </p:sp>
      <p:sp>
        <p:nvSpPr>
          <p:cNvPr id="49154" name="矩形 2"/>
          <p:cNvSpPr/>
          <p:nvPr/>
        </p:nvSpPr>
        <p:spPr>
          <a:xfrm>
            <a:off x="5286375" y="1225550"/>
            <a:ext cx="3714750" cy="56324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dirty="0">
                <a:latin typeface="Tahoma" panose="020B060403050404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0                   0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0.1000000   0.1003345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0.2000000   0.2027098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0.3000000   0.3093360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0.4000000   0.4227929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0.5000000   0.5463023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0.6000000   0.6841367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0.7000000   0.8422885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0.8000000   1.0296390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0.9000000   1.2601587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1.0000000   1.5574064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1.1000000   1.9647465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1.2000000   2.5720717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1.3000000   3.6015634</a:t>
            </a:r>
          </a:p>
          <a:p>
            <a:r>
              <a:rPr lang="en-US" altLang="zh-CN" dirty="0">
                <a:latin typeface="Tahoma" panose="020B0604030504040204" pitchFamily="34" charset="0"/>
                <a:ea typeface="宋体" panose="02010600030101010101" pitchFamily="2" charset="-122"/>
              </a:rPr>
              <a:t>   1.4000000   5.7919748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9155" name="Object 4"/>
          <p:cNvGraphicFramePr/>
          <p:nvPr/>
        </p:nvGraphicFramePr>
        <p:xfrm>
          <a:off x="5786438" y="642938"/>
          <a:ext cx="2571750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457200" imgH="190500" progId="Equation.DSMT4">
                  <p:embed/>
                </p:oleObj>
              </mc:Choice>
              <mc:Fallback>
                <p:oleObj r:id="rId2" imgW="457200" imgH="190500" progId="Equation.DSMT4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786438" y="642938"/>
                        <a:ext cx="2571750" cy="654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矩形 4"/>
          <p:cNvSpPr/>
          <p:nvPr/>
        </p:nvSpPr>
        <p:spPr>
          <a:xfrm>
            <a:off x="785813" y="571500"/>
            <a:ext cx="725487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RK4</a:t>
            </a:r>
            <a:endParaRPr lang="zh-CN" altLang="en-US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08013"/>
          </a:xfrm>
        </p:spPr>
        <p:txBody>
          <a:bodyPr anchor="ctr" anchorCtr="0"/>
          <a:lstStyle/>
          <a:p>
            <a:r>
              <a:rPr lang="zh-CN" altLang="en-US" sz="3200"/>
              <a:t>讨论：</a:t>
            </a:r>
          </a:p>
        </p:txBody>
      </p:sp>
      <p:sp>
        <p:nvSpPr>
          <p:cNvPr id="50178" name="内容占位符 2"/>
          <p:cNvSpPr>
            <a:spLocks noGrp="1"/>
          </p:cNvSpPr>
          <p:nvPr>
            <p:ph idx="1"/>
          </p:nvPr>
        </p:nvSpPr>
        <p:spPr>
          <a:xfrm>
            <a:off x="466725" y="1412875"/>
            <a:ext cx="8229600" cy="3886200"/>
          </a:xfrm>
        </p:spPr>
        <p:txBody>
          <a:bodyPr anchor="t" anchorCtr="0"/>
          <a:lstStyle/>
          <a:p>
            <a:r>
              <a:rPr lang="zh-CN" altLang="en-US" sz="2800"/>
              <a:t>如何利用</a:t>
            </a:r>
            <a:r>
              <a:rPr lang="en-US" altLang="zh-CN" sz="2800"/>
              <a:t>Runge-Kutta</a:t>
            </a:r>
            <a:r>
              <a:rPr lang="zh-CN" altLang="en-US" sz="2800"/>
              <a:t>方法求解高阶常微分方程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内容占位符 2"/>
          <p:cNvSpPr>
            <a:spLocks noGrp="1"/>
          </p:cNvSpPr>
          <p:nvPr>
            <p:ph idx="1"/>
          </p:nvPr>
        </p:nvSpPr>
        <p:spPr>
          <a:xfrm>
            <a:off x="457200" y="928688"/>
            <a:ext cx="8229600" cy="4938712"/>
          </a:xfrm>
        </p:spPr>
        <p:txBody>
          <a:bodyPr vert="horz" wrap="square" lIns="91440" tIns="45720" rIns="91440" bIns="45720" anchor="t" anchorCtr="0"/>
          <a:lstStyle/>
          <a:p>
            <a:endParaRPr lang="zh-CN" altLang="en-US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dirty="0"/>
              <a:t>作业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P328  9.2.3 #1</a:t>
            </a:r>
          </a:p>
          <a:p>
            <a:pPr>
              <a:buNone/>
            </a:pPr>
            <a:r>
              <a:rPr lang="en-US" altLang="zh-CN" dirty="0"/>
              <a:t>P334  9.3.2 #3</a:t>
            </a:r>
          </a:p>
          <a:p>
            <a:pPr>
              <a:buNone/>
            </a:pPr>
            <a:r>
              <a:rPr lang="en-US" altLang="zh-CN" dirty="0"/>
              <a:t>P339  9.4.1 #2</a:t>
            </a:r>
          </a:p>
          <a:p>
            <a:pPr>
              <a:buNone/>
            </a:pPr>
            <a:r>
              <a:rPr lang="en-US" altLang="zh-CN" dirty="0"/>
              <a:t>P349  9.5.5 #4</a:t>
            </a:r>
            <a:endParaRPr lang="zh-CN" alt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标题 1">
            <a:extLst>
              <a:ext uri="{FF2B5EF4-FFF2-40B4-BE49-F238E27FC236}">
                <a16:creationId xmlns:a16="http://schemas.microsoft.com/office/drawing/2014/main" id="{AAF26148-53EF-38C1-0583-A6A1DD8C28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多步法</a:t>
            </a:r>
          </a:p>
        </p:txBody>
      </p:sp>
      <p:sp>
        <p:nvSpPr>
          <p:cNvPr id="51202" name="灯片编号占位符 3">
            <a:extLst>
              <a:ext uri="{FF2B5EF4-FFF2-40B4-BE49-F238E27FC236}">
                <a16:creationId xmlns:a16="http://schemas.microsoft.com/office/drawing/2014/main" id="{57ED8B4B-45E0-C435-EE4C-7256CB818DF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81863184-95ED-40EB-83AA-59DB15390262}" type="slidenum">
              <a:rPr lang="zh-CN" altLang="en-US" smtClean="0"/>
              <a:pPr/>
              <a:t>40</a:t>
            </a:fld>
            <a:endParaRPr lang="zh-CN" altLang="en-US" sz="900"/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D91CF59B-2E89-F1C4-B0C1-1048F68D6BD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778234" y="1787494"/>
            <a:ext cx="6172200" cy="3837016"/>
          </a:xfrm>
          <a:prstGeom prst="rect">
            <a:avLst/>
          </a:prstGeom>
          <a:blipFill rotWithShape="0">
            <a:blip r:embed="rId2"/>
            <a:stretch>
              <a:fillRect l="-6" t="-16" r="6" b="8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noProof="1">
                <a:noFill/>
              </a:rPr>
              <a:t> 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29B98D-272E-3AF2-88B8-7F007DC2FE0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917634" y="1648088"/>
            <a:ext cx="1798957" cy="637540"/>
          </a:xfrm>
          <a:prstGeom prst="rect">
            <a:avLst/>
          </a:prstGeom>
          <a:blipFill rotWithShape="0">
            <a:blip r:embed="rId3"/>
            <a:stretch>
              <a:fillRect l="-32" t="-41" r="32" b="41"/>
            </a:stretch>
          </a:blipFill>
          <a:ln w="12700">
            <a:noFill/>
            <a:prstDash val="dash"/>
          </a:ln>
        </p:spPr>
        <p:txBody>
          <a:bodyPr/>
          <a:lstStyle/>
          <a:p>
            <a:r>
              <a:rPr lang="zh-CN" altLang="en-US" noProof="1">
                <a:noFill/>
              </a:rPr>
              <a:t>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F39DC2-3194-CAAF-13F6-47BA9998C4B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382136" y="2422893"/>
            <a:ext cx="4800600" cy="782316"/>
          </a:xfrm>
          <a:prstGeom prst="rect">
            <a:avLst/>
          </a:prstGeom>
          <a:blipFill rotWithShape="0">
            <a:blip r:embed="rId4"/>
            <a:stretch>
              <a:fillRect l="-5" t="-47" r="5" b="47"/>
            </a:stretch>
          </a:blipFill>
        </p:spPr>
        <p:txBody>
          <a:bodyPr/>
          <a:lstStyle/>
          <a:p>
            <a:r>
              <a:rPr lang="zh-CN" altLang="en-US" noProof="1">
                <a:noFill/>
              </a:rPr>
              <a:t> 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A23249A-7EF1-9529-96E2-6B791F257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975" y="2811463"/>
            <a:ext cx="1560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1800" b="1">
                <a:solidFill>
                  <a:srgbClr val="0000FF"/>
                </a:solidFill>
                <a:latin typeface="Arial" panose="020B0604020202020204" pitchFamily="34" charset="0"/>
              </a:rPr>
              <a:t>线性</a:t>
            </a:r>
            <a:r>
              <a:rPr lang="en-US" altLang="zh-CN" sz="1800">
                <a:solidFill>
                  <a:srgbClr val="0000FF"/>
                </a:solidFill>
                <a:latin typeface="Arial" panose="020B0604020202020204" pitchFamily="34" charset="0"/>
              </a:rPr>
              <a:t>m</a:t>
            </a:r>
            <a:r>
              <a:rPr lang="zh-CN" altLang="en-US" sz="1800" b="1">
                <a:solidFill>
                  <a:srgbClr val="0000FF"/>
                </a:solidFill>
                <a:latin typeface="Arial" panose="020B0604020202020204" pitchFamily="34" charset="0"/>
              </a:rPr>
              <a:t>步法</a:t>
            </a:r>
            <a:r>
              <a:rPr lang="en-US" altLang="zh-CN" sz="180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zh-CN" altLang="en-US" sz="180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EE658E-BADB-70EE-2D9F-42E947D67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0588" y="2973388"/>
            <a:ext cx="12128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 b="1" u="sng">
                <a:solidFill>
                  <a:srgbClr val="0000FF"/>
                </a:solidFill>
                <a:latin typeface="Arial" panose="020B0604020202020204" pitchFamily="34" charset="0"/>
              </a:rPr>
              <a:t>固定步长</a:t>
            </a:r>
            <a:r>
              <a:rPr lang="en-US" altLang="zh-CN" sz="1800" u="sng">
                <a:solidFill>
                  <a:srgbClr val="0000FF"/>
                </a:solidFill>
                <a:latin typeface="Arial" panose="020B0604020202020204" pitchFamily="34" charset="0"/>
              </a:rPr>
              <a:t>h</a:t>
            </a:r>
            <a:endParaRPr lang="zh-CN" altLang="en-US" sz="1800" u="sng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1">
            <a:extLst>
              <a:ext uri="{FF2B5EF4-FFF2-40B4-BE49-F238E27FC236}">
                <a16:creationId xmlns:a16="http://schemas.microsoft.com/office/drawing/2014/main" id="{891AFEBC-174D-0A26-4B71-F2E49B986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多步法</a:t>
            </a:r>
          </a:p>
        </p:txBody>
      </p:sp>
      <p:sp>
        <p:nvSpPr>
          <p:cNvPr id="52226" name="灯片编号占位符 3">
            <a:extLst>
              <a:ext uri="{FF2B5EF4-FFF2-40B4-BE49-F238E27FC236}">
                <a16:creationId xmlns:a16="http://schemas.microsoft.com/office/drawing/2014/main" id="{742121A8-B06B-3BEE-E370-EFFDDDDC0E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81863184-95ED-40EB-83AA-59DB15390262}" type="slidenum">
              <a:rPr lang="zh-CN" altLang="en-US" smtClean="0"/>
              <a:pPr/>
              <a:t>41</a:t>
            </a:fld>
            <a:endParaRPr lang="zh-CN" altLang="en-US" sz="900"/>
          </a:p>
        </p:txBody>
      </p:sp>
      <p:sp>
        <p:nvSpPr>
          <p:cNvPr id="10" name="内容占位符 1">
            <a:extLst>
              <a:ext uri="{FF2B5EF4-FFF2-40B4-BE49-F238E27FC236}">
                <a16:creationId xmlns:a16="http://schemas.microsoft.com/office/drawing/2014/main" id="{A2C9FCB0-3BCF-0653-706F-C367A2152DC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652996" y="1701183"/>
            <a:ext cx="6759603" cy="3837018"/>
          </a:xfrm>
          <a:prstGeom prst="rect">
            <a:avLst/>
          </a:prstGeom>
          <a:blipFill rotWithShape="0">
            <a:blip r:embed="rId2"/>
            <a:stretch>
              <a:fillRect l="-3" r="4" b="10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noProof="1">
                <a:noFill/>
              </a:rPr>
              <a:t> 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6F8843-BB21-6EA5-C6C0-A5A518E7B18B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571868" y="1824429"/>
            <a:ext cx="3564251" cy="782320"/>
          </a:xfrm>
          <a:prstGeom prst="rect">
            <a:avLst/>
          </a:prstGeom>
          <a:blipFill rotWithShape="0">
            <a:blip r:embed="rId3"/>
            <a:stretch>
              <a:fillRect l="-3" t="-9" r="3" b="9"/>
            </a:stretch>
          </a:blipFill>
        </p:spPr>
        <p:txBody>
          <a:bodyPr/>
          <a:lstStyle/>
          <a:p>
            <a:r>
              <a:rPr lang="zh-CN" altLang="en-US" noProof="1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>
            <a:extLst>
              <a:ext uri="{FF2B5EF4-FFF2-40B4-BE49-F238E27FC236}">
                <a16:creationId xmlns:a16="http://schemas.microsoft.com/office/drawing/2014/main" id="{4C40A988-90A2-D629-EC70-DB5FD0879B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多步法</a:t>
            </a:r>
          </a:p>
        </p:txBody>
      </p:sp>
      <p:sp>
        <p:nvSpPr>
          <p:cNvPr id="53250" name="灯片编号占位符 3">
            <a:extLst>
              <a:ext uri="{FF2B5EF4-FFF2-40B4-BE49-F238E27FC236}">
                <a16:creationId xmlns:a16="http://schemas.microsoft.com/office/drawing/2014/main" id="{1F12F6D4-FDE4-55F6-4214-1C93DB5B2EA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81863184-95ED-40EB-83AA-59DB15390262}" type="slidenum">
              <a:rPr lang="zh-CN" altLang="en-US" smtClean="0"/>
              <a:pPr/>
              <a:t>42</a:t>
            </a:fld>
            <a:endParaRPr lang="zh-CN" altLang="en-US" sz="900"/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BB184C90-1E23-976D-EEA6-320C31BB82C6}"/>
              </a:ext>
            </a:extLst>
          </p:cNvPr>
          <p:cNvSpPr txBox="1"/>
          <p:nvPr/>
        </p:nvSpPr>
        <p:spPr bwMode="auto">
          <a:xfrm>
            <a:off x="665163" y="1808163"/>
            <a:ext cx="6172200" cy="383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00007D"/>
              </a:buClr>
              <a:defRPr/>
            </a:pPr>
            <a:r>
              <a:rPr lang="en-US" altLang="zh-CN" sz="2100" kern="0">
                <a:solidFill>
                  <a:srgbClr val="000000"/>
                </a:solidFill>
              </a:rPr>
              <a:t>Adams</a:t>
            </a:r>
            <a:r>
              <a:rPr lang="zh-CN" altLang="zh-CN" sz="2100" b="1" kern="0">
                <a:solidFill>
                  <a:srgbClr val="000000"/>
                </a:solidFill>
              </a:rPr>
              <a:t>公式</a:t>
            </a:r>
            <a:endParaRPr lang="en-US" altLang="zh-CN" sz="2100" b="1" kern="0">
              <a:solidFill>
                <a:srgbClr val="000000"/>
              </a:solidFill>
            </a:endParaRPr>
          </a:p>
          <a:p>
            <a:pPr lvl="1">
              <a:spcBef>
                <a:spcPts val="500"/>
              </a:spcBef>
              <a:buClr>
                <a:srgbClr val="9999CC"/>
              </a:buClr>
              <a:defRPr/>
            </a:pPr>
            <a:r>
              <a:rPr lang="zh-CN" altLang="en-US" sz="1800" b="1" kern="0">
                <a:solidFill>
                  <a:srgbClr val="000000"/>
                </a:solidFill>
              </a:rPr>
              <a:t>几种显式公式</a:t>
            </a:r>
            <a:endParaRPr lang="en-US" altLang="zh-CN" sz="1800" b="1" kern="0">
              <a:solidFill>
                <a:srgbClr val="000000"/>
              </a:solidFill>
            </a:endParaRPr>
          </a:p>
          <a:p>
            <a:pPr lvl="1">
              <a:spcBef>
                <a:spcPts val="500"/>
              </a:spcBef>
              <a:buClr>
                <a:srgbClr val="9999CC"/>
              </a:buClr>
              <a:defRPr/>
            </a:pPr>
            <a:endParaRPr lang="en-US" altLang="zh-CN" sz="1800" b="1" kern="0">
              <a:solidFill>
                <a:srgbClr val="000000"/>
              </a:solidFill>
            </a:endParaRPr>
          </a:p>
          <a:p>
            <a:pPr lvl="1">
              <a:spcBef>
                <a:spcPts val="500"/>
              </a:spcBef>
              <a:buClr>
                <a:srgbClr val="9999CC"/>
              </a:buClr>
              <a:defRPr/>
            </a:pPr>
            <a:endParaRPr lang="en-US" altLang="zh-CN" sz="1800" b="1" kern="0">
              <a:solidFill>
                <a:srgbClr val="000000"/>
              </a:solidFill>
            </a:endParaRPr>
          </a:p>
          <a:p>
            <a:pPr lvl="1">
              <a:spcBef>
                <a:spcPts val="500"/>
              </a:spcBef>
              <a:buClr>
                <a:srgbClr val="9999CC"/>
              </a:buClr>
              <a:defRPr/>
            </a:pPr>
            <a:endParaRPr lang="en-US" altLang="zh-CN" sz="1800" b="1" kern="0">
              <a:solidFill>
                <a:srgbClr val="000000"/>
              </a:solidFill>
            </a:endParaRPr>
          </a:p>
          <a:p>
            <a:pPr lvl="1">
              <a:spcBef>
                <a:spcPts val="500"/>
              </a:spcBef>
              <a:buClr>
                <a:srgbClr val="9999CC"/>
              </a:buClr>
              <a:defRPr/>
            </a:pPr>
            <a:endParaRPr lang="en-US" altLang="zh-CN" sz="1800" b="1" kern="0">
              <a:solidFill>
                <a:srgbClr val="000000"/>
              </a:solidFill>
            </a:endParaRPr>
          </a:p>
          <a:p>
            <a:pPr lvl="1">
              <a:spcBef>
                <a:spcPts val="500"/>
              </a:spcBef>
              <a:buClr>
                <a:srgbClr val="9999CC"/>
              </a:buClr>
              <a:defRPr/>
            </a:pPr>
            <a:r>
              <a:rPr lang="zh-CN" altLang="en-US" sz="1800" b="1" kern="0">
                <a:solidFill>
                  <a:srgbClr val="000000"/>
                </a:solidFill>
              </a:rPr>
              <a:t>几种隐式公式</a:t>
            </a:r>
            <a:endParaRPr lang="en-US" altLang="zh-CN" sz="1800" b="1" kern="0" dirty="0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D547CC-2E1D-A447-6B7A-9EC0B7BA3C98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497453" y="1612106"/>
            <a:ext cx="3564257" cy="782320"/>
          </a:xfrm>
          <a:prstGeom prst="rect">
            <a:avLst/>
          </a:prstGeom>
          <a:blipFill rotWithShape="0">
            <a:blip r:embed="rId2"/>
            <a:stretch>
              <a:fillRect t="-61" b="61"/>
            </a:stretch>
          </a:blipFill>
        </p:spPr>
        <p:txBody>
          <a:bodyPr/>
          <a:lstStyle/>
          <a:p>
            <a:r>
              <a:rPr lang="zh-CN" altLang="en-US" noProof="1">
                <a:noFill/>
              </a:rPr>
              <a:t> </a:t>
            </a:r>
          </a:p>
        </p:txBody>
      </p:sp>
      <p:graphicFrame>
        <p:nvGraphicFramePr>
          <p:cNvPr id="53253" name="表格 53252">
            <a:extLst>
              <a:ext uri="{FF2B5EF4-FFF2-40B4-BE49-F238E27FC236}">
                <a16:creationId xmlns:a16="http://schemas.microsoft.com/office/drawing/2014/main" id="{88371332-A9FA-903A-A350-D0CDF2E3755E}"/>
              </a:ext>
            </a:extLst>
          </p:cNvPr>
          <p:cNvGraphicFramePr/>
          <p:nvPr/>
        </p:nvGraphicFramePr>
        <p:xfrm>
          <a:off x="1009650" y="2524125"/>
          <a:ext cx="5026025" cy="1281113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zh-CN" altLang="zh-CN" sz="1600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阶数</a:t>
                      </a:r>
                      <a:endParaRPr lang="zh-CN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18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18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18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18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3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zh-CN" altLang="zh-CN" sz="1600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稳定阈值</a:t>
                      </a:r>
                      <a:endParaRPr lang="zh-CN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zh-CN" altLang="zh-CN" sz="1600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误差常数</a:t>
                      </a:r>
                      <a:endParaRPr lang="zh-CN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1</a:t>
                      </a:r>
                      <a:endParaRPr lang="zh-CN" altLang="zh-CN" sz="1600" b="1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1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-2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1/2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2</a:t>
                      </a:r>
                      <a:endParaRPr lang="zh-CN" altLang="zh-CN" sz="16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3/2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-1/2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-1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5/12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3</a:t>
                      </a:r>
                      <a:endParaRPr lang="zh-CN" altLang="zh-CN" sz="1600" b="1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23/12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-16/12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5/12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-6/11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3/8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4</a:t>
                      </a:r>
                      <a:endParaRPr lang="zh-CN" altLang="zh-CN" sz="1600" b="1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55/24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-59/24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37/24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-9/24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-3/10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/>
                          <a:ea typeface="宋体" panose="02010600030101010101" pitchFamily="2" charset="-122"/>
                        </a:rPr>
                        <a:t>251/720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右箭头 8">
            <a:extLst>
              <a:ext uri="{FF2B5EF4-FFF2-40B4-BE49-F238E27FC236}">
                <a16:creationId xmlns:a16="http://schemas.microsoft.com/office/drawing/2014/main" id="{7FEB7213-E33B-17C4-7F05-2E985BC0CB37}"/>
              </a:ext>
            </a:extLst>
          </p:cNvPr>
          <p:cNvSpPr/>
          <p:nvPr/>
        </p:nvSpPr>
        <p:spPr>
          <a:xfrm flipH="1">
            <a:off x="6065838" y="2855913"/>
            <a:ext cx="161925" cy="107950"/>
          </a:xfrm>
          <a:prstGeom prst="rightArrow">
            <a:avLst/>
          </a:prstGeom>
          <a:solidFill>
            <a:srgbClr val="9999CC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>
              <a:spcBef>
                <a:spcPct val="50000"/>
              </a:spcBef>
              <a:defRPr/>
            </a:pPr>
            <a:endParaRPr lang="zh-CN" altLang="en-US" sz="1350" ker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D001D22-2925-189B-A543-E6B2114E1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6963" y="2747963"/>
            <a:ext cx="8683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欧拉法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743C7BF-B166-FD0C-4221-7A31C65C4285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30869" y="3836632"/>
            <a:ext cx="3510391" cy="598805"/>
          </a:xfrm>
          <a:prstGeom prst="rect">
            <a:avLst/>
          </a:prstGeom>
          <a:blipFill rotWithShape="0">
            <a:blip r:embed="rId4"/>
            <a:stretch>
              <a:fillRect l="-17" t="-100" r="2" b="100"/>
            </a:stretch>
          </a:blipFill>
        </p:spPr>
        <p:txBody>
          <a:bodyPr/>
          <a:lstStyle/>
          <a:p>
            <a:r>
              <a:rPr lang="zh-CN" altLang="en-US" noProof="1">
                <a:noFill/>
              </a:rPr>
              <a:t> 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BFF3228-72B8-BA39-5599-375077E5CFB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4837113" y="3725863"/>
            <a:ext cx="1339850" cy="203200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53307" name="表格 53306">
            <a:extLst>
              <a:ext uri="{FF2B5EF4-FFF2-40B4-BE49-F238E27FC236}">
                <a16:creationId xmlns:a16="http://schemas.microsoft.com/office/drawing/2014/main" id="{2BC2C70B-EFAE-FB3E-3374-CEA8970E45CA}"/>
              </a:ext>
            </a:extLst>
          </p:cNvPr>
          <p:cNvGraphicFramePr/>
          <p:nvPr/>
        </p:nvGraphicFramePr>
        <p:xfrm>
          <a:off x="757238" y="4157663"/>
          <a:ext cx="5024438" cy="1279525"/>
        </p:xfrm>
        <a:graphic>
          <a:graphicData uri="http://schemas.openxmlformats.org/drawingml/2006/table">
            <a:tbl>
              <a:tblPr/>
              <a:tblGrid>
                <a:gridCol w="53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1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0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8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638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zh-CN" altLang="zh-CN" sz="16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阶数</a:t>
                      </a: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18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18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18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>
                        <a:buNone/>
                      </a:pPr>
                      <a:endParaRPr lang="zh-CN" altLang="zh-CN" sz="1800"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</a:blip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zh-CN" altLang="zh-C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稳定阈值</a:t>
                      </a: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zh-CN" altLang="zh-CN" sz="16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误差常数</a:t>
                      </a: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8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zh-CN" sz="1600" b="1" dirty="0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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-1/2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412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lang="zh-CN" altLang="zh-CN" sz="16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1/2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1/2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sym typeface="Symbol" panose="05050102010706020507" pitchFamily="18" charset="2"/>
                        </a:rPr>
                        <a:t>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-1/12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  <a:endParaRPr lang="zh-CN" altLang="zh-CN" sz="16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5/12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8/12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-1/12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 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-6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-1/24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825"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lang="zh-CN" altLang="zh-CN" sz="16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99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9/24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19/24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-5/24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1/24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-3</a:t>
                      </a:r>
                      <a:endParaRPr lang="zh-CN" altLang="zh-CN" sz="160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>
                      <a:lvl1pPr marL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sz="16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-19/720</a:t>
                      </a:r>
                      <a:endParaRPr lang="zh-CN" altLang="zh-CN" sz="160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51435" marR="51435" marT="0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右箭头 15">
            <a:extLst>
              <a:ext uri="{FF2B5EF4-FFF2-40B4-BE49-F238E27FC236}">
                <a16:creationId xmlns:a16="http://schemas.microsoft.com/office/drawing/2014/main" id="{26369688-64C5-E97E-755F-7F5E8F3ACA1E}"/>
              </a:ext>
            </a:extLst>
          </p:cNvPr>
          <p:cNvSpPr/>
          <p:nvPr/>
        </p:nvSpPr>
        <p:spPr>
          <a:xfrm flipH="1">
            <a:off x="5797550" y="4479925"/>
            <a:ext cx="163513" cy="107950"/>
          </a:xfrm>
          <a:prstGeom prst="rightArrow">
            <a:avLst/>
          </a:prstGeom>
          <a:solidFill>
            <a:srgbClr val="9999CC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>
              <a:spcBef>
                <a:spcPct val="50000"/>
              </a:spcBef>
              <a:defRPr/>
            </a:pPr>
            <a:endParaRPr lang="zh-CN" altLang="en-US" sz="1350" ker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BEF67C-4E36-ACC2-8B41-2FAD0EC85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675" y="4348163"/>
            <a:ext cx="1463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向后欧拉法</a:t>
            </a:r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C7FD0882-94F0-8220-4E69-AF48195303F2}"/>
              </a:ext>
            </a:extLst>
          </p:cNvPr>
          <p:cNvSpPr/>
          <p:nvPr/>
        </p:nvSpPr>
        <p:spPr>
          <a:xfrm flipH="1">
            <a:off x="5797550" y="4740275"/>
            <a:ext cx="163513" cy="107950"/>
          </a:xfrm>
          <a:prstGeom prst="rightArrow">
            <a:avLst/>
          </a:prstGeom>
          <a:solidFill>
            <a:srgbClr val="9999CC"/>
          </a:solidFill>
          <a:ln>
            <a:solidFill>
              <a:srgbClr val="000000"/>
            </a:solidFill>
          </a:ln>
        </p:spPr>
        <p:txBody>
          <a:bodyPr anchor="ctr"/>
          <a:lstStyle/>
          <a:p>
            <a:pPr algn="ctr">
              <a:spcBef>
                <a:spcPct val="50000"/>
              </a:spcBef>
              <a:defRPr/>
            </a:pPr>
            <a:endParaRPr lang="zh-CN" altLang="en-US" sz="1350" ker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BF266F-3DE4-07A3-F462-638662779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675" y="4632325"/>
            <a:ext cx="869950" cy="64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800" b="1">
                <a:solidFill>
                  <a:srgbClr val="000000"/>
                </a:solidFill>
                <a:latin typeface="Arial" panose="020B0604020202020204" pitchFamily="34" charset="0"/>
              </a:rPr>
              <a:t>梯形法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9B08B9-2269-FCE1-CE8C-B30DB343B6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8675" y="5008563"/>
            <a:ext cx="11366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500" b="1">
                <a:solidFill>
                  <a:srgbClr val="0000FF"/>
                </a:solidFill>
                <a:latin typeface="Arial" panose="020B0604020202020204" pitchFamily="34" charset="0"/>
              </a:rPr>
              <a:t>并非无条件稳定</a:t>
            </a:r>
            <a:r>
              <a:rPr lang="en-US" altLang="zh-CN" sz="1500" b="1">
                <a:solidFill>
                  <a:srgbClr val="0000FF"/>
                </a:solidFill>
                <a:latin typeface="Arial" panose="020B0604020202020204" pitchFamily="34" charset="0"/>
              </a:rPr>
              <a:t>!</a:t>
            </a:r>
            <a:endParaRPr lang="zh-CN" altLang="en-US" sz="1500" b="1">
              <a:solidFill>
                <a:srgbClr val="0000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2" grpId="0"/>
      <p:bldP spid="13" grpId="0" animBg="1"/>
      <p:bldP spid="16" grpId="0" bldLvl="0" animBg="1"/>
      <p:bldP spid="17" grpId="0"/>
      <p:bldP spid="18" grpId="0" bldLvl="0" animBg="1"/>
      <p:bldP spid="19" grpId="0"/>
      <p:bldP spid="20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1">
            <a:extLst>
              <a:ext uri="{FF2B5EF4-FFF2-40B4-BE49-F238E27FC236}">
                <a16:creationId xmlns:a16="http://schemas.microsoft.com/office/drawing/2014/main" id="{770851D2-2280-465B-6300-184A147B2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课程设计 </a:t>
            </a:r>
            <a:r>
              <a:rPr lang="en-US" altLang="zh-CN" dirty="0">
                <a:solidFill>
                  <a:srgbClr val="000000"/>
                </a:solidFill>
              </a:rPr>
              <a:t>1.</a:t>
            </a:r>
            <a:r>
              <a:rPr lang="zh-CN" altLang="en-US" dirty="0">
                <a:solidFill>
                  <a:srgbClr val="000000"/>
                </a:solidFill>
              </a:rPr>
              <a:t>驱动摆（二选一）</a:t>
            </a:r>
          </a:p>
        </p:txBody>
      </p:sp>
      <p:sp>
        <p:nvSpPr>
          <p:cNvPr id="54274" name="灯片编号占位符 3">
            <a:extLst>
              <a:ext uri="{FF2B5EF4-FFF2-40B4-BE49-F238E27FC236}">
                <a16:creationId xmlns:a16="http://schemas.microsoft.com/office/drawing/2014/main" id="{7DF02344-A8E0-D19F-08F2-C6BA9FFFE0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81863184-95ED-40EB-83AA-59DB15390262}" type="slidenum">
              <a:rPr lang="zh-CN" altLang="en-US" smtClean="0"/>
              <a:pPr/>
              <a:t>43</a:t>
            </a:fld>
            <a:endParaRPr lang="zh-CN" altLang="en-US" sz="9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CD624E-157B-09A7-5F0C-098EC6D1A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90" y="1988840"/>
            <a:ext cx="2323510" cy="3830424"/>
          </a:xfrm>
          <a:prstGeom prst="rect">
            <a:avLst/>
          </a:prstGeom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769F749-8D40-EF65-8656-4AF4426F14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9277911"/>
              </p:ext>
            </p:extLst>
          </p:nvPr>
        </p:nvGraphicFramePr>
        <p:xfrm>
          <a:off x="1691680" y="1606550"/>
          <a:ext cx="712628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012920" imgH="507960" progId="Equation.KSEE3">
                  <p:embed/>
                </p:oleObj>
              </mc:Choice>
              <mc:Fallback>
                <p:oleObj name="公式" r:id="rId3" imgW="4012920" imgH="50796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1606550"/>
                        <a:ext cx="7126288" cy="901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D2550A8-EE43-0C99-702A-A8E7ECF75C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576544"/>
              </p:ext>
            </p:extLst>
          </p:nvPr>
        </p:nvGraphicFramePr>
        <p:xfrm>
          <a:off x="3095625" y="3236913"/>
          <a:ext cx="3248025" cy="1579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28800" imgH="888840" progId="Equation.KSEE3">
                  <p:embed/>
                </p:oleObj>
              </mc:Choice>
              <mc:Fallback>
                <p:oleObj name="公式" r:id="rId5" imgW="1828800" imgH="888840" progId="Equation.KSEE3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769F749-8D40-EF65-8656-4AF4426F14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95625" y="3236913"/>
                        <a:ext cx="3248025" cy="1579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标题 1">
            <a:extLst>
              <a:ext uri="{FF2B5EF4-FFF2-40B4-BE49-F238E27FC236}">
                <a16:creationId xmlns:a16="http://schemas.microsoft.com/office/drawing/2014/main" id="{20923FF6-93D2-6541-19F1-163FFF74E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课程设计要求</a:t>
            </a:r>
          </a:p>
        </p:txBody>
      </p:sp>
      <p:sp>
        <p:nvSpPr>
          <p:cNvPr id="55298" name="灯片编号占位符 3">
            <a:extLst>
              <a:ext uri="{FF2B5EF4-FFF2-40B4-BE49-F238E27FC236}">
                <a16:creationId xmlns:a16="http://schemas.microsoft.com/office/drawing/2014/main" id="{2711135B-8C53-D585-7B2C-8F840385848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81863184-95ED-40EB-83AA-59DB15390262}" type="slidenum">
              <a:rPr lang="zh-CN" altLang="en-US" smtClean="0"/>
              <a:pPr/>
              <a:t>44</a:t>
            </a:fld>
            <a:endParaRPr lang="zh-CN" altLang="en-US" sz="900"/>
          </a:p>
        </p:txBody>
      </p:sp>
      <p:sp>
        <p:nvSpPr>
          <p:cNvPr id="12" name="内容占位符 1">
            <a:extLst>
              <a:ext uri="{FF2B5EF4-FFF2-40B4-BE49-F238E27FC236}">
                <a16:creationId xmlns:a16="http://schemas.microsoft.com/office/drawing/2014/main" id="{F4E6FCD6-D104-6A84-AB5A-72AA3007E97A}"/>
              </a:ext>
            </a:extLst>
          </p:cNvPr>
          <p:cNvSpPr txBox="1"/>
          <p:nvPr/>
        </p:nvSpPr>
        <p:spPr bwMode="auto">
          <a:xfrm>
            <a:off x="652463" y="1701800"/>
            <a:ext cx="675957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1.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实现</a:t>
            </a:r>
            <a:r>
              <a:rPr lang="en-US" altLang="zh-CN" sz="2100" b="1" kern="0" noProof="1">
                <a:solidFill>
                  <a:srgbClr val="000000"/>
                </a:solidFill>
              </a:rPr>
              <a:t>Euler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方法</a:t>
            </a:r>
            <a:r>
              <a:rPr lang="en-US" altLang="zh-CN" sz="2100" b="1" kern="0" noProof="1">
                <a:solidFill>
                  <a:srgbClr val="000000"/>
                </a:solidFill>
              </a:rPr>
              <a:t>, Heun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方法</a:t>
            </a:r>
            <a:r>
              <a:rPr lang="en-US" altLang="zh-CN" sz="2100" b="1" kern="0" noProof="1">
                <a:solidFill>
                  <a:srgbClr val="000000"/>
                </a:solidFill>
              </a:rPr>
              <a:t>, 3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阶和</a:t>
            </a:r>
            <a:r>
              <a:rPr lang="en-US" altLang="zh-CN" sz="2100" b="1" kern="0" noProof="1">
                <a:solidFill>
                  <a:srgbClr val="000000"/>
                </a:solidFill>
              </a:rPr>
              <a:t>4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阶</a:t>
            </a:r>
            <a:r>
              <a:rPr lang="en-US" altLang="zh-CN" sz="2100" b="1" kern="0" noProof="1">
                <a:solidFill>
                  <a:srgbClr val="000000"/>
                </a:solidFill>
              </a:rPr>
              <a:t>Runge-Kutta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方法、</a:t>
            </a:r>
            <a:r>
              <a:rPr lang="en-US" altLang="zh-CN" sz="2100" b="1" kern="0" noProof="1">
                <a:solidFill>
                  <a:srgbClr val="000000"/>
                </a:solidFill>
              </a:rPr>
              <a:t>2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阶显格式</a:t>
            </a:r>
            <a:r>
              <a:rPr lang="en-US" altLang="zh-CN" sz="2100" b="1" kern="0" noProof="1">
                <a:solidFill>
                  <a:srgbClr val="000000"/>
                </a:solidFill>
              </a:rPr>
              <a:t>Adams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方法、四阶显格式和隐格式方法。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dirty="0">
                <a:solidFill>
                  <a:srgbClr val="000000"/>
                </a:solidFill>
              </a:rPr>
              <a:t>2.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对给定的参数，分析不同的数值方法的误差随着步长</a:t>
            </a:r>
            <a:r>
              <a:rPr lang="en-US" altLang="zh-CN" sz="2100" b="1" i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100" b="1" i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1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</a:t>
            </a:r>
            <a:r>
              <a:rPr lang="en-US" altLang="zh-CN" sz="21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100" b="1" kern="0" noProof="1">
                <a:solidFill>
                  <a:srgbClr val="000000"/>
                </a:solidFill>
              </a:rPr>
              <a:t>的变化规律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3.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选择一种高精度方法，分析        和                       随参数    </a:t>
            </a:r>
            <a:r>
              <a:rPr lang="en-US" altLang="zh-CN" sz="2100" b="1" kern="0" noProof="1">
                <a:solidFill>
                  <a:srgbClr val="000000"/>
                </a:solidFill>
              </a:rPr>
              <a:t>, q,b</a:t>
            </a:r>
            <a:r>
              <a:rPr lang="zh-CN" altLang="en-US" sz="2100" b="1" kern="0" noProof="1">
                <a:solidFill>
                  <a:srgbClr val="000000"/>
                </a:solidFill>
              </a:rPr>
              <a:t>的变化规律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4.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课程设计报告要求汉字字数</a:t>
            </a:r>
            <a:r>
              <a:rPr lang="en-US" altLang="zh-CN" sz="2100" b="1" kern="0" noProof="1">
                <a:solidFill>
                  <a:srgbClr val="000000"/>
                </a:solidFill>
              </a:rPr>
              <a:t>3000</a:t>
            </a:r>
            <a:r>
              <a:rPr lang="zh-CN" altLang="en-US" sz="2100" b="1" kern="0" noProof="1">
                <a:solidFill>
                  <a:srgbClr val="000000"/>
                </a:solidFill>
              </a:rPr>
              <a:t>以上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dirty="0">
              <a:solidFill>
                <a:srgbClr val="000000"/>
              </a:solidFill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7C798A1-FC45-D4FB-F760-0E2B27FE9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744118"/>
              </p:ext>
            </p:extLst>
          </p:nvPr>
        </p:nvGraphicFramePr>
        <p:xfrm>
          <a:off x="4512600" y="4199190"/>
          <a:ext cx="576064" cy="400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1960" imgH="203040" progId="Equation.KSEE3">
                  <p:embed/>
                </p:oleObj>
              </mc:Choice>
              <mc:Fallback>
                <p:oleObj name="公式" r:id="rId2" imgW="291960" imgH="203040" progId="Equation.KSEE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12600" y="4199190"/>
                        <a:ext cx="576064" cy="4007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D99A077-9910-2680-349F-76499B5D2A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394869"/>
              </p:ext>
            </p:extLst>
          </p:nvPr>
        </p:nvGraphicFramePr>
        <p:xfrm>
          <a:off x="5361914" y="4200375"/>
          <a:ext cx="197326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002960" imgH="203040" progId="Equation.KSEE3">
                  <p:embed/>
                </p:oleObj>
              </mc:Choice>
              <mc:Fallback>
                <p:oleObj name="公式" r:id="rId4" imgW="1002960" imgH="203040" progId="Equation.KSEE3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7C798A1-FC45-D4FB-F760-0E2B27FE9B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61914" y="4200375"/>
                        <a:ext cx="1973262" cy="401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58F8914-893A-8366-4C1B-7521942CB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2760043"/>
              </p:ext>
            </p:extLst>
          </p:nvPr>
        </p:nvGraphicFramePr>
        <p:xfrm>
          <a:off x="1812989" y="4509120"/>
          <a:ext cx="3762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190440" imgH="228600" progId="Equation.KSEE3">
                  <p:embed/>
                </p:oleObj>
              </mc:Choice>
              <mc:Fallback>
                <p:oleObj name="公式" r:id="rId6" imgW="190440" imgH="228600" progId="Equation.KSEE3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07C798A1-FC45-D4FB-F760-0E2B27FE9B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12989" y="4509120"/>
                        <a:ext cx="376237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2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67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103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7AC89-1C06-069F-7418-2657A35A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课程设计 </a:t>
            </a:r>
            <a:r>
              <a:rPr lang="en-US" altLang="zh-CN" dirty="0">
                <a:solidFill>
                  <a:srgbClr val="000000"/>
                </a:solidFill>
              </a:rPr>
              <a:t>2.</a:t>
            </a:r>
            <a:r>
              <a:rPr lang="zh-CN" altLang="en-US" dirty="0">
                <a:solidFill>
                  <a:srgbClr val="000000"/>
                </a:solidFill>
              </a:rPr>
              <a:t>复合双摆（二选一）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184279-EEF3-40FB-C210-2B63F5245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76872"/>
            <a:ext cx="2472335" cy="2509346"/>
          </a:xfrm>
          <a:prstGeom prst="rect">
            <a:avLst/>
          </a:prstGeom>
        </p:spPr>
      </p:pic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C844770C-1761-5A49-FC6D-EF6236C844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4680666"/>
              </p:ext>
            </p:extLst>
          </p:nvPr>
        </p:nvGraphicFramePr>
        <p:xfrm>
          <a:off x="3598863" y="1898650"/>
          <a:ext cx="12985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660240" imgH="203040" progId="Equation.KSEE3">
                  <p:embed/>
                </p:oleObj>
              </mc:Choice>
              <mc:Fallback>
                <p:oleObj name="公式" r:id="rId3" imgW="660240" imgH="203040" progId="Equation.KSEE3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D99A077-9910-2680-349F-76499B5D2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8863" y="1898650"/>
                        <a:ext cx="1298575" cy="403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4646A2E9-D023-16D0-2C7C-080861C43B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864" y="2356535"/>
            <a:ext cx="5115639" cy="10669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ED26B74-D4D6-0380-BABB-BC265C4F1F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3848" y="3724094"/>
            <a:ext cx="4477375" cy="130510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2CB076D-559E-4C98-F831-95E299EAF3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600" y="5039134"/>
            <a:ext cx="6954220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113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635F-EB0D-D427-50B4-CDF5B42D8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标题 1">
            <a:extLst>
              <a:ext uri="{FF2B5EF4-FFF2-40B4-BE49-F238E27FC236}">
                <a16:creationId xmlns:a16="http://schemas.microsoft.com/office/drawing/2014/main" id="{8048C6DE-52DE-43F3-E20A-3F9B3B3DF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课程设计要求</a:t>
            </a:r>
          </a:p>
        </p:txBody>
      </p:sp>
      <p:sp>
        <p:nvSpPr>
          <p:cNvPr id="55298" name="灯片编号占位符 3">
            <a:extLst>
              <a:ext uri="{FF2B5EF4-FFF2-40B4-BE49-F238E27FC236}">
                <a16:creationId xmlns:a16="http://schemas.microsoft.com/office/drawing/2014/main" id="{A9EE099A-6F9A-2857-72D7-CFC16B79CE4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81863184-95ED-40EB-83AA-59DB15390262}" type="slidenum">
              <a:rPr lang="zh-CN" altLang="en-US" smtClean="0"/>
              <a:pPr/>
              <a:t>46</a:t>
            </a:fld>
            <a:endParaRPr lang="zh-CN" altLang="en-US" sz="900"/>
          </a:p>
        </p:txBody>
      </p:sp>
      <p:sp>
        <p:nvSpPr>
          <p:cNvPr id="12" name="内容占位符 1">
            <a:extLst>
              <a:ext uri="{FF2B5EF4-FFF2-40B4-BE49-F238E27FC236}">
                <a16:creationId xmlns:a16="http://schemas.microsoft.com/office/drawing/2014/main" id="{F589CB1A-EFBC-79B1-AE11-643FFFF466AF}"/>
              </a:ext>
            </a:extLst>
          </p:cNvPr>
          <p:cNvSpPr txBox="1"/>
          <p:nvPr/>
        </p:nvSpPr>
        <p:spPr bwMode="auto">
          <a:xfrm>
            <a:off x="652463" y="1701800"/>
            <a:ext cx="675957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1.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实现</a:t>
            </a:r>
            <a:r>
              <a:rPr lang="en-US" altLang="zh-CN" sz="2100" b="1" kern="0" noProof="1">
                <a:solidFill>
                  <a:srgbClr val="000000"/>
                </a:solidFill>
              </a:rPr>
              <a:t>Euler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方法</a:t>
            </a:r>
            <a:r>
              <a:rPr lang="en-US" altLang="zh-CN" sz="2100" b="1" kern="0" noProof="1">
                <a:solidFill>
                  <a:srgbClr val="000000"/>
                </a:solidFill>
              </a:rPr>
              <a:t>, Heun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方法</a:t>
            </a:r>
            <a:r>
              <a:rPr lang="en-US" altLang="zh-CN" sz="2100" b="1" kern="0" noProof="1">
                <a:solidFill>
                  <a:srgbClr val="000000"/>
                </a:solidFill>
              </a:rPr>
              <a:t>, 3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阶和</a:t>
            </a:r>
            <a:r>
              <a:rPr lang="en-US" altLang="zh-CN" sz="2100" b="1" kern="0" noProof="1">
                <a:solidFill>
                  <a:srgbClr val="000000"/>
                </a:solidFill>
              </a:rPr>
              <a:t>4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阶</a:t>
            </a:r>
            <a:r>
              <a:rPr lang="en-US" altLang="zh-CN" sz="2100" b="1" kern="0" noProof="1">
                <a:solidFill>
                  <a:srgbClr val="000000"/>
                </a:solidFill>
              </a:rPr>
              <a:t>Runge-Kutta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方法、</a:t>
            </a:r>
            <a:r>
              <a:rPr lang="en-US" altLang="zh-CN" sz="2100" b="1" kern="0" noProof="1">
                <a:solidFill>
                  <a:srgbClr val="000000"/>
                </a:solidFill>
              </a:rPr>
              <a:t> 2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阶显格式</a:t>
            </a:r>
            <a:r>
              <a:rPr lang="en-US" altLang="zh-CN" sz="2100" b="1" kern="0" noProof="1">
                <a:solidFill>
                  <a:srgbClr val="000000"/>
                </a:solidFill>
              </a:rPr>
              <a:t>Adams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方法、四阶显格式和隐格式方法。 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dirty="0">
                <a:solidFill>
                  <a:srgbClr val="000000"/>
                </a:solidFill>
              </a:rPr>
              <a:t>2.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对给定的参数，分析不同的数值方法的误差随着步长</a:t>
            </a:r>
            <a:r>
              <a:rPr lang="en-US" altLang="zh-CN" sz="2100" b="1" i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100" b="1" i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en-US" sz="21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时间</a:t>
            </a:r>
            <a:r>
              <a:rPr lang="en-US" altLang="zh-CN" sz="21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CN" altLang="en-US" sz="2100" b="1" kern="0" noProof="1">
                <a:solidFill>
                  <a:srgbClr val="000000"/>
                </a:solidFill>
              </a:rPr>
              <a:t>的变化规律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3.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选择一种高精度方法，分析双摆轨迹随初始条件    </a:t>
            </a:r>
            <a:r>
              <a:rPr lang="en-US" altLang="zh-CN" sz="2100" b="1" kern="0" noProof="1">
                <a:solidFill>
                  <a:srgbClr val="000000"/>
                </a:solidFill>
              </a:rPr>
              <a:t> </a:t>
            </a:r>
            <a:r>
              <a:rPr lang="zh-CN" altLang="en-US" sz="2100" b="1" kern="0" noProof="1">
                <a:solidFill>
                  <a:srgbClr val="000000"/>
                </a:solidFill>
              </a:rPr>
              <a:t>和     的变化规律，及随参数                    的变化规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 marL="0" indent="0">
              <a:buClr>
                <a:srgbClr val="00007D"/>
              </a:buClr>
              <a:buNone/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      </a:t>
            </a:r>
            <a:r>
              <a:rPr lang="zh-CN" altLang="en-US" sz="2100" b="1" kern="0" noProof="1">
                <a:solidFill>
                  <a:srgbClr val="000000"/>
                </a:solidFill>
              </a:rPr>
              <a:t>律。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4.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课程设计报告要求汉字字数</a:t>
            </a:r>
            <a:r>
              <a:rPr lang="en-US" altLang="zh-CN" sz="2100" b="1" kern="0" noProof="1">
                <a:solidFill>
                  <a:srgbClr val="000000"/>
                </a:solidFill>
              </a:rPr>
              <a:t>3000</a:t>
            </a:r>
            <a:r>
              <a:rPr lang="zh-CN" altLang="en-US" sz="2100" b="1" kern="0" noProof="1">
                <a:solidFill>
                  <a:srgbClr val="000000"/>
                </a:solidFill>
              </a:rPr>
              <a:t>以上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dirty="0">
              <a:solidFill>
                <a:srgbClr val="000000"/>
              </a:solidFill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1C2D98F-24B0-9369-1208-92B14B8EC1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5578354"/>
              </p:ext>
            </p:extLst>
          </p:nvPr>
        </p:nvGraphicFramePr>
        <p:xfrm>
          <a:off x="6948264" y="4221088"/>
          <a:ext cx="40163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03040" imgH="228600" progId="Equation.KSEE3">
                  <p:embed/>
                </p:oleObj>
              </mc:Choice>
              <mc:Fallback>
                <p:oleObj name="公式" r:id="rId2" imgW="203040" imgH="228600" progId="Equation.KSEE3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58F8914-893A-8366-4C1B-7521942CBE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948264" y="4221088"/>
                        <a:ext cx="401637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F2A86E2-BED6-3A96-2844-12ED6BD523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9077364"/>
              </p:ext>
            </p:extLst>
          </p:nvPr>
        </p:nvGraphicFramePr>
        <p:xfrm>
          <a:off x="1304924" y="4509120"/>
          <a:ext cx="4270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5640" imgH="228600" progId="Equation.KSEE3">
                  <p:embed/>
                </p:oleObj>
              </mc:Choice>
              <mc:Fallback>
                <p:oleObj name="公式" r:id="rId4" imgW="215640" imgH="228600" progId="Equation.KSEE3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1C2D98F-24B0-9369-1208-92B14B8EC1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304924" y="4509120"/>
                        <a:ext cx="427038" cy="45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1D1D307-08E9-7FDC-C3E4-63DC252532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698082"/>
              </p:ext>
            </p:extLst>
          </p:nvPr>
        </p:nvGraphicFramePr>
        <p:xfrm>
          <a:off x="4427984" y="4521820"/>
          <a:ext cx="14049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711000" imgH="215640" progId="Equation.KSEE3">
                  <p:embed/>
                </p:oleObj>
              </mc:Choice>
              <mc:Fallback>
                <p:oleObj name="公式" r:id="rId6" imgW="711000" imgH="215640" progId="Equation.KSEE3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61C2D98F-24B0-9369-1208-92B14B8EC1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27984" y="4521820"/>
                        <a:ext cx="1404937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608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21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67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103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1">
            <a:extLst>
              <a:ext uri="{FF2B5EF4-FFF2-40B4-BE49-F238E27FC236}">
                <a16:creationId xmlns:a16="http://schemas.microsoft.com/office/drawing/2014/main" id="{3FACFBE0-3331-61CC-CB32-90417299B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课程设计报告</a:t>
            </a:r>
          </a:p>
        </p:txBody>
      </p:sp>
      <p:sp>
        <p:nvSpPr>
          <p:cNvPr id="56322" name="灯片编号占位符 3">
            <a:extLst>
              <a:ext uri="{FF2B5EF4-FFF2-40B4-BE49-F238E27FC236}">
                <a16:creationId xmlns:a16="http://schemas.microsoft.com/office/drawing/2014/main" id="{2419413B-3FC2-F0AA-1237-D22442C0FE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Arial Black" panose="020B0A040201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81863184-95ED-40EB-83AA-59DB15390262}" type="slidenum">
              <a:rPr lang="zh-CN" altLang="en-US" smtClean="0"/>
              <a:pPr/>
              <a:t>47</a:t>
            </a:fld>
            <a:endParaRPr lang="zh-CN" altLang="en-US" sz="900"/>
          </a:p>
        </p:txBody>
      </p:sp>
      <p:sp>
        <p:nvSpPr>
          <p:cNvPr id="12" name="内容占位符 1">
            <a:extLst>
              <a:ext uri="{FF2B5EF4-FFF2-40B4-BE49-F238E27FC236}">
                <a16:creationId xmlns:a16="http://schemas.microsoft.com/office/drawing/2014/main" id="{A06010B8-A698-0F5A-306C-A14857940296}"/>
              </a:ext>
            </a:extLst>
          </p:cNvPr>
          <p:cNvSpPr txBox="1"/>
          <p:nvPr/>
        </p:nvSpPr>
        <p:spPr bwMode="auto">
          <a:xfrm>
            <a:off x="652463" y="1701800"/>
            <a:ext cx="6759575" cy="383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1.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问题描述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dirty="0">
                <a:solidFill>
                  <a:srgbClr val="000000"/>
                </a:solidFill>
              </a:rPr>
              <a:t>2.</a:t>
            </a:r>
            <a:r>
              <a:rPr lang="zh-CN" altLang="en-US" sz="2100" b="1" kern="0" dirty="0">
                <a:solidFill>
                  <a:srgbClr val="000000"/>
                </a:solidFill>
              </a:rPr>
              <a:t>程序实现及其说明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3.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结果与讨论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3.1 </a:t>
            </a:r>
            <a:r>
              <a:rPr lang="zh-CN" altLang="en-US" sz="2100" b="1" kern="0" noProof="1">
                <a:solidFill>
                  <a:srgbClr val="000000"/>
                </a:solidFill>
              </a:rPr>
              <a:t>误差分析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buFont typeface="Wingdings" panose="05000000000000000000" pitchFamily="2" charset="2"/>
              <a:buChar char="p"/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3.2 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方程的解随参数的变化规律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r>
              <a:rPr lang="en-US" altLang="zh-CN" sz="2100" b="1" kern="0" noProof="1">
                <a:solidFill>
                  <a:srgbClr val="000000"/>
                </a:solidFill>
              </a:rPr>
              <a:t>4.</a:t>
            </a:r>
            <a:r>
              <a:rPr lang="zh-CN" altLang="en-US" sz="2100" b="1" kern="0" noProof="1">
                <a:solidFill>
                  <a:srgbClr val="000000"/>
                </a:solidFill>
              </a:rPr>
              <a:t>总结</a:t>
            </a:r>
            <a:endParaRPr lang="en-US" altLang="zh-CN" sz="2100" b="1" kern="0" noProof="1">
              <a:solidFill>
                <a:srgbClr val="000000"/>
              </a:solidFill>
            </a:endParaRPr>
          </a:p>
          <a:p>
            <a:pPr>
              <a:buClr>
                <a:srgbClr val="00007D"/>
              </a:buClr>
              <a:defRPr/>
            </a:pPr>
            <a:endParaRPr lang="en-US" altLang="zh-CN" sz="2100" b="1" kern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标题 1">
            <a:extLst>
              <a:ext uri="{FF2B5EF4-FFF2-40B4-BE49-F238E27FC236}">
                <a16:creationId xmlns:a16="http://schemas.microsoft.com/office/drawing/2014/main" id="{8D6C5087-66BE-FC4A-0A37-C71522E2F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811213"/>
          </a:xfrm>
        </p:spPr>
        <p:txBody>
          <a:bodyPr/>
          <a:lstStyle/>
          <a:p>
            <a:r>
              <a:rPr lang="en-US" altLang="zh-CN" sz="3200">
                <a:solidFill>
                  <a:srgbClr val="FF0000"/>
                </a:solidFill>
              </a:rPr>
              <a:t>6.</a:t>
            </a:r>
            <a:r>
              <a:rPr lang="zh-CN" altLang="en-US" sz="3200">
                <a:solidFill>
                  <a:srgbClr val="FF0000"/>
                </a:solidFill>
              </a:rPr>
              <a:t>边值和本征值问题</a:t>
            </a:r>
          </a:p>
        </p:txBody>
      </p:sp>
      <p:pic>
        <p:nvPicPr>
          <p:cNvPr id="57346" name="图片 4">
            <a:extLst>
              <a:ext uri="{FF2B5EF4-FFF2-40B4-BE49-F238E27FC236}">
                <a16:creationId xmlns:a16="http://schemas.microsoft.com/office/drawing/2014/main" id="{167B5863-48DB-15F6-AFF3-55B061A82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5" y="1268413"/>
            <a:ext cx="5434013" cy="476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47" name="图片 6">
            <a:extLst>
              <a:ext uri="{FF2B5EF4-FFF2-40B4-BE49-F238E27FC236}">
                <a16:creationId xmlns:a16="http://schemas.microsoft.com/office/drawing/2014/main" id="{728078D8-A75F-3118-77DC-4FB028FB3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788" y="2044700"/>
            <a:ext cx="1890712" cy="40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文本框 7">
            <a:extLst>
              <a:ext uri="{FF2B5EF4-FFF2-40B4-BE49-F238E27FC236}">
                <a16:creationId xmlns:a16="http://schemas.microsoft.com/office/drawing/2014/main" id="{C47850E8-1587-FCD6-E2BC-9583136B49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1123950"/>
            <a:ext cx="187483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/>
              <a:t>例如：弦振动方程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图片 3">
            <a:extLst>
              <a:ext uri="{FF2B5EF4-FFF2-40B4-BE49-F238E27FC236}">
                <a16:creationId xmlns:a16="http://schemas.microsoft.com/office/drawing/2014/main" id="{B4C76692-5AE2-9F45-3CB1-4929DA4DC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123950"/>
            <a:ext cx="8709025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文本框 3">
            <a:extLst>
              <a:ext uri="{FF2B5EF4-FFF2-40B4-BE49-F238E27FC236}">
                <a16:creationId xmlns:a16="http://schemas.microsoft.com/office/drawing/2014/main" id="{203B629C-480F-46C8-D3C1-4713FB5E5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781050"/>
            <a:ext cx="39782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/>
              <a:t>The Shooting Method</a:t>
            </a:r>
          </a:p>
        </p:txBody>
      </p:sp>
      <p:pic>
        <p:nvPicPr>
          <p:cNvPr id="59394" name="图片 4">
            <a:extLst>
              <a:ext uri="{FF2B5EF4-FFF2-40B4-BE49-F238E27FC236}">
                <a16:creationId xmlns:a16="http://schemas.microsoft.com/office/drawing/2014/main" id="{7366CC91-02E1-F802-550E-F26378966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1628775"/>
            <a:ext cx="786765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文本框 6">
            <a:extLst>
              <a:ext uri="{FF2B5EF4-FFF2-40B4-BE49-F238E27FC236}">
                <a16:creationId xmlns:a16="http://schemas.microsoft.com/office/drawing/2014/main" id="{9ECD3A40-0CDC-BBC6-2CF5-CFDA276BF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9700" y="6022975"/>
            <a:ext cx="19383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7070FF"/>
                </a:solidFill>
              </a:rPr>
              <a:t>boundary.m</a:t>
            </a:r>
          </a:p>
        </p:txBody>
      </p:sp>
      <p:pic>
        <p:nvPicPr>
          <p:cNvPr id="59396" name="图片 7">
            <a:extLst>
              <a:ext uri="{FF2B5EF4-FFF2-40B4-BE49-F238E27FC236}">
                <a16:creationId xmlns:a16="http://schemas.microsoft.com/office/drawing/2014/main" id="{73AE030C-BB02-617F-01FE-8F68C5296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579938"/>
            <a:ext cx="7796212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FkNjBkMzA1NGQ3MGZmYmM4Y2EwODJlMmIwOGEwY2EifQ==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251</TotalTime>
  <Words>2920</Words>
  <Application>Microsoft Office PowerPoint</Application>
  <PresentationFormat>全屏显示(4:3)</PresentationFormat>
  <Paragraphs>643</Paragraphs>
  <Slides>50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50</vt:i4>
      </vt:variant>
    </vt:vector>
  </HeadingPairs>
  <TitlesOfParts>
    <vt:vector size="68" baseType="lpstr">
      <vt:lpstr>黑体</vt:lpstr>
      <vt:lpstr>华文楷体</vt:lpstr>
      <vt:lpstr>楷体</vt:lpstr>
      <vt:lpstr>宋体</vt:lpstr>
      <vt:lpstr>Arial</vt:lpstr>
      <vt:lpstr>Arial Black</vt:lpstr>
      <vt:lpstr>Calibri</vt:lpstr>
      <vt:lpstr>Cambria Math</vt:lpstr>
      <vt:lpstr>Consolas</vt:lpstr>
      <vt:lpstr>Lucida Sans Unicode</vt:lpstr>
      <vt:lpstr>Symbol</vt:lpstr>
      <vt:lpstr>Tahoma</vt:lpstr>
      <vt:lpstr>Times New Roman</vt:lpstr>
      <vt:lpstr>Wingdings</vt:lpstr>
      <vt:lpstr>Pixel</vt:lpstr>
      <vt:lpstr>公式</vt:lpstr>
      <vt:lpstr>Equation.DSMT4</vt:lpstr>
      <vt:lpstr>WPS 公式 3.0</vt:lpstr>
      <vt:lpstr>第九章 微分方程求解</vt:lpstr>
      <vt:lpstr>常微分方程基本概念 </vt:lpstr>
      <vt:lpstr>常微分方程基本概念 </vt:lpstr>
      <vt:lpstr>常微分方程基本概念 </vt:lpstr>
      <vt:lpstr>常微分方程基本概念 </vt:lpstr>
      <vt:lpstr>常微分方程基本概念 </vt:lpstr>
      <vt:lpstr>Practice</vt:lpstr>
      <vt:lpstr>初值问题数值解法 </vt:lpstr>
      <vt:lpstr>欧拉法</vt:lpstr>
      <vt:lpstr>PowerPoint 演示文稿</vt:lpstr>
      <vt:lpstr>数值解法的稳定性</vt:lpstr>
      <vt:lpstr>数值解法的稳定性</vt:lpstr>
      <vt:lpstr>Practice</vt:lpstr>
      <vt:lpstr>数值解法的局部截断误差</vt:lpstr>
      <vt:lpstr>数值解法的局部截断误差</vt:lpstr>
      <vt:lpstr>向后欧拉法与休恩（梯形）法</vt:lpstr>
      <vt:lpstr>向后欧拉法与休恩法</vt:lpstr>
      <vt:lpstr>向后欧拉法与休恩法</vt:lpstr>
      <vt:lpstr>向后欧拉法与休恩法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Runge-Kutta方法</vt:lpstr>
      <vt:lpstr>PowerPoint 演示文稿</vt:lpstr>
      <vt:lpstr>PowerPoint 演示文稿</vt:lpstr>
      <vt:lpstr>PowerPoint 演示文稿</vt:lpstr>
      <vt:lpstr>PowerPoint 演示文稿</vt:lpstr>
      <vt:lpstr>讨论：</vt:lpstr>
      <vt:lpstr>PowerPoint 演示文稿</vt:lpstr>
      <vt:lpstr>多步法</vt:lpstr>
      <vt:lpstr>多步法</vt:lpstr>
      <vt:lpstr>多步法</vt:lpstr>
      <vt:lpstr>课程设计 1.驱动摆（二选一）</vt:lpstr>
      <vt:lpstr>课程设计要求</vt:lpstr>
      <vt:lpstr>课程设计 2.复合双摆（二选一）</vt:lpstr>
      <vt:lpstr>课程设计要求</vt:lpstr>
      <vt:lpstr>课程设计报告</vt:lpstr>
      <vt:lpstr>6.边值和本征值问题</vt:lpstr>
      <vt:lpstr>PowerPoint 演示文稿</vt:lpstr>
      <vt:lpstr>PowerPoint 演示文稿</vt:lpstr>
    </vt:vector>
  </TitlesOfParts>
  <Company>Zeng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Puhua</dc:creator>
  <cp:lastModifiedBy>Yang Yang</cp:lastModifiedBy>
  <cp:revision>223</cp:revision>
  <dcterms:created xsi:type="dcterms:W3CDTF">2004-10-27T05:51:00Z</dcterms:created>
  <dcterms:modified xsi:type="dcterms:W3CDTF">2025-12-02T03:00:58Z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DE6E0EF5EC58493DAE7BBD12C877FD02_13</vt:lpwstr>
  </property>
</Properties>
</file>